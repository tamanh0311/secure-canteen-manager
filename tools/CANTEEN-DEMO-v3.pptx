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F3864"/>
          </a:solidFill>
          <a:ln/>
        </p:spPr>
      </p:sp>
      <p:sp>
        <p:nvSpPr>
          <p:cNvPr id="3" name="Shape 1"/>
          <p:cNvSpPr/>
          <p:nvPr/>
        </p:nvSpPr>
        <p:spPr>
          <a:xfrm>
            <a:off x="0" y="3474720"/>
            <a:ext cx="9144000" cy="1673352"/>
          </a:xfrm>
          <a:prstGeom prst="rect">
            <a:avLst/>
          </a:prstGeom>
          <a:solidFill>
            <a:srgbClr val="2E74B5"/>
          </a:solidFill>
          <a:ln/>
        </p:spPr>
      </p:sp>
      <p:sp>
        <p:nvSpPr>
          <p:cNvPr id="4" name="Shape 2"/>
          <p:cNvSpPr/>
          <p:nvPr/>
        </p:nvSpPr>
        <p:spPr>
          <a:xfrm>
            <a:off x="457200" y="1097280"/>
            <a:ext cx="73152" cy="2011680"/>
          </a:xfrm>
          <a:prstGeom prst="rect">
            <a:avLst/>
          </a:prstGeom>
          <a:solidFill>
            <a:srgbClr val="C00000"/>
          </a:solidFill>
          <a:ln/>
        </p:spPr>
      </p:sp>
      <p:sp>
        <p:nvSpPr>
          <p:cNvPr id="5" name="Text 3"/>
          <p:cNvSpPr/>
          <p:nvPr/>
        </p:nvSpPr>
        <p:spPr>
          <a:xfrm>
            <a:off x="731520" y="777240"/>
            <a:ext cx="7772400" cy="347472"/>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CỘNG HÒA XÃ HỘI CHỦ NGHĨA VIỆT NAM</a:t>
            </a:r>
            <a:endParaRPr lang="en-US" sz="1100" dirty="0"/>
          </a:p>
        </p:txBody>
      </p:sp>
      <p:sp>
        <p:nvSpPr>
          <p:cNvPr id="6" name="Text 4"/>
          <p:cNvSpPr/>
          <p:nvPr/>
        </p:nvSpPr>
        <p:spPr>
          <a:xfrm>
            <a:off x="731520" y="1078992"/>
            <a:ext cx="7772400" cy="274320"/>
          </a:xfrm>
          <a:prstGeom prst="rect">
            <a:avLst/>
          </a:prstGeom>
          <a:noFill/>
          <a:ln/>
        </p:spPr>
        <p:txBody>
          <a:bodyPr wrap="square" rtlCol="0" anchor="ctr"/>
          <a:lstStyle/>
          <a:p>
            <a:pPr indent="0" marL="0">
              <a:buNone/>
            </a:pPr>
            <a:r>
              <a:rPr lang="en-US" sz="1000" i="1" dirty="0">
                <a:solidFill>
                  <a:srgbClr val="DEEAF1"/>
                </a:solidFill>
                <a:latin typeface="Times New Roman" pitchFamily="34" charset="0"/>
                <a:ea typeface="Times New Roman" pitchFamily="34" charset="-122"/>
                <a:cs typeface="Times New Roman" pitchFamily="34" charset="-120"/>
              </a:rPr>
              <a:t>Độc lập – Tự do – Hạnh phúc</a:t>
            </a:r>
            <a:endParaRPr lang="en-US" sz="1000" dirty="0"/>
          </a:p>
        </p:txBody>
      </p:sp>
      <p:sp>
        <p:nvSpPr>
          <p:cNvPr id="7" name="Text 5"/>
          <p:cNvSpPr/>
          <p:nvPr/>
        </p:nvSpPr>
        <p:spPr>
          <a:xfrm>
            <a:off x="731520" y="1508760"/>
            <a:ext cx="7772400" cy="1005840"/>
          </a:xfrm>
          <a:prstGeom prst="rect">
            <a:avLst/>
          </a:prstGeom>
          <a:noFill/>
          <a:ln/>
        </p:spPr>
        <p:txBody>
          <a:bodyPr wrap="square"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Phần mềm Quản lý Căn-teen Trại Giam</a:t>
            </a:r>
            <a:endParaRPr lang="en-US" sz="2600" dirty="0"/>
          </a:p>
        </p:txBody>
      </p:sp>
      <p:sp>
        <p:nvSpPr>
          <p:cNvPr id="8" name="Text 6"/>
          <p:cNvSpPr/>
          <p:nvPr/>
        </p:nvSpPr>
        <p:spPr>
          <a:xfrm>
            <a:off x="731520" y="2514600"/>
            <a:ext cx="7772400" cy="4572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Tài liệu Giới thiệu Chức năng – Phiên bản 1.0</a:t>
            </a:r>
            <a:endParaRPr lang="en-US" sz="1300" dirty="0"/>
          </a:p>
        </p:txBody>
      </p:sp>
      <p:sp>
        <p:nvSpPr>
          <p:cNvPr id="9" name="Text 7"/>
          <p:cNvSpPr/>
          <p:nvPr/>
        </p:nvSpPr>
        <p:spPr>
          <a:xfrm>
            <a:off x="731520" y="3017520"/>
            <a:ext cx="7772400" cy="320040"/>
          </a:xfrm>
          <a:prstGeom prst="rect">
            <a:avLst/>
          </a:prstGeom>
          <a:noFill/>
          <a:ln/>
        </p:spPr>
        <p:txBody>
          <a:bodyPr wrap="square" rtlCol="0" anchor="ctr"/>
          <a:lstStyle/>
          <a:p>
            <a:pPr indent="0" marL="0">
              <a:buNone/>
            </a:pPr>
            <a:r>
              <a:rPr lang="en-US" sz="1000" dirty="0">
                <a:solidFill>
                  <a:srgbClr val="D9D9D9"/>
                </a:solidFill>
                <a:latin typeface="Times New Roman" pitchFamily="34" charset="0"/>
                <a:ea typeface="Times New Roman" pitchFamily="34" charset="-122"/>
                <a:cs typeface="Times New Roman" pitchFamily="34" charset="-120"/>
              </a:rPr>
              <a:t>Tháng 9 năm 2026   |   Bảo mật nội bộ</a:t>
            </a:r>
            <a:endParaRPr lang="en-US" sz="1000" dirty="0"/>
          </a:p>
        </p:txBody>
      </p:sp>
      <p:sp>
        <p:nvSpPr>
          <p:cNvPr id="10" name="Shape 8"/>
          <p:cNvSpPr/>
          <p:nvPr/>
        </p:nvSpPr>
        <p:spPr>
          <a:xfrm>
            <a:off x="0" y="4828032"/>
            <a:ext cx="9144000" cy="320040"/>
          </a:xfrm>
          <a:prstGeom prst="rect">
            <a:avLst/>
          </a:prstGeom>
          <a:solidFill>
            <a:srgbClr val="1F3864"/>
          </a:solidFill>
          <a:ln/>
        </p:spPr>
      </p:sp>
      <p:sp>
        <p:nvSpPr>
          <p:cNvPr id="11" name="Text 9"/>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5F7FA"/>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Mục lục</a:t>
            </a:r>
            <a:endParaRPr lang="en-US" sz="9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2200" b="1" dirty="0">
                <a:solidFill>
                  <a:srgbClr val="1F3864"/>
                </a:solidFill>
                <a:latin typeface="Times New Roman" pitchFamily="34" charset="0"/>
                <a:ea typeface="Times New Roman" pitchFamily="34" charset="-122"/>
                <a:cs typeface="Times New Roman" pitchFamily="34" charset="-120"/>
              </a:rPr>
              <a:t>Nội dung Trình bày</a:t>
            </a:r>
            <a:endParaRPr lang="en-US" sz="2200" dirty="0"/>
          </a:p>
        </p:txBody>
      </p:sp>
      <p:sp>
        <p:nvSpPr>
          <p:cNvPr id="6" name="Shape 4"/>
          <p:cNvSpPr/>
          <p:nvPr/>
        </p:nvSpPr>
        <p:spPr>
          <a:xfrm>
            <a:off x="457200" y="1170432"/>
            <a:ext cx="8229600" cy="0"/>
          </a:xfrm>
          <a:prstGeom prst="line">
            <a:avLst/>
          </a:prstGeom>
          <a:noFill/>
          <a:ln w="25400">
            <a:solidFill>
              <a:srgbClr val="2E74B5"/>
            </a:solidFill>
            <a:prstDash val="solid"/>
          </a:ln>
        </p:spPr>
      </p:sp>
      <p:sp>
        <p:nvSpPr>
          <p:cNvPr id="7" name="Shape 5"/>
          <p:cNvSpPr/>
          <p:nvPr/>
        </p:nvSpPr>
        <p:spPr>
          <a:xfrm>
            <a:off x="457200" y="1316736"/>
            <a:ext cx="310896" cy="310896"/>
          </a:xfrm>
          <a:prstGeom prst="ellipse">
            <a:avLst/>
          </a:prstGeom>
          <a:solidFill>
            <a:srgbClr val="2E74B5"/>
          </a:solidFill>
          <a:ln/>
        </p:spPr>
      </p:sp>
      <p:sp>
        <p:nvSpPr>
          <p:cNvPr id="8" name="Text 6"/>
          <p:cNvSpPr/>
          <p:nvPr/>
        </p:nvSpPr>
        <p:spPr>
          <a:xfrm>
            <a:off x="457200" y="1316736"/>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1</a:t>
            </a:r>
            <a:endParaRPr lang="en-US" sz="900" dirty="0"/>
          </a:p>
        </p:txBody>
      </p:sp>
      <p:sp>
        <p:nvSpPr>
          <p:cNvPr id="9" name="Text 7"/>
          <p:cNvSpPr/>
          <p:nvPr/>
        </p:nvSpPr>
        <p:spPr>
          <a:xfrm>
            <a:off x="841248" y="1280160"/>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Xác thực</a:t>
            </a:r>
            <a:endParaRPr lang="en-US" sz="1300" dirty="0"/>
          </a:p>
        </p:txBody>
      </p:sp>
      <p:sp>
        <p:nvSpPr>
          <p:cNvPr id="10" name="Text 8"/>
          <p:cNvSpPr/>
          <p:nvPr/>
        </p:nvSpPr>
        <p:spPr>
          <a:xfrm>
            <a:off x="841248" y="1627632"/>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Trang Đăng nhập</a:t>
            </a:r>
            <a:endParaRPr lang="en-US" sz="750" dirty="0"/>
          </a:p>
        </p:txBody>
      </p:sp>
      <p:sp>
        <p:nvSpPr>
          <p:cNvPr id="11" name="Shape 9"/>
          <p:cNvSpPr/>
          <p:nvPr/>
        </p:nvSpPr>
        <p:spPr>
          <a:xfrm>
            <a:off x="457200" y="1975104"/>
            <a:ext cx="310896" cy="310896"/>
          </a:xfrm>
          <a:prstGeom prst="ellipse">
            <a:avLst/>
          </a:prstGeom>
          <a:solidFill>
            <a:srgbClr val="2E74B5"/>
          </a:solidFill>
          <a:ln/>
        </p:spPr>
      </p:sp>
      <p:sp>
        <p:nvSpPr>
          <p:cNvPr id="12" name="Text 10"/>
          <p:cNvSpPr/>
          <p:nvPr/>
        </p:nvSpPr>
        <p:spPr>
          <a:xfrm>
            <a:off x="457200" y="1975104"/>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2</a:t>
            </a:r>
            <a:endParaRPr lang="en-US" sz="900" dirty="0"/>
          </a:p>
        </p:txBody>
      </p:sp>
      <p:sp>
        <p:nvSpPr>
          <p:cNvPr id="13" name="Text 11"/>
          <p:cNvSpPr/>
          <p:nvPr/>
        </p:nvSpPr>
        <p:spPr>
          <a:xfrm>
            <a:off x="841248" y="1938528"/>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Vận hành</a:t>
            </a:r>
            <a:endParaRPr lang="en-US" sz="1300" dirty="0"/>
          </a:p>
        </p:txBody>
      </p:sp>
      <p:sp>
        <p:nvSpPr>
          <p:cNvPr id="14" name="Text 12"/>
          <p:cNvSpPr/>
          <p:nvPr/>
        </p:nvSpPr>
        <p:spPr>
          <a:xfrm>
            <a:off x="841248" y="2286000"/>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Tổng quan (Dashboard)  ·  Danh sách Đơn hàng  ·  Tổng kết Bếp / Kho</a:t>
            </a:r>
            <a:endParaRPr lang="en-US" sz="750" dirty="0"/>
          </a:p>
        </p:txBody>
      </p:sp>
      <p:sp>
        <p:nvSpPr>
          <p:cNvPr id="15" name="Shape 13"/>
          <p:cNvSpPr/>
          <p:nvPr/>
        </p:nvSpPr>
        <p:spPr>
          <a:xfrm>
            <a:off x="457200" y="2633472"/>
            <a:ext cx="310896" cy="310896"/>
          </a:xfrm>
          <a:prstGeom prst="ellipse">
            <a:avLst/>
          </a:prstGeom>
          <a:solidFill>
            <a:srgbClr val="2E74B5"/>
          </a:solidFill>
          <a:ln/>
        </p:spPr>
      </p:sp>
      <p:sp>
        <p:nvSpPr>
          <p:cNvPr id="16" name="Text 14"/>
          <p:cNvSpPr/>
          <p:nvPr/>
        </p:nvSpPr>
        <p:spPr>
          <a:xfrm>
            <a:off x="457200" y="2633472"/>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3</a:t>
            </a:r>
            <a:endParaRPr lang="en-US" sz="900" dirty="0"/>
          </a:p>
        </p:txBody>
      </p:sp>
      <p:sp>
        <p:nvSpPr>
          <p:cNvPr id="17" name="Text 15"/>
          <p:cNvSpPr/>
          <p:nvPr/>
        </p:nvSpPr>
        <p:spPr>
          <a:xfrm>
            <a:off x="841248" y="2596896"/>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Quầy Thu ngân</a:t>
            </a:r>
            <a:endParaRPr lang="en-US" sz="1300" dirty="0"/>
          </a:p>
        </p:txBody>
      </p:sp>
      <p:sp>
        <p:nvSpPr>
          <p:cNvPr id="18" name="Text 16"/>
          <p:cNvSpPr/>
          <p:nvPr/>
        </p:nvSpPr>
        <p:spPr>
          <a:xfrm>
            <a:off x="841248" y="2944368"/>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Quầy Thu ngân — Giao diện chính  ·  Quầy Thu ngân — Thông tin Phạm nhân  ·  Quầy Thu ngân — Hàng đợi đơn hàng PENDING  ·  Quầy Thu ngân — Hồ sơ Phạm nhân</a:t>
            </a:r>
            <a:endParaRPr lang="en-US" sz="750" dirty="0"/>
          </a:p>
        </p:txBody>
      </p:sp>
      <p:sp>
        <p:nvSpPr>
          <p:cNvPr id="19" name="Shape 17"/>
          <p:cNvSpPr/>
          <p:nvPr/>
        </p:nvSpPr>
        <p:spPr>
          <a:xfrm>
            <a:off x="4846320" y="1316736"/>
            <a:ext cx="310896" cy="310896"/>
          </a:xfrm>
          <a:prstGeom prst="ellipse">
            <a:avLst/>
          </a:prstGeom>
          <a:solidFill>
            <a:srgbClr val="2E74B5"/>
          </a:solidFill>
          <a:ln/>
        </p:spPr>
      </p:sp>
      <p:sp>
        <p:nvSpPr>
          <p:cNvPr id="20" name="Text 18"/>
          <p:cNvSpPr/>
          <p:nvPr/>
        </p:nvSpPr>
        <p:spPr>
          <a:xfrm>
            <a:off x="4846320" y="1316736"/>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4</a:t>
            </a:r>
            <a:endParaRPr lang="en-US" sz="900" dirty="0"/>
          </a:p>
        </p:txBody>
      </p:sp>
      <p:sp>
        <p:nvSpPr>
          <p:cNvPr id="21" name="Text 19"/>
          <p:cNvSpPr/>
          <p:nvPr/>
        </p:nvSpPr>
        <p:spPr>
          <a:xfrm>
            <a:off x="5230368" y="1280160"/>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Cài đặt</a:t>
            </a:r>
            <a:endParaRPr lang="en-US" sz="1300" dirty="0"/>
          </a:p>
        </p:txBody>
      </p:sp>
      <p:sp>
        <p:nvSpPr>
          <p:cNvPr id="22" name="Text 20"/>
          <p:cNvSpPr/>
          <p:nvPr/>
        </p:nvSpPr>
        <p:spPr>
          <a:xfrm>
            <a:off x="5230368" y="1627632"/>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Quản lý Danh mục Hàng hóa  ·  Kiểm toán Số dư Tài khoản  ·  Cấu hình Thanh toán  ·  Phiếu Giao hàng (Vouchers)  ·  Quản lý Cán bộ  ·  Danh sách Phạm nhân</a:t>
            </a:r>
            <a:endParaRPr lang="en-US" sz="750" dirty="0"/>
          </a:p>
        </p:txBody>
      </p:sp>
      <p:sp>
        <p:nvSpPr>
          <p:cNvPr id="23" name="Shape 21"/>
          <p:cNvSpPr/>
          <p:nvPr/>
        </p:nvSpPr>
        <p:spPr>
          <a:xfrm>
            <a:off x="4846320" y="1975104"/>
            <a:ext cx="310896" cy="310896"/>
          </a:xfrm>
          <a:prstGeom prst="ellipse">
            <a:avLst/>
          </a:prstGeom>
          <a:solidFill>
            <a:srgbClr val="2E74B5"/>
          </a:solidFill>
          <a:ln/>
        </p:spPr>
      </p:sp>
      <p:sp>
        <p:nvSpPr>
          <p:cNvPr id="24" name="Text 22"/>
          <p:cNvSpPr/>
          <p:nvPr/>
        </p:nvSpPr>
        <p:spPr>
          <a:xfrm>
            <a:off x="4846320" y="1975104"/>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5</a:t>
            </a:r>
            <a:endParaRPr lang="en-US" sz="900" dirty="0"/>
          </a:p>
        </p:txBody>
      </p:sp>
      <p:sp>
        <p:nvSpPr>
          <p:cNvPr id="25" name="Text 23"/>
          <p:cNvSpPr/>
          <p:nvPr/>
        </p:nvSpPr>
        <p:spPr>
          <a:xfrm>
            <a:off x="5230368" y="1938528"/>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Đặt hàng Kiosk</a:t>
            </a:r>
            <a:endParaRPr lang="en-US" sz="1300" dirty="0"/>
          </a:p>
        </p:txBody>
      </p:sp>
      <p:sp>
        <p:nvSpPr>
          <p:cNvPr id="26" name="Text 24"/>
          <p:cNvSpPr/>
          <p:nvPr/>
        </p:nvSpPr>
        <p:spPr>
          <a:xfrm>
            <a:off x="5230368" y="2286000"/>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Kiosk — Nhập Mã Lưu Ký  ·  Kiosk — Đã nhập mã lưu ký  ·  Kiosk — Chọn Món Đặt hàng</a:t>
            </a:r>
            <a:endParaRPr lang="en-US" sz="750" dirty="0"/>
          </a:p>
        </p:txBody>
      </p:sp>
      <p:sp>
        <p:nvSpPr>
          <p:cNvPr id="27" name="Shape 25"/>
          <p:cNvSpPr/>
          <p:nvPr/>
        </p:nvSpPr>
        <p:spPr>
          <a:xfrm>
            <a:off x="4846320" y="2633472"/>
            <a:ext cx="310896" cy="310896"/>
          </a:xfrm>
          <a:prstGeom prst="ellipse">
            <a:avLst/>
          </a:prstGeom>
          <a:solidFill>
            <a:srgbClr val="2E74B5"/>
          </a:solidFill>
          <a:ln/>
        </p:spPr>
      </p:sp>
      <p:sp>
        <p:nvSpPr>
          <p:cNvPr id="28" name="Text 26"/>
          <p:cNvSpPr/>
          <p:nvPr/>
        </p:nvSpPr>
        <p:spPr>
          <a:xfrm>
            <a:off x="4846320" y="2633472"/>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6</a:t>
            </a:r>
            <a:endParaRPr lang="en-US" sz="900" dirty="0"/>
          </a:p>
        </p:txBody>
      </p:sp>
      <p:sp>
        <p:nvSpPr>
          <p:cNvPr id="29" name="Text 27"/>
          <p:cNvSpPr/>
          <p:nvPr/>
        </p:nvSpPr>
        <p:spPr>
          <a:xfrm>
            <a:off x="5230368" y="2596896"/>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Tổng quan hệ thống</a:t>
            </a:r>
            <a:endParaRPr lang="en-US" sz="1300" dirty="0"/>
          </a:p>
        </p:txBody>
      </p:sp>
      <p:sp>
        <p:nvSpPr>
          <p:cNvPr id="30" name="Text 28"/>
          <p:cNvSpPr/>
          <p:nvPr/>
        </p:nvSpPr>
        <p:spPr>
          <a:xfrm>
            <a:off x="5230368" y="2944368"/>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Giao diện chính — Thanh điều hướng</a:t>
            </a:r>
            <a:endParaRPr lang="en-US" sz="750" dirty="0"/>
          </a:p>
        </p:txBody>
      </p:sp>
      <p:sp>
        <p:nvSpPr>
          <p:cNvPr id="31" name="Shape 29"/>
          <p:cNvSpPr/>
          <p:nvPr/>
        </p:nvSpPr>
        <p:spPr>
          <a:xfrm>
            <a:off x="0" y="4828032"/>
            <a:ext cx="9144000" cy="320040"/>
          </a:xfrm>
          <a:prstGeom prst="rect">
            <a:avLst/>
          </a:prstGeom>
          <a:solidFill>
            <a:srgbClr val="1F3864"/>
          </a:solidFill>
          <a:ln/>
        </p:spPr>
      </p:sp>
      <p:sp>
        <p:nvSpPr>
          <p:cNvPr id="32" name="Text 30"/>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5F7FA"/>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Kiến trúc hệ thống</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indent="0" marL="0">
              <a:buNone/>
            </a:pPr>
            <a:r>
              <a:rPr lang="en-US" sz="2000" b="1" dirty="0">
                <a:solidFill>
                  <a:srgbClr val="1F3864"/>
                </a:solidFill>
                <a:latin typeface="Times New Roman" pitchFamily="34" charset="0"/>
                <a:ea typeface="Times New Roman" pitchFamily="34" charset="-122"/>
                <a:cs typeface="Times New Roman" pitchFamily="34" charset="-120"/>
              </a:rPr>
              <a:t>Kiến trúc Tổng thể Hệ thống</a:t>
            </a:r>
            <a:endParaRPr lang="en-US" sz="2000" dirty="0"/>
          </a:p>
        </p:txBody>
      </p:sp>
      <p:sp>
        <p:nvSpPr>
          <p:cNvPr id="6" name="Shape 4"/>
          <p:cNvSpPr/>
          <p:nvPr/>
        </p:nvSpPr>
        <p:spPr>
          <a:xfrm>
            <a:off x="365760" y="1143000"/>
            <a:ext cx="8412480" cy="0"/>
          </a:xfrm>
          <a:prstGeom prst="line">
            <a:avLst/>
          </a:prstGeom>
          <a:noFill/>
          <a:ln w="25400">
            <a:solidFill>
              <a:srgbClr val="2E74B5"/>
            </a:solidFill>
            <a:prstDash val="solid"/>
          </a:ln>
        </p:spPr>
      </p:sp>
      <p:sp>
        <p:nvSpPr>
          <p:cNvPr id="7" name="Shape 5"/>
          <p:cNvSpPr/>
          <p:nvPr/>
        </p:nvSpPr>
        <p:spPr>
          <a:xfrm>
            <a:off x="274320" y="1325880"/>
            <a:ext cx="1737360" cy="1005840"/>
          </a:xfrm>
          <a:prstGeom prst="rect">
            <a:avLst/>
          </a:prstGeom>
          <a:solidFill>
            <a:srgbClr val="2E74B5"/>
          </a:solidFill>
          <a:ln/>
          <a:effectLst>
            <a:outerShdw sx="100000" sy="100000" kx="0" ky="0" algn="bl" rotWithShape="0" blurRad="50800" dist="25400" dir="2700000">
              <a:srgbClr val="000000">
                <a:alpha val="20000"/>
              </a:srgbClr>
            </a:outerShdw>
          </a:effectLst>
        </p:spPr>
      </p:sp>
      <p:sp>
        <p:nvSpPr>
          <p:cNvPr id="8" name="Text 6"/>
          <p:cNvSpPr/>
          <p:nvPr/>
        </p:nvSpPr>
        <p:spPr>
          <a:xfrm>
            <a:off x="32004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Frontend</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(React + Nginx)</a:t>
            </a:r>
            <a:endParaRPr lang="en-US" sz="850" dirty="0"/>
          </a:p>
        </p:txBody>
      </p:sp>
      <p:sp>
        <p:nvSpPr>
          <p:cNvPr id="9" name="Text 7"/>
          <p:cNvSpPr/>
          <p:nvPr/>
        </p:nvSpPr>
        <p:spPr>
          <a:xfrm>
            <a:off x="32004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:8080</a:t>
            </a:r>
            <a:endParaRPr lang="en-US" sz="750" dirty="0"/>
          </a:p>
        </p:txBody>
      </p:sp>
      <p:sp>
        <p:nvSpPr>
          <p:cNvPr id="10" name="Shape 8"/>
          <p:cNvSpPr/>
          <p:nvPr/>
        </p:nvSpPr>
        <p:spPr>
          <a:xfrm>
            <a:off x="2286000" y="1325880"/>
            <a:ext cx="1737360" cy="1005840"/>
          </a:xfrm>
          <a:prstGeom prst="rect">
            <a:avLst/>
          </a:prstGeom>
          <a:solidFill>
            <a:srgbClr val="1F3864"/>
          </a:solidFill>
          <a:ln/>
          <a:effectLst>
            <a:outerShdw sx="100000" sy="100000" kx="0" ky="0" algn="bl" rotWithShape="0" blurRad="50800" dist="25400" dir="2700000">
              <a:srgbClr val="000000">
                <a:alpha val="20000"/>
              </a:srgbClr>
            </a:outerShdw>
          </a:effectLst>
        </p:spPr>
      </p:sp>
      <p:sp>
        <p:nvSpPr>
          <p:cNvPr id="11" name="Text 9"/>
          <p:cNvSpPr/>
          <p:nvPr/>
        </p:nvSpPr>
        <p:spPr>
          <a:xfrm>
            <a:off x="233172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Backend</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(NestJS)</a:t>
            </a:r>
            <a:endParaRPr lang="en-US" sz="850" dirty="0"/>
          </a:p>
        </p:txBody>
      </p:sp>
      <p:sp>
        <p:nvSpPr>
          <p:cNvPr id="12" name="Text 10"/>
          <p:cNvSpPr/>
          <p:nvPr/>
        </p:nvSpPr>
        <p:spPr>
          <a:xfrm>
            <a:off x="233172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:3000</a:t>
            </a:r>
            <a:endParaRPr lang="en-US" sz="750" dirty="0"/>
          </a:p>
        </p:txBody>
      </p:sp>
      <p:sp>
        <p:nvSpPr>
          <p:cNvPr id="13" name="Shape 11"/>
          <p:cNvSpPr/>
          <p:nvPr/>
        </p:nvSpPr>
        <p:spPr>
          <a:xfrm>
            <a:off x="4297680" y="1325880"/>
            <a:ext cx="1737360" cy="1005840"/>
          </a:xfrm>
          <a:prstGeom prst="rect">
            <a:avLst/>
          </a:prstGeom>
          <a:solidFill>
            <a:srgbClr val="375623"/>
          </a:solidFill>
          <a:ln/>
          <a:effectLst>
            <a:outerShdw sx="100000" sy="100000" kx="0" ky="0" algn="bl" rotWithShape="0" blurRad="50800" dist="25400" dir="2700000">
              <a:srgbClr val="000000">
                <a:alpha val="20000"/>
              </a:srgbClr>
            </a:outerShdw>
          </a:effectLst>
        </p:spPr>
      </p:sp>
      <p:sp>
        <p:nvSpPr>
          <p:cNvPr id="14" name="Text 12"/>
          <p:cNvSpPr/>
          <p:nvPr/>
        </p:nvSpPr>
        <p:spPr>
          <a:xfrm>
            <a:off x="434340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PostgreSQL 16</a:t>
            </a:r>
            <a:endParaRPr lang="en-US" sz="850" dirty="0"/>
          </a:p>
        </p:txBody>
      </p:sp>
      <p:sp>
        <p:nvSpPr>
          <p:cNvPr id="15" name="Text 13"/>
          <p:cNvSpPr/>
          <p:nvPr/>
        </p:nvSpPr>
        <p:spPr>
          <a:xfrm>
            <a:off x="434340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:5432</a:t>
            </a:r>
            <a:endParaRPr lang="en-US" sz="750" dirty="0"/>
          </a:p>
        </p:txBody>
      </p:sp>
      <p:sp>
        <p:nvSpPr>
          <p:cNvPr id="16" name="Shape 14"/>
          <p:cNvSpPr/>
          <p:nvPr/>
        </p:nvSpPr>
        <p:spPr>
          <a:xfrm>
            <a:off x="6309360" y="1325880"/>
            <a:ext cx="1737360" cy="1005840"/>
          </a:xfrm>
          <a:prstGeom prst="rect">
            <a:avLst/>
          </a:prstGeom>
          <a:solidFill>
            <a:srgbClr val="2E74B5"/>
          </a:solidFill>
          <a:ln/>
          <a:effectLst>
            <a:outerShdw sx="100000" sy="100000" kx="0" ky="0" algn="bl" rotWithShape="0" blurRad="50800" dist="25400" dir="2700000">
              <a:srgbClr val="000000">
                <a:alpha val="20000"/>
              </a:srgbClr>
            </a:outerShdw>
          </a:effectLst>
        </p:spPr>
      </p:sp>
      <p:sp>
        <p:nvSpPr>
          <p:cNvPr id="17" name="Text 15"/>
          <p:cNvSpPr/>
          <p:nvPr/>
        </p:nvSpPr>
        <p:spPr>
          <a:xfrm>
            <a:off x="635508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OMR Service</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(Python/ONNX)</a:t>
            </a:r>
            <a:endParaRPr lang="en-US" sz="850" dirty="0"/>
          </a:p>
        </p:txBody>
      </p:sp>
      <p:sp>
        <p:nvSpPr>
          <p:cNvPr id="18" name="Text 16"/>
          <p:cNvSpPr/>
          <p:nvPr/>
        </p:nvSpPr>
        <p:spPr>
          <a:xfrm>
            <a:off x="635508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:8000</a:t>
            </a:r>
            <a:endParaRPr lang="en-US" sz="750" dirty="0"/>
          </a:p>
        </p:txBody>
      </p:sp>
      <p:sp>
        <p:nvSpPr>
          <p:cNvPr id="19" name="Shape 17"/>
          <p:cNvSpPr/>
          <p:nvPr/>
        </p:nvSpPr>
        <p:spPr>
          <a:xfrm>
            <a:off x="274320" y="2697480"/>
            <a:ext cx="1737360" cy="1005840"/>
          </a:xfrm>
          <a:prstGeom prst="rect">
            <a:avLst/>
          </a:prstGeom>
          <a:solidFill>
            <a:srgbClr val="C00000"/>
          </a:solidFill>
          <a:ln/>
          <a:effectLst>
            <a:outerShdw sx="100000" sy="100000" kx="0" ky="0" algn="bl" rotWithShape="0" blurRad="50800" dist="25400" dir="2700000">
              <a:srgbClr val="000000">
                <a:alpha val="20000"/>
              </a:srgbClr>
            </a:outerShdw>
          </a:effectLst>
        </p:spPr>
      </p:sp>
      <p:sp>
        <p:nvSpPr>
          <p:cNvPr id="20" name="Text 18"/>
          <p:cNvSpPr/>
          <p:nvPr/>
        </p:nvSpPr>
        <p:spPr>
          <a:xfrm>
            <a:off x="32004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Order Scanner</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(PaddleOCR)</a:t>
            </a:r>
            <a:endParaRPr lang="en-US" sz="850" dirty="0"/>
          </a:p>
        </p:txBody>
      </p:sp>
      <p:sp>
        <p:nvSpPr>
          <p:cNvPr id="21" name="Text 19"/>
          <p:cNvSpPr/>
          <p:nvPr/>
        </p:nvSpPr>
        <p:spPr>
          <a:xfrm>
            <a:off x="32004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Systemd</a:t>
            </a:r>
            <a:endParaRPr lang="en-US" sz="750" dirty="0"/>
          </a:p>
        </p:txBody>
      </p:sp>
      <p:sp>
        <p:nvSpPr>
          <p:cNvPr id="22" name="Shape 20"/>
          <p:cNvSpPr/>
          <p:nvPr/>
        </p:nvSpPr>
        <p:spPr>
          <a:xfrm>
            <a:off x="2286000" y="2697480"/>
            <a:ext cx="1737360" cy="1005840"/>
          </a:xfrm>
          <a:prstGeom prst="rect">
            <a:avLst/>
          </a:prstGeom>
          <a:solidFill>
            <a:srgbClr val="595959"/>
          </a:solidFill>
          <a:ln/>
          <a:effectLst>
            <a:outerShdw sx="100000" sy="100000" kx="0" ky="0" algn="bl" rotWithShape="0" blurRad="50800" dist="25400" dir="2700000">
              <a:srgbClr val="000000">
                <a:alpha val="20000"/>
              </a:srgbClr>
            </a:outerShdw>
          </a:effectLst>
        </p:spPr>
      </p:sp>
      <p:sp>
        <p:nvSpPr>
          <p:cNvPr id="23" name="Text 21"/>
          <p:cNvSpPr/>
          <p:nvPr/>
        </p:nvSpPr>
        <p:spPr>
          <a:xfrm>
            <a:off x="233172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Scan Agent</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(File bridge)</a:t>
            </a:r>
            <a:endParaRPr lang="en-US" sz="850" dirty="0"/>
          </a:p>
        </p:txBody>
      </p:sp>
      <p:sp>
        <p:nvSpPr>
          <p:cNvPr id="24" name="Text 22"/>
          <p:cNvSpPr/>
          <p:nvPr/>
        </p:nvSpPr>
        <p:spPr>
          <a:xfrm>
            <a:off x="233172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Docker</a:t>
            </a:r>
            <a:endParaRPr lang="en-US" sz="750" dirty="0"/>
          </a:p>
        </p:txBody>
      </p:sp>
      <p:sp>
        <p:nvSpPr>
          <p:cNvPr id="25" name="Shape 23"/>
          <p:cNvSpPr/>
          <p:nvPr/>
        </p:nvSpPr>
        <p:spPr>
          <a:xfrm>
            <a:off x="4297680" y="2697480"/>
            <a:ext cx="1737360" cy="1005840"/>
          </a:xfrm>
          <a:prstGeom prst="rect">
            <a:avLst/>
          </a:prstGeom>
          <a:solidFill>
            <a:srgbClr val="1F3864"/>
          </a:solidFill>
          <a:ln/>
          <a:effectLst>
            <a:outerShdw sx="100000" sy="100000" kx="0" ky="0" algn="bl" rotWithShape="0" blurRad="50800" dist="25400" dir="2700000">
              <a:srgbClr val="000000">
                <a:alpha val="20000"/>
              </a:srgbClr>
            </a:outerShdw>
          </a:effectLst>
        </p:spPr>
      </p:sp>
      <p:sp>
        <p:nvSpPr>
          <p:cNvPr id="26" name="Text 24"/>
          <p:cNvSpPr/>
          <p:nvPr/>
        </p:nvSpPr>
        <p:spPr>
          <a:xfrm>
            <a:off x="434340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Electron App</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(Windows)</a:t>
            </a:r>
            <a:endParaRPr lang="en-US" sz="850" dirty="0"/>
          </a:p>
        </p:txBody>
      </p:sp>
      <p:sp>
        <p:nvSpPr>
          <p:cNvPr id="27" name="Text 25"/>
          <p:cNvSpPr/>
          <p:nvPr/>
        </p:nvSpPr>
        <p:spPr>
          <a:xfrm>
            <a:off x="434340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Desktop</a:t>
            </a:r>
            <a:endParaRPr lang="en-US" sz="750" dirty="0"/>
          </a:p>
        </p:txBody>
      </p:sp>
      <p:sp>
        <p:nvSpPr>
          <p:cNvPr id="28" name="Shape 26"/>
          <p:cNvSpPr/>
          <p:nvPr/>
        </p:nvSpPr>
        <p:spPr>
          <a:xfrm>
            <a:off x="6309360" y="2697480"/>
            <a:ext cx="1737360" cy="1005840"/>
          </a:xfrm>
          <a:prstGeom prst="rect">
            <a:avLst/>
          </a:prstGeom>
          <a:solidFill>
            <a:srgbClr val="595959"/>
          </a:solidFill>
          <a:ln/>
          <a:effectLst>
            <a:outerShdw sx="100000" sy="100000" kx="0" ky="0" algn="bl" rotWithShape="0" blurRad="50800" dist="25400" dir="2700000">
              <a:srgbClr val="000000">
                <a:alpha val="20000"/>
              </a:srgbClr>
            </a:outerShdw>
          </a:effectLst>
        </p:spPr>
      </p:sp>
      <p:sp>
        <p:nvSpPr>
          <p:cNvPr id="29" name="Text 27"/>
          <p:cNvSpPr/>
          <p:nvPr/>
        </p:nvSpPr>
        <p:spPr>
          <a:xfrm>
            <a:off x="635508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Samba Share</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(Scanner HW)</a:t>
            </a:r>
            <a:endParaRPr lang="en-US" sz="850" dirty="0"/>
          </a:p>
        </p:txBody>
      </p:sp>
      <p:sp>
        <p:nvSpPr>
          <p:cNvPr id="30" name="Text 28"/>
          <p:cNvSpPr/>
          <p:nvPr/>
        </p:nvSpPr>
        <p:spPr>
          <a:xfrm>
            <a:off x="635508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:445</a:t>
            </a:r>
            <a:endParaRPr lang="en-US" sz="750" dirty="0"/>
          </a:p>
        </p:txBody>
      </p:sp>
      <p:sp>
        <p:nvSpPr>
          <p:cNvPr id="31" name="Shape 29"/>
          <p:cNvSpPr/>
          <p:nvPr/>
        </p:nvSpPr>
        <p:spPr>
          <a:xfrm>
            <a:off x="2011680" y="1828800"/>
            <a:ext cx="274320" cy="0"/>
          </a:xfrm>
          <a:prstGeom prst="line">
            <a:avLst/>
          </a:prstGeom>
          <a:noFill/>
          <a:ln w="19050">
            <a:solidFill>
              <a:srgbClr val="2E74B5"/>
            </a:solidFill>
            <a:prstDash val="solid"/>
            <a:tailEnd type="arrow"/>
          </a:ln>
        </p:spPr>
      </p:sp>
      <p:sp>
        <p:nvSpPr>
          <p:cNvPr id="32" name="Shape 30"/>
          <p:cNvSpPr/>
          <p:nvPr/>
        </p:nvSpPr>
        <p:spPr>
          <a:xfrm>
            <a:off x="4023360" y="1828800"/>
            <a:ext cx="274320" cy="0"/>
          </a:xfrm>
          <a:prstGeom prst="line">
            <a:avLst/>
          </a:prstGeom>
          <a:noFill/>
          <a:ln w="19050">
            <a:solidFill>
              <a:srgbClr val="2E74B5"/>
            </a:solidFill>
            <a:prstDash val="solid"/>
            <a:tailEnd type="arrow"/>
          </a:ln>
        </p:spPr>
      </p:sp>
      <p:sp>
        <p:nvSpPr>
          <p:cNvPr id="33" name="Shape 31"/>
          <p:cNvSpPr/>
          <p:nvPr/>
        </p:nvSpPr>
        <p:spPr>
          <a:xfrm>
            <a:off x="6035040" y="1828800"/>
            <a:ext cx="274320" cy="0"/>
          </a:xfrm>
          <a:prstGeom prst="line">
            <a:avLst/>
          </a:prstGeom>
          <a:noFill/>
          <a:ln w="19050">
            <a:solidFill>
              <a:srgbClr val="2E74B5"/>
            </a:solidFill>
            <a:prstDash val="solid"/>
            <a:tailEnd type="arrow"/>
          </a:ln>
        </p:spPr>
      </p:sp>
      <p:sp>
        <p:nvSpPr>
          <p:cNvPr id="34" name="Text 32"/>
          <p:cNvSpPr/>
          <p:nvPr/>
        </p:nvSpPr>
        <p:spPr>
          <a:xfrm>
            <a:off x="274320" y="4663440"/>
            <a:ext cx="8595360" cy="274320"/>
          </a:xfrm>
          <a:prstGeom prst="rect">
            <a:avLst/>
          </a:prstGeom>
          <a:noFill/>
          <a:ln/>
        </p:spPr>
        <p:txBody>
          <a:bodyPr wrap="square" rtlCol="0" anchor="ctr"/>
          <a:lstStyle/>
          <a:p>
            <a:pPr algn="ctr" indent="0" marL="0">
              <a:buNone/>
            </a:pPr>
            <a:r>
              <a:rPr lang="en-US" sz="900" i="1" dirty="0">
                <a:solidFill>
                  <a:srgbClr val="C00000"/>
                </a:solidFill>
                <a:latin typeface="Times New Roman" pitchFamily="34" charset="0"/>
                <a:ea typeface="Times New Roman" pitchFamily="34" charset="-122"/>
                <a:cs typeface="Times New Roman" pitchFamily="34" charset="-120"/>
              </a:rPr>
              <a:t>⚡ Triển khai hoàn toàn cách ly mạng (air-gapped) — không kết nối Internet</a:t>
            </a:r>
            <a:endParaRPr lang="en-US" sz="900" dirty="0"/>
          </a:p>
        </p:txBody>
      </p:sp>
      <p:sp>
        <p:nvSpPr>
          <p:cNvPr id="35" name="Shape 33"/>
          <p:cNvSpPr/>
          <p:nvPr/>
        </p:nvSpPr>
        <p:spPr>
          <a:xfrm>
            <a:off x="0" y="4828032"/>
            <a:ext cx="9144000" cy="320040"/>
          </a:xfrm>
          <a:prstGeom prst="rect">
            <a:avLst/>
          </a:prstGeom>
          <a:solidFill>
            <a:srgbClr val="1F3864"/>
          </a:solidFill>
          <a:ln/>
        </p:spPr>
      </p:sp>
      <p:sp>
        <p:nvSpPr>
          <p:cNvPr id="36" name="Text 34"/>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Kiến trúc hệ thống</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01</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Xác thực</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1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pet\carteen\tools\screenshots\login.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Xác thực  ›  Trang Đăng nhập</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Form đăng nhập: nhập tên tài khoản và mật khẩu. JWT HS256, hiệu lực 12 giờ. Tự động đăng xuất khi token hết hạn.</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login.png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JWT HS256, hiệu lực 12 giờ</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Tự động đăng xuất khi token hết hạn (401)</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Mã hóa mật khẩu bcrypt</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Trang Đăng nhập</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02</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Vận hành</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2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pet\carteen\tools\screenshots\dashboard.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Vận hành  ›  Tổng quan (Dashboard)</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Màn hình tổng quan theo ngày: thống kê đơn hàng, trạng thái hàng đợi quét, số dư tài khoản và hoạt động gần đây.</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dashboard.png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Thống kê đơn hàng theo ngày</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Trạng thái hàng đợi phiếu quét</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Hoạt động gần nhất của cán bộ</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Tổng quan (Dashboard)</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pet\carteen\tools\screenshots\orders.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Vận hành  ›  Danh sách Đơn hàng</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Xem toàn bộ đơn hàng: lọc theo ngày/khu vực/trạng thái. Trạng thái: PENDING → PAID / REJECTED / DELIVERED. In phiếu theo lô.</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orders.png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Lọc: ngày, khu vực, trạng thái, mã phạm nhân</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Luồng trạng thái: PENDING → PAID / REJECTED</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In phiếu đặt hàng từng đơn hoặc theo lô</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Danh sách Đơn hàng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pet\carteen\tools\screenshots\kitchen-summary.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Vận hành  ›  Tổng kết Bếp / Kho</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Tổng hợp số lượng từng mặt hàng theo ngày lĩnh hàng — phục vụ bộ phận bếp và kho chuẩn bị hàng hóa.</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kitchen-summary.png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Tổng hợp số lượng từng mặt hàng</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Lọc theo ngày lĩnh hàng (collection date)</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Phục vụ bộ phận bếp / kho chuẩn bị hàng</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Tổng kết Bếp / Kho</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03</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Quầy Thu ngân</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3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pet\carteen\tools\screenshots\counter-empty.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Quầy Thu ngân  ›  Quầy Thu ngân — Giao diện chính</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Giao diện quầy thu ngân: ô tìm kiếm phạm nhân theo mã lưu ký và hàng đợi đơn hàng PENDING chờ duyệt phía dưới.</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counter-empty.png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Ô tìm kiếm phạm nhân theo mã lưu ký</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Hàng đợi PENDING hiển thị phía dưới</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Giao diện quầy thu ngân &amp; nạp tiền</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Quầy Thu ngân — Giao diện chính</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pet\carteen\tools\screenshots\counter-lookup.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Quầy Thu ngân  ›  Quầy Thu ngân — Thông tin Phạm nhân</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Sau khi tra cứu mã lưu ký: hiển thị hồ sơ, số dư tài khoản, lịch sử giao dịch, form nạp tiền và form đặt hàng hộ.</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counter-lookup.png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Tra cứu mã 100023 → hiển thị hồ sơ đầy đủ</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Thấy số dư tài khoản và lịch sử giao dịch</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Form nạp tiền và đặt hàng hộ phạm nhân</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Quầy Thu ngân — Thông tin Phạm nhân</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pet\carteen\tools\screenshots\counter-pending-queue.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Quầy Thu ngân  ›  Quầy Thu ngân — Hàng đợi đơn hàng PENDING</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Hàng đợi đơn hàng chờ duyệt: thu ngân xem danh sách PENDING, duyệt (Accept) hoặc từ chối (Reject), chọn thanh toán tiền mặt hoặc số dư tài khoản.</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counter-pending-queue.png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Danh sách đơn PENDING chờ duyệt</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Duyệt (Accept): chọn thanh toán tiền mặt / số dư</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Từ chối (Reject): nhập lý do, chuyển → REJECTED</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Quầy Thu ngân — Hàng đợi đơn hàng PENDING</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pet\carteen\tools\screenshots\counter-prisoner-loaded.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Quầy Thu ngân  ›  Quầy Thu ngân — Hồ sơ Phạm nhân</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Tra cứu mã lưu ký 100023: hiển thị hồ sơ, số dư tài khoản, lịch sử giao dịch, form nạp tiền tài khoản và form đặt hàng thay mặt phạm nhân.</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counter-prisoner-loaded.png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Hồ sơ phạm nhân: tên, buồng, khu vực</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Số dư tài khoản và nhật ký giao dịch</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Cán bộ đặt hàng hộ hoặc nạp tiền tài khoản</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Quầy Thu ngân — Hồ sơ Phạm nhân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04</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Cài đặt</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4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pet\carteen\tools\screenshots\menu-config.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Cài đặt  ›  Quản lý Danh mục Hàng hóa</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CRUD mặt hàng: tên, giá, mã hàng, trạng thái (đang bán / ngừng bán). Phiên bản danh mục ký SHA-256 đồng bộ với máy quét OCR.</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menu-config.png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CRUD mặt hàng: tên, giá, mã, trạng thái</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Phiên bản danh mục ký SHA-256</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Đồng bộ tự động với máy quét OCR</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Quản lý Danh mục Hàng hóa</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pet\carteen\tools\screenshots\audit.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Cài đặt  ›  Kiểm toán Số dư Tài khoản</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Sổ cái giao dịch bất biến (insert-only): tra cứu lịch sử nạp/trừ tiền của từng phạm nhân. Không thể sửa hay xóa dòng giao dịch.</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audit.png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Sổ cái bất biến (insert-only ledger)</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Lịch sử đầy đủ debit / credit, không thể sửa</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Tra cứu theo phạm nhân, ngày, loại giao dịch</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Kiểm toán Số dư Tài khoản</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pet\carteen\tools\screenshots\payment-config.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Cài đặt  ›  Cấu hình Thanh toán</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Quản trị viên bật/tắt phương thức chuyển khoản ngân hàng. Thanh toán tiền mặt luôn hoạt động. Cấu hình tài khoản ngân hàng căng-tin.</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payment-config.png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Bật / tắt thanh toán ngân hàng toàn hệ thống</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Cấu hình tài khoản ngân hàng căng-tin</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Thanh toán tiền mặt luôn được kích hoạt</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Cấu hình Thanh toán</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pet\carteen\tools\screenshots\vouchers.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Cài đặt  ›  Phiếu Giao hàng (Vouchers)</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Tổng hợp đơn hàng đã thanh toán theo ngày lĩnh hàng. Mỗi voucher ghi nhận danh sách phạm nhân, mặt hàng, tổng tiền và ảnh chụp số dư.</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vouchers.png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Tổng hợp đơn đã thanh toán theo ngày lĩnh</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Ảnh chụp số dư tại thời điểm tạo voucher</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In phiếu giao hàng chuẩn cho cán bộ kho ký nhận</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Phiếu Giao hàng (Vouchers)</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pet\carteen\tools\screenshots\operators.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Cài đặt  ›  Quản lý Cán bộ</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CRUD tài khoản cán bộ: gán vai trò ADMIN/OPERATOR/CASHIER, phân khu vực phụ trách. Ghi nhận nhật ký thao tác đầy đủ.</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operators.png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CRUD tài khoản cán bộ</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Gán vai trò ADMIN / OPERATOR / CASHIER</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Phân khu vực phụ trách, nhật ký thao tác</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Quản lý Cán bộ</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pet\carteen\tools\screenshots\prisoner-list.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Cài đặt  ›  Danh sách Phạm nhân</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Tra cứu hồ sơ phạm nhân theo mã lưu ký hoặc buồng giam. Hiển thị thông tin cá nhân, khu vực, tình trạng giam giữ, đồng bộ từ SQL Server 2005.</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prisoner-list.png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Tra cứu theo mã lưu ký hoặc buồng giam</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Tình trạng: tạm giam / chấp hành án</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Đồng bộ từ hệ thống SQL Server 2005 (tùy chọn)</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Danh sách Phạm nhân</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05</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Đặt hàng Kiosk</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5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pet\carteen\tools\screenshots\kiosk-entry.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Đặt hàng Kiosk  ›  Kiosk — Nhập Mã Lưu Ký</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Màn hình kiosk công cộng: thân nhân nhập mã lưu ký của phạm nhân qua bàn phím số. Không yêu cầu đăng nhập. Tự reset sau 60 giây không hoạt động.</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kiosk-entry.png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Màn hình công cộng — không cần đăng nhập</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Thân nhân nhập mã lưu ký của phạm nhân</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Tự reset sau 60 giây không hoạt động</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Kiosk — Nhập Mã Lưu Ký</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pet\carteen\tools\screenshots\kiosk-keypad-filled.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Đặt hàng Kiosk  ›  Kiosk — Đã nhập mã lưu ký</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Thân nhân nhập xong 6 chữ số mã lưu ký "100023". Bàn phím hiển thị mã đã nhập; nhấn nút xác nhận để tra cứu phạm nhân.</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kiosk-keypad-filled.png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Bàn phím số nhập 6 chữ số mã lưu ký</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Nút xóa từng chữ số hoặc xóa toàn bộ</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Nhấn Xác nhận để tra cứu phạm nhân</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Kiosk — Đã nhập mã lưu ký</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pet\carteen\tools\screenshots\kiosk-menu.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Đặt hàng Kiosk  ›  Kiosk — Chọn Món Đặt hàng</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Sau khi xác minh thành công: hiển thị tên phạm nhân, buồng giam, số dư tài khoản và danh mục hàng hóa để chọn số lượng.</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kiosk-menu.png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Xác minh danh tính: tên, buồng, khu vực</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Danh mục hàng hóa với giá niêm yết</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Chọn số lượng — tổng tiền tự động cập nhật</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Kiosk — Chọn Món Đặt hàng</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06</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Tổng quan hệ thống</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6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pet\carteen\tools\screenshots\app-shell.png">    </p:cNvPr>
          <p:cNvPicPr>
            <a:picLocks noChangeAspect="1"/>
          </p:cNvPicPr>
          <p:nvPr/>
        </p:nvPicPr>
        <p:blipFill>
          <a:blip r:embed="rId1"/>
          <a:srcRect l="0" r="0" t="0" b="0"/>
          <a:stretch/>
        </p:blipFill>
        <p:spPr>
          <a:xfrm>
            <a:off x="0" y="0"/>
            <a:ext cx="9144000" cy="5148072"/>
          </a:xfrm>
          <a:prstGeom prst="rect">
            <a:avLst/>
          </a:prstGeom>
        </p:spPr>
      </p:pic>
      <p:sp>
        <p:nvSpPr>
          <p:cNvPr id="3" name="Shape 0"/>
          <p:cNvSpPr/>
          <p:nvPr/>
        </p:nvSpPr>
        <p:spPr>
          <a:xfrm>
            <a:off x="0" y="0"/>
            <a:ext cx="9144000" cy="384048"/>
          </a:xfrm>
          <a:prstGeom prst="rect">
            <a:avLst/>
          </a:prstGeom>
          <a:solidFill>
            <a:srgbClr val="1F3864">
              <a:alpha val="85000"/>
            </a:srgbClr>
          </a:solidFill>
          <a:ln/>
        </p:spPr>
      </p:sp>
      <p:sp>
        <p:nvSpPr>
          <p:cNvPr id="4" name="Text 1"/>
          <p:cNvSpPr/>
          <p:nvPr/>
        </p:nvSpPr>
        <p:spPr>
          <a:xfrm>
            <a:off x="182880" y="36576"/>
            <a:ext cx="8778240" cy="310896"/>
          </a:xfrm>
          <a:prstGeom prst="rect">
            <a:avLst/>
          </a:prstGeom>
          <a:noFill/>
          <a:ln/>
        </p:spPr>
        <p:txBody>
          <a:bodyPr wrap="square" rtlCol="0" anchor="ctr"/>
          <a:lstStyle/>
          <a:p>
            <a:pPr indent="0" marL="0">
              <a:buNone/>
            </a:pPr>
            <a:r>
              <a:rPr lang="en-US" sz="1000" b="1" dirty="0">
                <a:solidFill>
                  <a:srgbClr val="FFFFFF"/>
                </a:solidFill>
                <a:latin typeface="Times New Roman" pitchFamily="34" charset="0"/>
                <a:ea typeface="Times New Roman" pitchFamily="34" charset="-122"/>
                <a:cs typeface="Times New Roman" pitchFamily="34" charset="-120"/>
              </a:rPr>
              <a:t>Tổng quan hệ thống  ›  Giao diện chính — Thanh điều hướng</a:t>
            </a:r>
            <a:endParaRPr lang="en-US" sz="1000" dirty="0"/>
          </a:p>
        </p:txBody>
      </p:sp>
      <p:sp>
        <p:nvSpPr>
          <p:cNvPr id="5" name="Shape 2"/>
          <p:cNvSpPr/>
          <p:nvPr/>
        </p:nvSpPr>
        <p:spPr>
          <a:xfrm>
            <a:off x="0" y="3758184"/>
            <a:ext cx="9144000" cy="1389888"/>
          </a:xfrm>
          <a:prstGeom prst="rect">
            <a:avLst/>
          </a:prstGeom>
          <a:solidFill>
            <a:srgbClr val="000000">
              <a:alpha val="70000"/>
            </a:srgbClr>
          </a:solidFill>
          <a:ln/>
        </p:spPr>
      </p:sp>
      <p:sp>
        <p:nvSpPr>
          <p:cNvPr id="6" name="Text 3"/>
          <p:cNvSpPr/>
          <p:nvPr/>
        </p:nvSpPr>
        <p:spPr>
          <a:xfrm>
            <a:off x="228600" y="3849624"/>
            <a:ext cx="5943600" cy="658368"/>
          </a:xfrm>
          <a:prstGeom prst="rect">
            <a:avLst/>
          </a:prstGeom>
          <a:noFill/>
          <a:ln/>
        </p:spPr>
        <p:txBody>
          <a:bodyPr wrap="square" rtlCol="0" anchor="t"/>
          <a:lstStyle/>
          <a:p>
            <a:pPr indent="0" marL="0">
              <a:buNone/>
            </a:pPr>
            <a:r>
              <a:rPr lang="en-US" sz="950" dirty="0">
                <a:solidFill>
                  <a:srgbClr val="FFFFFF"/>
                </a:solidFill>
                <a:latin typeface="Times New Roman" pitchFamily="34" charset="0"/>
                <a:ea typeface="Times New Roman" pitchFamily="34" charset="-122"/>
                <a:cs typeface="Times New Roman" pitchFamily="34" charset="-120"/>
              </a:rPr>
              <a:t>AppShell với sidebar phân nhóm chức năng: Vận hành (Dashboard, Đơn hàng, Bếp, Quầy) và Cài đặt (Menu, Kiểm toán, Phiếu, Cán bộ, Phạm nhân).</a:t>
            </a:r>
            <a:endParaRPr lang="en-US" sz="950" dirty="0"/>
          </a:p>
        </p:txBody>
      </p:sp>
      <p:sp>
        <p:nvSpPr>
          <p:cNvPr id="7" name="Shape 4"/>
          <p:cNvSpPr/>
          <p:nvPr/>
        </p:nvSpPr>
        <p:spPr>
          <a:xfrm>
            <a:off x="228600" y="4562856"/>
            <a:ext cx="5852160" cy="256032"/>
          </a:xfrm>
          <a:prstGeom prst="rect">
            <a:avLst/>
          </a:prstGeom>
          <a:solidFill>
            <a:srgbClr val="1F3864">
              <a:alpha val="80000"/>
            </a:srgbClr>
          </a:solidFill>
          <a:ln/>
        </p:spPr>
      </p:sp>
      <p:sp>
        <p:nvSpPr>
          <p:cNvPr id="8" name="Text 5"/>
          <p:cNvSpPr/>
          <p:nvPr/>
        </p:nvSpPr>
        <p:spPr>
          <a:xfrm>
            <a:off x="320040" y="4572000"/>
            <a:ext cx="5669280" cy="237744"/>
          </a:xfrm>
          <a:prstGeom prst="rect">
            <a:avLst/>
          </a:prstGeom>
          <a:noFill/>
          <a:ln/>
        </p:spPr>
        <p:txBody>
          <a:bodyPr wrap="square" rtlCol="0" anchor="ctr"/>
          <a:lstStyle/>
          <a:p>
            <a:pPr indent="0" marL="0">
              <a:buNone/>
            </a:pPr>
            <a:r>
              <a:rPr lang="en-US" sz="800" dirty="0">
                <a:solidFill>
                  <a:srgbClr val="DEEAF1"/>
                </a:solidFill>
                <a:latin typeface="Courier New" pitchFamily="34" charset="0"/>
                <a:ea typeface="Courier New" pitchFamily="34" charset="-122"/>
                <a:cs typeface="Courier New" pitchFamily="34" charset="-120"/>
              </a:rPr>
              <a:t>app-shell.png</a:t>
            </a:r>
            <a:endParaRPr lang="en-US" sz="800" dirty="0"/>
          </a:p>
        </p:txBody>
      </p:sp>
      <p:sp>
        <p:nvSpPr>
          <p:cNvPr id="9" name="Text 6"/>
          <p:cNvSpPr/>
          <p:nvPr/>
        </p:nvSpPr>
        <p:spPr>
          <a:xfrm>
            <a:off x="6355080" y="3849624"/>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Sidebar phân nhóm: Vận hành &amp; Cài đặt</a:t>
            </a:r>
            <a:endParaRPr lang="en-US" sz="850" dirty="0"/>
          </a:p>
        </p:txBody>
      </p:sp>
      <p:sp>
        <p:nvSpPr>
          <p:cNvPr id="10" name="Text 7"/>
          <p:cNvSpPr/>
          <p:nvPr/>
        </p:nvSpPr>
        <p:spPr>
          <a:xfrm>
            <a:off x="6355080" y="4151376"/>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Phân vùng theo khu vực phụ trách (Zone Scoping)</a:t>
            </a:r>
            <a:endParaRPr lang="en-US" sz="850" dirty="0"/>
          </a:p>
        </p:txBody>
      </p:sp>
      <p:sp>
        <p:nvSpPr>
          <p:cNvPr id="11" name="Text 8"/>
          <p:cNvSpPr/>
          <p:nvPr/>
        </p:nvSpPr>
        <p:spPr>
          <a:xfrm>
            <a:off x="6355080" y="4453128"/>
            <a:ext cx="2606040" cy="274320"/>
          </a:xfrm>
          <a:prstGeom prst="rect">
            <a:avLst/>
          </a:prstGeom>
          <a:noFill/>
          <a:ln/>
        </p:spPr>
        <p:txBody>
          <a:bodyPr wrap="square" rtlCol="0" anchor="ctr"/>
          <a:lstStyle/>
          <a:p>
            <a:pPr indent="0" marL="0">
              <a:buNone/>
            </a:pPr>
            <a:r>
              <a:rPr lang="en-US" sz="850" dirty="0">
                <a:solidFill>
                  <a:srgbClr val="DEEAF1"/>
                </a:solidFill>
                <a:latin typeface="Times New Roman" pitchFamily="34" charset="0"/>
                <a:ea typeface="Times New Roman" pitchFamily="34" charset="-122"/>
                <a:cs typeface="Times New Roman" pitchFamily="34" charset="-120"/>
              </a:rPr>
              <a:t>▸ Đa ngôn ngữ Tiếng Việt / English</a:t>
            </a:r>
            <a:endParaRPr lang="en-US" sz="850" dirty="0"/>
          </a:p>
        </p:txBody>
      </p:sp>
      <p:sp>
        <p:nvSpPr>
          <p:cNvPr id="12" name="Text 9"/>
          <p:cNvSpPr/>
          <p:nvPr/>
        </p:nvSpPr>
        <p:spPr>
          <a:xfrm>
            <a:off x="5669280" y="4855464"/>
            <a:ext cx="3291840" cy="237744"/>
          </a:xfrm>
          <a:prstGeom prst="rect">
            <a:avLst/>
          </a:prstGeom>
          <a:noFill/>
          <a:ln/>
        </p:spPr>
        <p:txBody>
          <a:bodyPr wrap="square" rtlCol="0" anchor="ctr"/>
          <a:lstStyle/>
          <a:p>
            <a:pPr algn="r" indent="0" marL="0">
              <a:buNone/>
            </a:pPr>
            <a:r>
              <a:rPr lang="en-US" sz="750" i="1" dirty="0">
                <a:solidFill>
                  <a:srgbClr val="D9D9D9"/>
                </a:solidFill>
                <a:latin typeface="Times New Roman" pitchFamily="34" charset="0"/>
                <a:ea typeface="Times New Roman" pitchFamily="34" charset="-122"/>
                <a:cs typeface="Times New Roman" pitchFamily="34" charset="-120"/>
              </a:rPr>
              <a:t>Giao diện chính — Thanh điều hướng</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F3864"/>
          </a:solidFill>
          <a:ln/>
        </p:spPr>
      </p:sp>
      <p:sp>
        <p:nvSpPr>
          <p:cNvPr id="3" name="Shape 1"/>
          <p:cNvSpPr/>
          <p:nvPr/>
        </p:nvSpPr>
        <p:spPr>
          <a:xfrm>
            <a:off x="0" y="3200400"/>
            <a:ext cx="9144000" cy="1947672"/>
          </a:xfrm>
          <a:prstGeom prst="rect">
            <a:avLst/>
          </a:prstGeom>
          <a:solidFill>
            <a:srgbClr val="2E74B5"/>
          </a:solidFill>
          <a:ln/>
        </p:spPr>
      </p:sp>
      <p:sp>
        <p:nvSpPr>
          <p:cNvPr id="4" name="Shape 2"/>
          <p:cNvSpPr/>
          <p:nvPr/>
        </p:nvSpPr>
        <p:spPr>
          <a:xfrm>
            <a:off x="0" y="0"/>
            <a:ext cx="109728" cy="5148072"/>
          </a:xfrm>
          <a:prstGeom prst="rect">
            <a:avLst/>
          </a:prstGeom>
          <a:solidFill>
            <a:srgbClr val="C00000"/>
          </a:solidFill>
          <a:ln/>
        </p:spPr>
      </p:sp>
      <p:sp>
        <p:nvSpPr>
          <p:cNvPr id="5" name="Text 3"/>
          <p:cNvSpPr/>
          <p:nvPr/>
        </p:nvSpPr>
        <p:spPr>
          <a:xfrm>
            <a:off x="457200" y="1280160"/>
            <a:ext cx="8229600" cy="731520"/>
          </a:xfrm>
          <a:prstGeom prst="rect">
            <a:avLst/>
          </a:prstGeom>
          <a:noFill/>
          <a:ln/>
        </p:spPr>
        <p:txBody>
          <a:bodyPr wrap="square"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Cảm ơn quý vị đã theo dõi</a:t>
            </a:r>
            <a:endParaRPr lang="en-US" sz="3000" dirty="0"/>
          </a:p>
        </p:txBody>
      </p:sp>
      <p:sp>
        <p:nvSpPr>
          <p:cNvPr id="6" name="Text 4"/>
          <p:cNvSpPr/>
          <p:nvPr/>
        </p:nvSpPr>
        <p:spPr>
          <a:xfrm>
            <a:off x="457200" y="2057400"/>
            <a:ext cx="8229600" cy="502920"/>
          </a:xfrm>
          <a:prstGeom prst="rect">
            <a:avLst/>
          </a:prstGeom>
          <a:noFill/>
          <a:ln/>
        </p:spPr>
        <p:txBody>
          <a:bodyPr wrap="square" rtlCol="0" anchor="ctr"/>
          <a:lstStyle/>
          <a:p>
            <a:pPr algn="ctr" indent="0" marL="0">
              <a:buNone/>
            </a:pPr>
            <a:r>
              <a:rPr lang="en-US" sz="1400" i="1" dirty="0">
                <a:solidFill>
                  <a:srgbClr val="DEEAF1"/>
                </a:solidFill>
                <a:latin typeface="Times New Roman" pitchFamily="34" charset="0"/>
                <a:ea typeface="Times New Roman" pitchFamily="34" charset="-122"/>
                <a:cs typeface="Times New Roman" pitchFamily="34" charset="-120"/>
              </a:rPr>
              <a:t>Phần mềm Quản lý Căn-teen Trại Giam</a:t>
            </a:r>
            <a:endParaRPr lang="en-US" sz="1400" dirty="0"/>
          </a:p>
        </p:txBody>
      </p:sp>
      <p:sp>
        <p:nvSpPr>
          <p:cNvPr id="7" name="Shape 5"/>
          <p:cNvSpPr/>
          <p:nvPr/>
        </p:nvSpPr>
        <p:spPr>
          <a:xfrm>
            <a:off x="1828800" y="2743200"/>
            <a:ext cx="5486400" cy="0"/>
          </a:xfrm>
          <a:prstGeom prst="line">
            <a:avLst/>
          </a:prstGeom>
          <a:noFill/>
          <a:ln w="19050">
            <a:solidFill>
              <a:srgbClr val="2E74B5"/>
            </a:solidFill>
            <a:prstDash val="solid"/>
          </a:ln>
        </p:spPr>
      </p:sp>
      <p:sp>
        <p:nvSpPr>
          <p:cNvPr id="8" name="Text 6"/>
          <p:cNvSpPr/>
          <p:nvPr/>
        </p:nvSpPr>
        <p:spPr>
          <a:xfrm>
            <a:off x="457200" y="2926080"/>
            <a:ext cx="8229600" cy="640080"/>
          </a:xfrm>
          <a:prstGeom prst="rect">
            <a:avLst/>
          </a:prstGeom>
          <a:noFill/>
          <a:ln/>
        </p:spPr>
        <p:txBody>
          <a:bodyPr wrap="square" rtlCol="0" anchor="ctr"/>
          <a:lstStyle/>
          <a:p>
            <a:pPr algn="ctr" indent="0" marL="0">
              <a:buNone/>
            </a:pPr>
            <a:r>
              <a:rPr lang="en-US" sz="900" dirty="0">
                <a:solidFill>
                  <a:srgbClr val="D9D9D9"/>
                </a:solidFill>
                <a:latin typeface="Times New Roman" pitchFamily="34" charset="0"/>
                <a:ea typeface="Times New Roman" pitchFamily="34" charset="-122"/>
                <a:cs typeface="Times New Roman" pitchFamily="34" charset="-120"/>
              </a:rPr>
              <a:t>Tài liệu mang tính bảo mật nội bộ.</a:t>
            </a:r>
            <a:endParaRPr lang="en-US" sz="900" dirty="0"/>
          </a:p>
          <a:p>
            <a:pPr algn="ctr" indent="0" marL="0">
              <a:buNone/>
            </a:pPr>
            <a:r>
              <a:rPr lang="en-US" sz="900" dirty="0">
                <a:solidFill>
                  <a:srgbClr val="D9D9D9"/>
                </a:solidFill>
                <a:latin typeface="Times New Roman" pitchFamily="34" charset="0"/>
                <a:ea typeface="Times New Roman" pitchFamily="34" charset="-122"/>
                <a:cs typeface="Times New Roman" pitchFamily="34" charset="-120"/>
              </a:rPr>
              <a:t>Nghiêm cấm sao chép, phát tán khi chưa được phép.</a:t>
            </a:r>
            <a:endParaRPr lang="en-US" sz="900" dirty="0"/>
          </a:p>
        </p:txBody>
      </p:sp>
      <p:sp>
        <p:nvSpPr>
          <p:cNvPr id="9" name="Shape 7"/>
          <p:cNvSpPr/>
          <p:nvPr/>
        </p:nvSpPr>
        <p:spPr>
          <a:xfrm>
            <a:off x="0" y="4828032"/>
            <a:ext cx="9144000" cy="320040"/>
          </a:xfrm>
          <a:prstGeom prst="rect">
            <a:avLst/>
          </a:prstGeom>
          <a:solidFill>
            <a:srgbClr val="1F3864"/>
          </a:solidFill>
          <a:ln/>
        </p:spPr>
      </p:sp>
      <p:sp>
        <p:nvSpPr>
          <p:cNvPr id="10" name="Text 8"/>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Canteen Management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Phần mềm Quản lý Căn-teen Trại Giam</dc:title>
  <dc:subject>Tài liệu Giới thiệu Chức năng</dc:subject>
  <dc:creator>Bộ Công An – Cục Quản lý Trại Giam</dc:creator>
  <cp:lastModifiedBy>Bộ Công An – Cục Quản lý Trại Giam</cp:lastModifiedBy>
  <cp:revision>1</cp:revision>
  <dcterms:created xsi:type="dcterms:W3CDTF">2026-09-12T06:54:47Z</dcterms:created>
  <dcterms:modified xsi:type="dcterms:W3CDTF">2026-09-12T06:54:47Z</dcterms:modified>
</cp:coreProperties>
</file>