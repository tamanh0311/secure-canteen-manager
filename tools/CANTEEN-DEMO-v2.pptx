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1F3864"/>
          </a:solidFill>
          <a:ln/>
        </p:spPr>
      </p:sp>
      <p:sp>
        <p:nvSpPr>
          <p:cNvPr id="3" name="Shape 1"/>
          <p:cNvSpPr/>
          <p:nvPr/>
        </p:nvSpPr>
        <p:spPr>
          <a:xfrm>
            <a:off x="0" y="3474720"/>
            <a:ext cx="9144000" cy="1673352"/>
          </a:xfrm>
          <a:prstGeom prst="rect">
            <a:avLst/>
          </a:prstGeom>
          <a:solidFill>
            <a:srgbClr val="2E74B5"/>
          </a:solidFill>
          <a:ln/>
        </p:spPr>
      </p:sp>
      <p:sp>
        <p:nvSpPr>
          <p:cNvPr id="4" name="Shape 2"/>
          <p:cNvSpPr/>
          <p:nvPr/>
        </p:nvSpPr>
        <p:spPr>
          <a:xfrm>
            <a:off x="457200" y="1097280"/>
            <a:ext cx="73152" cy="2011680"/>
          </a:xfrm>
          <a:prstGeom prst="rect">
            <a:avLst/>
          </a:prstGeom>
          <a:solidFill>
            <a:srgbClr val="C00000"/>
          </a:solidFill>
          <a:ln/>
        </p:spPr>
      </p:sp>
      <p:sp>
        <p:nvSpPr>
          <p:cNvPr id="5" name="Text 3"/>
          <p:cNvSpPr/>
          <p:nvPr/>
        </p:nvSpPr>
        <p:spPr>
          <a:xfrm>
            <a:off x="731520" y="777240"/>
            <a:ext cx="7772400" cy="347472"/>
          </a:xfrm>
          <a:prstGeom prst="rect">
            <a:avLst/>
          </a:prstGeom>
          <a:noFill/>
          <a:ln/>
        </p:spPr>
        <p:txBody>
          <a:bodyPr wrap="square" rtlCol="0" anchor="ctr"/>
          <a:lstStyle/>
          <a:p>
            <a:pPr indent="0" marL="0">
              <a:buNone/>
            </a:pPr>
            <a:r>
              <a:rPr lang="en-US" sz="1100" b="1" dirty="0">
                <a:solidFill>
                  <a:srgbClr val="FFFFFF"/>
                </a:solidFill>
                <a:latin typeface="Times New Roman" pitchFamily="34" charset="0"/>
                <a:ea typeface="Times New Roman" pitchFamily="34" charset="-122"/>
                <a:cs typeface="Times New Roman" pitchFamily="34" charset="-120"/>
              </a:rPr>
              <a:t>CỘNG HÒA XÃ HỘI CHỦ NGHĨA VIỆT NAM</a:t>
            </a:r>
            <a:endParaRPr lang="en-US" sz="1100" dirty="0"/>
          </a:p>
        </p:txBody>
      </p:sp>
      <p:sp>
        <p:nvSpPr>
          <p:cNvPr id="6" name="Text 4"/>
          <p:cNvSpPr/>
          <p:nvPr/>
        </p:nvSpPr>
        <p:spPr>
          <a:xfrm>
            <a:off x="731520" y="1078992"/>
            <a:ext cx="7772400" cy="274320"/>
          </a:xfrm>
          <a:prstGeom prst="rect">
            <a:avLst/>
          </a:prstGeom>
          <a:noFill/>
          <a:ln/>
        </p:spPr>
        <p:txBody>
          <a:bodyPr wrap="square" rtlCol="0" anchor="ctr"/>
          <a:lstStyle/>
          <a:p>
            <a:pPr indent="0" marL="0">
              <a:buNone/>
            </a:pPr>
            <a:r>
              <a:rPr lang="en-US" sz="1000" i="1" dirty="0">
                <a:solidFill>
                  <a:srgbClr val="DEEAF1"/>
                </a:solidFill>
                <a:latin typeface="Times New Roman" pitchFamily="34" charset="0"/>
                <a:ea typeface="Times New Roman" pitchFamily="34" charset="-122"/>
                <a:cs typeface="Times New Roman" pitchFamily="34" charset="-120"/>
              </a:rPr>
              <a:t>Độc lập – Tự do – Hạnh phúc</a:t>
            </a:r>
            <a:endParaRPr lang="en-US" sz="1000" dirty="0"/>
          </a:p>
        </p:txBody>
      </p:sp>
      <p:sp>
        <p:nvSpPr>
          <p:cNvPr id="7" name="Text 5"/>
          <p:cNvSpPr/>
          <p:nvPr/>
        </p:nvSpPr>
        <p:spPr>
          <a:xfrm>
            <a:off x="731520" y="1508760"/>
            <a:ext cx="7772400" cy="1005840"/>
          </a:xfrm>
          <a:prstGeom prst="rect">
            <a:avLst/>
          </a:prstGeom>
          <a:noFill/>
          <a:ln/>
        </p:spPr>
        <p:txBody>
          <a:bodyPr wrap="square" rtlCol="0" anchor="ctr"/>
          <a:lstStyle/>
          <a:p>
            <a:pPr indent="0" marL="0">
              <a:buNone/>
            </a:pPr>
            <a:r>
              <a:rPr lang="en-US" sz="2600" b="1" dirty="0">
                <a:solidFill>
                  <a:srgbClr val="FFFFFF"/>
                </a:solidFill>
                <a:latin typeface="Times New Roman" pitchFamily="34" charset="0"/>
                <a:ea typeface="Times New Roman" pitchFamily="34" charset="-122"/>
                <a:cs typeface="Times New Roman" pitchFamily="34" charset="-120"/>
              </a:rPr>
              <a:t>Phần mềm Quản lý Căn-teen Trại Giam</a:t>
            </a:r>
            <a:endParaRPr lang="en-US" sz="2600" dirty="0"/>
          </a:p>
        </p:txBody>
      </p:sp>
      <p:sp>
        <p:nvSpPr>
          <p:cNvPr id="8" name="Text 6"/>
          <p:cNvSpPr/>
          <p:nvPr/>
        </p:nvSpPr>
        <p:spPr>
          <a:xfrm>
            <a:off x="731520" y="2514600"/>
            <a:ext cx="7772400" cy="457200"/>
          </a:xfrm>
          <a:prstGeom prst="rect">
            <a:avLst/>
          </a:prstGeom>
          <a:noFill/>
          <a:ln/>
        </p:spPr>
        <p:txBody>
          <a:bodyPr wrap="square" rtlCol="0" anchor="ctr"/>
          <a:lstStyle/>
          <a:p>
            <a:pPr indent="0" marL="0">
              <a:buNone/>
            </a:pPr>
            <a:r>
              <a:rPr lang="en-US" sz="1300" i="1" dirty="0">
                <a:solidFill>
                  <a:srgbClr val="DEEAF1"/>
                </a:solidFill>
                <a:latin typeface="Times New Roman" pitchFamily="34" charset="0"/>
                <a:ea typeface="Times New Roman" pitchFamily="34" charset="-122"/>
                <a:cs typeface="Times New Roman" pitchFamily="34" charset="-120"/>
              </a:rPr>
              <a:t>Tài liệu Giới thiệu Chức năng – Phiên bản 1.0</a:t>
            </a:r>
            <a:endParaRPr lang="en-US" sz="1300" dirty="0"/>
          </a:p>
        </p:txBody>
      </p:sp>
      <p:sp>
        <p:nvSpPr>
          <p:cNvPr id="9" name="Text 7"/>
          <p:cNvSpPr/>
          <p:nvPr/>
        </p:nvSpPr>
        <p:spPr>
          <a:xfrm>
            <a:off x="731520" y="3017520"/>
            <a:ext cx="7772400" cy="320040"/>
          </a:xfrm>
          <a:prstGeom prst="rect">
            <a:avLst/>
          </a:prstGeom>
          <a:noFill/>
          <a:ln/>
        </p:spPr>
        <p:txBody>
          <a:bodyPr wrap="square" rtlCol="0" anchor="ctr"/>
          <a:lstStyle/>
          <a:p>
            <a:pPr indent="0" marL="0">
              <a:buNone/>
            </a:pPr>
            <a:r>
              <a:rPr lang="en-US" sz="1000" dirty="0">
                <a:solidFill>
                  <a:srgbClr val="D9D9D9"/>
                </a:solidFill>
                <a:latin typeface="Times New Roman" pitchFamily="34" charset="0"/>
                <a:ea typeface="Times New Roman" pitchFamily="34" charset="-122"/>
                <a:cs typeface="Times New Roman" pitchFamily="34" charset="-120"/>
              </a:rPr>
              <a:t>Tháng 9 năm 2026   |   Bảo mật nội bộ</a:t>
            </a:r>
            <a:endParaRPr lang="en-US" sz="1000" dirty="0"/>
          </a:p>
        </p:txBody>
      </p:sp>
      <p:sp>
        <p:nvSpPr>
          <p:cNvPr id="10" name="Shape 8"/>
          <p:cNvSpPr/>
          <p:nvPr/>
        </p:nvSpPr>
        <p:spPr>
          <a:xfrm>
            <a:off x="0" y="4828032"/>
            <a:ext cx="9144000" cy="320040"/>
          </a:xfrm>
          <a:prstGeom prst="rect">
            <a:avLst/>
          </a:prstGeom>
          <a:solidFill>
            <a:srgbClr val="1F3864"/>
          </a:solidFill>
          <a:ln/>
        </p:spPr>
      </p:sp>
      <p:sp>
        <p:nvSpPr>
          <p:cNvPr id="11" name="Text 9"/>
          <p:cNvSpPr/>
          <p:nvPr/>
        </p:nvSpPr>
        <p:spPr>
          <a:xfrm>
            <a:off x="182880" y="4873752"/>
            <a:ext cx="8778240" cy="237744"/>
          </a:xfrm>
          <a:prstGeom prst="rect">
            <a:avLst/>
          </a:prstGeom>
          <a:noFill/>
          <a:ln/>
        </p:spPr>
        <p:txBody>
          <a:bodyPr wrap="square" rtlCol="0" anchor="ctr"/>
          <a:lstStyle/>
          <a:p>
            <a:pPr algn="ctr" indent="0" marL="0">
              <a:buNone/>
            </a:pPr>
            <a:r>
              <a:rPr lang="en-US" sz="700" dirty="0">
                <a:solidFill>
                  <a:srgbClr val="DEEAF1"/>
                </a:solidFill>
                <a:latin typeface="Times New Roman" pitchFamily="34" charset="0"/>
                <a:ea typeface="Times New Roman" pitchFamily="34" charset="-122"/>
                <a:cs typeface="Times New Roman" pitchFamily="34" charset="-120"/>
              </a:rPr>
              <a:t>Hệ thống Quản lý Căn-teen Trại Giam</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5F7FA"/>
          </a:solidFill>
          <a:ln/>
        </p:spPr>
      </p:sp>
      <p:sp>
        <p:nvSpPr>
          <p:cNvPr id="3" name="Shape 1"/>
          <p:cNvSpPr/>
          <p:nvPr/>
        </p:nvSpPr>
        <p:spPr>
          <a:xfrm>
            <a:off x="0" y="0"/>
            <a:ext cx="9144000" cy="502920"/>
          </a:xfrm>
          <a:prstGeom prst="rect">
            <a:avLst/>
          </a:prstGeom>
          <a:solidFill>
            <a:srgbClr val="1F3864"/>
          </a:solidFill>
          <a:ln/>
        </p:spPr>
      </p:sp>
      <p:sp>
        <p:nvSpPr>
          <p:cNvPr id="4" name="Text 2"/>
          <p:cNvSpPr/>
          <p:nvPr/>
        </p:nvSpPr>
        <p:spPr>
          <a:xfrm>
            <a:off x="228600" y="73152"/>
            <a:ext cx="8686800" cy="347472"/>
          </a:xfrm>
          <a:prstGeom prst="rect">
            <a:avLst/>
          </a:prstGeom>
          <a:noFill/>
          <a:ln/>
        </p:spPr>
        <p:txBody>
          <a:bodyPr wrap="square" rtlCol="0" anchor="ctr"/>
          <a:lstStyle/>
          <a:p>
            <a:pPr indent="0" marL="0">
              <a:buNone/>
            </a:pPr>
            <a:r>
              <a:rPr lang="en-US" sz="900" i="1" dirty="0">
                <a:solidFill>
                  <a:srgbClr val="DEEAF1"/>
                </a:solidFill>
                <a:latin typeface="Times New Roman" pitchFamily="34" charset="0"/>
                <a:ea typeface="Times New Roman" pitchFamily="34" charset="-122"/>
                <a:cs typeface="Times New Roman" pitchFamily="34" charset="-120"/>
              </a:rPr>
              <a:t>Mục lục</a:t>
            </a:r>
            <a:endParaRPr lang="en-US" sz="900" dirty="0"/>
          </a:p>
        </p:txBody>
      </p:sp>
      <p:sp>
        <p:nvSpPr>
          <p:cNvPr id="5" name="Text 3"/>
          <p:cNvSpPr/>
          <p:nvPr/>
        </p:nvSpPr>
        <p:spPr>
          <a:xfrm>
            <a:off x="457200" y="594360"/>
            <a:ext cx="8229600" cy="548640"/>
          </a:xfrm>
          <a:prstGeom prst="rect">
            <a:avLst/>
          </a:prstGeom>
          <a:noFill/>
          <a:ln/>
        </p:spPr>
        <p:txBody>
          <a:bodyPr wrap="square" rtlCol="0" anchor="ctr"/>
          <a:lstStyle/>
          <a:p>
            <a:pPr indent="0" marL="0">
              <a:buNone/>
            </a:pPr>
            <a:r>
              <a:rPr lang="en-US" sz="2200" b="1" dirty="0">
                <a:solidFill>
                  <a:srgbClr val="1F3864"/>
                </a:solidFill>
                <a:latin typeface="Times New Roman" pitchFamily="34" charset="0"/>
                <a:ea typeface="Times New Roman" pitchFamily="34" charset="-122"/>
                <a:cs typeface="Times New Roman" pitchFamily="34" charset="-120"/>
              </a:rPr>
              <a:t>Nội dung Trình bày</a:t>
            </a:r>
            <a:endParaRPr lang="en-US" sz="2200" dirty="0"/>
          </a:p>
        </p:txBody>
      </p:sp>
      <p:sp>
        <p:nvSpPr>
          <p:cNvPr id="6" name="Shape 4"/>
          <p:cNvSpPr/>
          <p:nvPr/>
        </p:nvSpPr>
        <p:spPr>
          <a:xfrm>
            <a:off x="457200" y="1170432"/>
            <a:ext cx="8229600" cy="0"/>
          </a:xfrm>
          <a:prstGeom prst="line">
            <a:avLst/>
          </a:prstGeom>
          <a:noFill/>
          <a:ln w="25400">
            <a:solidFill>
              <a:srgbClr val="2E74B5"/>
            </a:solidFill>
            <a:prstDash val="solid"/>
          </a:ln>
        </p:spPr>
      </p:sp>
      <p:sp>
        <p:nvSpPr>
          <p:cNvPr id="7" name="Shape 5"/>
          <p:cNvSpPr/>
          <p:nvPr/>
        </p:nvSpPr>
        <p:spPr>
          <a:xfrm>
            <a:off x="457200" y="1316736"/>
            <a:ext cx="310896" cy="310896"/>
          </a:xfrm>
          <a:prstGeom prst="ellipse">
            <a:avLst/>
          </a:prstGeom>
          <a:solidFill>
            <a:srgbClr val="2E74B5"/>
          </a:solidFill>
          <a:ln/>
        </p:spPr>
      </p:sp>
      <p:sp>
        <p:nvSpPr>
          <p:cNvPr id="8" name="Text 6"/>
          <p:cNvSpPr/>
          <p:nvPr/>
        </p:nvSpPr>
        <p:spPr>
          <a:xfrm>
            <a:off x="457200" y="1316736"/>
            <a:ext cx="310896" cy="310896"/>
          </a:xfrm>
          <a:prstGeom prst="rect">
            <a:avLst/>
          </a:prstGeom>
          <a:noFill/>
          <a:ln/>
        </p:spPr>
        <p:txBody>
          <a:bodyPr wrap="square" rtlCol="0" anchor="ctr"/>
          <a:lstStyle/>
          <a:p>
            <a:pPr algn="ctr" indent="0" marL="0">
              <a:buNone/>
            </a:pPr>
            <a:r>
              <a:rPr lang="en-US" sz="900" b="1" dirty="0">
                <a:solidFill>
                  <a:srgbClr val="FFFFFF"/>
                </a:solidFill>
                <a:latin typeface="Times New Roman" pitchFamily="34" charset="0"/>
                <a:ea typeface="Times New Roman" pitchFamily="34" charset="-122"/>
                <a:cs typeface="Times New Roman" pitchFamily="34" charset="-120"/>
              </a:rPr>
              <a:t>1</a:t>
            </a:r>
            <a:endParaRPr lang="en-US" sz="900" dirty="0"/>
          </a:p>
        </p:txBody>
      </p:sp>
      <p:sp>
        <p:nvSpPr>
          <p:cNvPr id="9" name="Text 7"/>
          <p:cNvSpPr/>
          <p:nvPr/>
        </p:nvSpPr>
        <p:spPr>
          <a:xfrm>
            <a:off x="841248" y="1280160"/>
            <a:ext cx="3657600" cy="384048"/>
          </a:xfrm>
          <a:prstGeom prst="rect">
            <a:avLst/>
          </a:prstGeom>
          <a:noFill/>
          <a:ln/>
        </p:spPr>
        <p:txBody>
          <a:bodyPr wrap="square" rtlCol="0" anchor="ctr"/>
          <a:lstStyle/>
          <a:p>
            <a:pPr indent="0" marL="0">
              <a:buNone/>
            </a:pPr>
            <a:r>
              <a:rPr lang="en-US" sz="1300" b="1" dirty="0">
                <a:solidFill>
                  <a:srgbClr val="1A1A2E"/>
                </a:solidFill>
                <a:latin typeface="Times New Roman" pitchFamily="34" charset="0"/>
                <a:ea typeface="Times New Roman" pitchFamily="34" charset="-122"/>
                <a:cs typeface="Times New Roman" pitchFamily="34" charset="-120"/>
              </a:rPr>
              <a:t>Xác thực</a:t>
            </a:r>
            <a:endParaRPr lang="en-US" sz="1300" dirty="0"/>
          </a:p>
        </p:txBody>
      </p:sp>
      <p:sp>
        <p:nvSpPr>
          <p:cNvPr id="10" name="Text 8"/>
          <p:cNvSpPr/>
          <p:nvPr/>
        </p:nvSpPr>
        <p:spPr>
          <a:xfrm>
            <a:off x="841248" y="1627632"/>
            <a:ext cx="3657600" cy="256032"/>
          </a:xfrm>
          <a:prstGeom prst="rect">
            <a:avLst/>
          </a:prstGeom>
          <a:noFill/>
          <a:ln/>
        </p:spPr>
        <p:txBody>
          <a:bodyPr wrap="square" rtlCol="0" anchor="ctr"/>
          <a:lstStyle/>
          <a:p>
            <a:pPr indent="0" marL="0">
              <a:buNone/>
            </a:pPr>
            <a:r>
              <a:rPr lang="en-US" sz="750" dirty="0">
                <a:solidFill>
                  <a:srgbClr val="595959"/>
                </a:solidFill>
                <a:latin typeface="Times New Roman" pitchFamily="34" charset="0"/>
                <a:ea typeface="Times New Roman" pitchFamily="34" charset="-122"/>
                <a:cs typeface="Times New Roman" pitchFamily="34" charset="-120"/>
              </a:rPr>
              <a:t>Trang Đăng nhập</a:t>
            </a:r>
            <a:endParaRPr lang="en-US" sz="750" dirty="0"/>
          </a:p>
        </p:txBody>
      </p:sp>
      <p:sp>
        <p:nvSpPr>
          <p:cNvPr id="11" name="Shape 9"/>
          <p:cNvSpPr/>
          <p:nvPr/>
        </p:nvSpPr>
        <p:spPr>
          <a:xfrm>
            <a:off x="457200" y="1975104"/>
            <a:ext cx="310896" cy="310896"/>
          </a:xfrm>
          <a:prstGeom prst="ellipse">
            <a:avLst/>
          </a:prstGeom>
          <a:solidFill>
            <a:srgbClr val="2E74B5"/>
          </a:solidFill>
          <a:ln/>
        </p:spPr>
      </p:sp>
      <p:sp>
        <p:nvSpPr>
          <p:cNvPr id="12" name="Text 10"/>
          <p:cNvSpPr/>
          <p:nvPr/>
        </p:nvSpPr>
        <p:spPr>
          <a:xfrm>
            <a:off x="457200" y="1975104"/>
            <a:ext cx="310896" cy="310896"/>
          </a:xfrm>
          <a:prstGeom prst="rect">
            <a:avLst/>
          </a:prstGeom>
          <a:noFill/>
          <a:ln/>
        </p:spPr>
        <p:txBody>
          <a:bodyPr wrap="square" rtlCol="0" anchor="ctr"/>
          <a:lstStyle/>
          <a:p>
            <a:pPr algn="ctr" indent="0" marL="0">
              <a:buNone/>
            </a:pPr>
            <a:r>
              <a:rPr lang="en-US" sz="900" b="1" dirty="0">
                <a:solidFill>
                  <a:srgbClr val="FFFFFF"/>
                </a:solidFill>
                <a:latin typeface="Times New Roman" pitchFamily="34" charset="0"/>
                <a:ea typeface="Times New Roman" pitchFamily="34" charset="-122"/>
                <a:cs typeface="Times New Roman" pitchFamily="34" charset="-120"/>
              </a:rPr>
              <a:t>2</a:t>
            </a:r>
            <a:endParaRPr lang="en-US" sz="900" dirty="0"/>
          </a:p>
        </p:txBody>
      </p:sp>
      <p:sp>
        <p:nvSpPr>
          <p:cNvPr id="13" name="Text 11"/>
          <p:cNvSpPr/>
          <p:nvPr/>
        </p:nvSpPr>
        <p:spPr>
          <a:xfrm>
            <a:off x="841248" y="1938528"/>
            <a:ext cx="3657600" cy="384048"/>
          </a:xfrm>
          <a:prstGeom prst="rect">
            <a:avLst/>
          </a:prstGeom>
          <a:noFill/>
          <a:ln/>
        </p:spPr>
        <p:txBody>
          <a:bodyPr wrap="square" rtlCol="0" anchor="ctr"/>
          <a:lstStyle/>
          <a:p>
            <a:pPr indent="0" marL="0">
              <a:buNone/>
            </a:pPr>
            <a:r>
              <a:rPr lang="en-US" sz="1300" b="1" dirty="0">
                <a:solidFill>
                  <a:srgbClr val="1A1A2E"/>
                </a:solidFill>
                <a:latin typeface="Times New Roman" pitchFamily="34" charset="0"/>
                <a:ea typeface="Times New Roman" pitchFamily="34" charset="-122"/>
                <a:cs typeface="Times New Roman" pitchFamily="34" charset="-120"/>
              </a:rPr>
              <a:t>Vận hành</a:t>
            </a:r>
            <a:endParaRPr lang="en-US" sz="1300" dirty="0"/>
          </a:p>
        </p:txBody>
      </p:sp>
      <p:sp>
        <p:nvSpPr>
          <p:cNvPr id="14" name="Text 12"/>
          <p:cNvSpPr/>
          <p:nvPr/>
        </p:nvSpPr>
        <p:spPr>
          <a:xfrm>
            <a:off x="841248" y="2286000"/>
            <a:ext cx="3657600" cy="256032"/>
          </a:xfrm>
          <a:prstGeom prst="rect">
            <a:avLst/>
          </a:prstGeom>
          <a:noFill/>
          <a:ln/>
        </p:spPr>
        <p:txBody>
          <a:bodyPr wrap="square" rtlCol="0" anchor="ctr"/>
          <a:lstStyle/>
          <a:p>
            <a:pPr indent="0" marL="0">
              <a:buNone/>
            </a:pPr>
            <a:r>
              <a:rPr lang="en-US" sz="750" dirty="0">
                <a:solidFill>
                  <a:srgbClr val="595959"/>
                </a:solidFill>
                <a:latin typeface="Times New Roman" pitchFamily="34" charset="0"/>
                <a:ea typeface="Times New Roman" pitchFamily="34" charset="-122"/>
                <a:cs typeface="Times New Roman" pitchFamily="34" charset="-120"/>
              </a:rPr>
              <a:t>Tổng quan (Dashboard)  ·  Danh sách Đơn hàng  ·  Tổng kết Bếp / Kho</a:t>
            </a:r>
            <a:endParaRPr lang="en-US" sz="750" dirty="0"/>
          </a:p>
        </p:txBody>
      </p:sp>
      <p:sp>
        <p:nvSpPr>
          <p:cNvPr id="15" name="Shape 13"/>
          <p:cNvSpPr/>
          <p:nvPr/>
        </p:nvSpPr>
        <p:spPr>
          <a:xfrm>
            <a:off x="457200" y="2633472"/>
            <a:ext cx="310896" cy="310896"/>
          </a:xfrm>
          <a:prstGeom prst="ellipse">
            <a:avLst/>
          </a:prstGeom>
          <a:solidFill>
            <a:srgbClr val="2E74B5"/>
          </a:solidFill>
          <a:ln/>
        </p:spPr>
      </p:sp>
      <p:sp>
        <p:nvSpPr>
          <p:cNvPr id="16" name="Text 14"/>
          <p:cNvSpPr/>
          <p:nvPr/>
        </p:nvSpPr>
        <p:spPr>
          <a:xfrm>
            <a:off x="457200" y="2633472"/>
            <a:ext cx="310896" cy="310896"/>
          </a:xfrm>
          <a:prstGeom prst="rect">
            <a:avLst/>
          </a:prstGeom>
          <a:noFill/>
          <a:ln/>
        </p:spPr>
        <p:txBody>
          <a:bodyPr wrap="square" rtlCol="0" anchor="ctr"/>
          <a:lstStyle/>
          <a:p>
            <a:pPr algn="ctr" indent="0" marL="0">
              <a:buNone/>
            </a:pPr>
            <a:r>
              <a:rPr lang="en-US" sz="900" b="1" dirty="0">
                <a:solidFill>
                  <a:srgbClr val="FFFFFF"/>
                </a:solidFill>
                <a:latin typeface="Times New Roman" pitchFamily="34" charset="0"/>
                <a:ea typeface="Times New Roman" pitchFamily="34" charset="-122"/>
                <a:cs typeface="Times New Roman" pitchFamily="34" charset="-120"/>
              </a:rPr>
              <a:t>3</a:t>
            </a:r>
            <a:endParaRPr lang="en-US" sz="900" dirty="0"/>
          </a:p>
        </p:txBody>
      </p:sp>
      <p:sp>
        <p:nvSpPr>
          <p:cNvPr id="17" name="Text 15"/>
          <p:cNvSpPr/>
          <p:nvPr/>
        </p:nvSpPr>
        <p:spPr>
          <a:xfrm>
            <a:off x="841248" y="2596896"/>
            <a:ext cx="3657600" cy="384048"/>
          </a:xfrm>
          <a:prstGeom prst="rect">
            <a:avLst/>
          </a:prstGeom>
          <a:noFill/>
          <a:ln/>
        </p:spPr>
        <p:txBody>
          <a:bodyPr wrap="square" rtlCol="0" anchor="ctr"/>
          <a:lstStyle/>
          <a:p>
            <a:pPr indent="0" marL="0">
              <a:buNone/>
            </a:pPr>
            <a:r>
              <a:rPr lang="en-US" sz="1300" b="1" dirty="0">
                <a:solidFill>
                  <a:srgbClr val="1A1A2E"/>
                </a:solidFill>
                <a:latin typeface="Times New Roman" pitchFamily="34" charset="0"/>
                <a:ea typeface="Times New Roman" pitchFamily="34" charset="-122"/>
                <a:cs typeface="Times New Roman" pitchFamily="34" charset="-120"/>
              </a:rPr>
              <a:t>Quầy Thu ngân</a:t>
            </a:r>
            <a:endParaRPr lang="en-US" sz="1300" dirty="0"/>
          </a:p>
        </p:txBody>
      </p:sp>
      <p:sp>
        <p:nvSpPr>
          <p:cNvPr id="18" name="Text 16"/>
          <p:cNvSpPr/>
          <p:nvPr/>
        </p:nvSpPr>
        <p:spPr>
          <a:xfrm>
            <a:off x="841248" y="2944368"/>
            <a:ext cx="3657600" cy="256032"/>
          </a:xfrm>
          <a:prstGeom prst="rect">
            <a:avLst/>
          </a:prstGeom>
          <a:noFill/>
          <a:ln/>
        </p:spPr>
        <p:txBody>
          <a:bodyPr wrap="square" rtlCol="0" anchor="ctr"/>
          <a:lstStyle/>
          <a:p>
            <a:pPr indent="0" marL="0">
              <a:buNone/>
            </a:pPr>
            <a:r>
              <a:rPr lang="en-US" sz="750" dirty="0">
                <a:solidFill>
                  <a:srgbClr val="595959"/>
                </a:solidFill>
                <a:latin typeface="Times New Roman" pitchFamily="34" charset="0"/>
                <a:ea typeface="Times New Roman" pitchFamily="34" charset="-122"/>
                <a:cs typeface="Times New Roman" pitchFamily="34" charset="-120"/>
              </a:rPr>
              <a:t>Quầy Thu ngân — Giao diện chính  ·  Quầy Thu ngân — Thông tin Phạm nhân  ·  Quầy Thu ngân — Hàng đợi đơn hàng PENDING  ·  Quầy Thu ngân — Hồ sơ Phạm nhân</a:t>
            </a:r>
            <a:endParaRPr lang="en-US" sz="750" dirty="0"/>
          </a:p>
        </p:txBody>
      </p:sp>
      <p:sp>
        <p:nvSpPr>
          <p:cNvPr id="19" name="Shape 17"/>
          <p:cNvSpPr/>
          <p:nvPr/>
        </p:nvSpPr>
        <p:spPr>
          <a:xfrm>
            <a:off x="4846320" y="1316736"/>
            <a:ext cx="310896" cy="310896"/>
          </a:xfrm>
          <a:prstGeom prst="ellipse">
            <a:avLst/>
          </a:prstGeom>
          <a:solidFill>
            <a:srgbClr val="2E74B5"/>
          </a:solidFill>
          <a:ln/>
        </p:spPr>
      </p:sp>
      <p:sp>
        <p:nvSpPr>
          <p:cNvPr id="20" name="Text 18"/>
          <p:cNvSpPr/>
          <p:nvPr/>
        </p:nvSpPr>
        <p:spPr>
          <a:xfrm>
            <a:off x="4846320" y="1316736"/>
            <a:ext cx="310896" cy="310896"/>
          </a:xfrm>
          <a:prstGeom prst="rect">
            <a:avLst/>
          </a:prstGeom>
          <a:noFill/>
          <a:ln/>
        </p:spPr>
        <p:txBody>
          <a:bodyPr wrap="square" rtlCol="0" anchor="ctr"/>
          <a:lstStyle/>
          <a:p>
            <a:pPr algn="ctr" indent="0" marL="0">
              <a:buNone/>
            </a:pPr>
            <a:r>
              <a:rPr lang="en-US" sz="900" b="1" dirty="0">
                <a:solidFill>
                  <a:srgbClr val="FFFFFF"/>
                </a:solidFill>
                <a:latin typeface="Times New Roman" pitchFamily="34" charset="0"/>
                <a:ea typeface="Times New Roman" pitchFamily="34" charset="-122"/>
                <a:cs typeface="Times New Roman" pitchFamily="34" charset="-120"/>
              </a:rPr>
              <a:t>4</a:t>
            </a:r>
            <a:endParaRPr lang="en-US" sz="900" dirty="0"/>
          </a:p>
        </p:txBody>
      </p:sp>
      <p:sp>
        <p:nvSpPr>
          <p:cNvPr id="21" name="Text 19"/>
          <p:cNvSpPr/>
          <p:nvPr/>
        </p:nvSpPr>
        <p:spPr>
          <a:xfrm>
            <a:off x="5230368" y="1280160"/>
            <a:ext cx="3657600" cy="384048"/>
          </a:xfrm>
          <a:prstGeom prst="rect">
            <a:avLst/>
          </a:prstGeom>
          <a:noFill/>
          <a:ln/>
        </p:spPr>
        <p:txBody>
          <a:bodyPr wrap="square" rtlCol="0" anchor="ctr"/>
          <a:lstStyle/>
          <a:p>
            <a:pPr indent="0" marL="0">
              <a:buNone/>
            </a:pPr>
            <a:r>
              <a:rPr lang="en-US" sz="1300" b="1" dirty="0">
                <a:solidFill>
                  <a:srgbClr val="1A1A2E"/>
                </a:solidFill>
                <a:latin typeface="Times New Roman" pitchFamily="34" charset="0"/>
                <a:ea typeface="Times New Roman" pitchFamily="34" charset="-122"/>
                <a:cs typeface="Times New Roman" pitchFamily="34" charset="-120"/>
              </a:rPr>
              <a:t>Cài đặt</a:t>
            </a:r>
            <a:endParaRPr lang="en-US" sz="1300" dirty="0"/>
          </a:p>
        </p:txBody>
      </p:sp>
      <p:sp>
        <p:nvSpPr>
          <p:cNvPr id="22" name="Text 20"/>
          <p:cNvSpPr/>
          <p:nvPr/>
        </p:nvSpPr>
        <p:spPr>
          <a:xfrm>
            <a:off x="5230368" y="1627632"/>
            <a:ext cx="3657600" cy="256032"/>
          </a:xfrm>
          <a:prstGeom prst="rect">
            <a:avLst/>
          </a:prstGeom>
          <a:noFill/>
          <a:ln/>
        </p:spPr>
        <p:txBody>
          <a:bodyPr wrap="square" rtlCol="0" anchor="ctr"/>
          <a:lstStyle/>
          <a:p>
            <a:pPr indent="0" marL="0">
              <a:buNone/>
            </a:pPr>
            <a:r>
              <a:rPr lang="en-US" sz="750" dirty="0">
                <a:solidFill>
                  <a:srgbClr val="595959"/>
                </a:solidFill>
                <a:latin typeface="Times New Roman" pitchFamily="34" charset="0"/>
                <a:ea typeface="Times New Roman" pitchFamily="34" charset="-122"/>
                <a:cs typeface="Times New Roman" pitchFamily="34" charset="-120"/>
              </a:rPr>
              <a:t>Quản lý Danh mục Hàng hóa  ·  Kiểm toán Số dư Tài khoản  ·  Cấu hình Thanh toán  ·  Phiếu Giao hàng (Vouchers)  ·  Quản lý Cán bộ  ·  Danh sách Phạm nhân</a:t>
            </a:r>
            <a:endParaRPr lang="en-US" sz="750" dirty="0"/>
          </a:p>
        </p:txBody>
      </p:sp>
      <p:sp>
        <p:nvSpPr>
          <p:cNvPr id="23" name="Shape 21"/>
          <p:cNvSpPr/>
          <p:nvPr/>
        </p:nvSpPr>
        <p:spPr>
          <a:xfrm>
            <a:off x="4846320" y="1975104"/>
            <a:ext cx="310896" cy="310896"/>
          </a:xfrm>
          <a:prstGeom prst="ellipse">
            <a:avLst/>
          </a:prstGeom>
          <a:solidFill>
            <a:srgbClr val="2E74B5"/>
          </a:solidFill>
          <a:ln/>
        </p:spPr>
      </p:sp>
      <p:sp>
        <p:nvSpPr>
          <p:cNvPr id="24" name="Text 22"/>
          <p:cNvSpPr/>
          <p:nvPr/>
        </p:nvSpPr>
        <p:spPr>
          <a:xfrm>
            <a:off x="4846320" y="1975104"/>
            <a:ext cx="310896" cy="310896"/>
          </a:xfrm>
          <a:prstGeom prst="rect">
            <a:avLst/>
          </a:prstGeom>
          <a:noFill/>
          <a:ln/>
        </p:spPr>
        <p:txBody>
          <a:bodyPr wrap="square" rtlCol="0" anchor="ctr"/>
          <a:lstStyle/>
          <a:p>
            <a:pPr algn="ctr" indent="0" marL="0">
              <a:buNone/>
            </a:pPr>
            <a:r>
              <a:rPr lang="en-US" sz="900" b="1" dirty="0">
                <a:solidFill>
                  <a:srgbClr val="FFFFFF"/>
                </a:solidFill>
                <a:latin typeface="Times New Roman" pitchFamily="34" charset="0"/>
                <a:ea typeface="Times New Roman" pitchFamily="34" charset="-122"/>
                <a:cs typeface="Times New Roman" pitchFamily="34" charset="-120"/>
              </a:rPr>
              <a:t>5</a:t>
            </a:r>
            <a:endParaRPr lang="en-US" sz="900" dirty="0"/>
          </a:p>
        </p:txBody>
      </p:sp>
      <p:sp>
        <p:nvSpPr>
          <p:cNvPr id="25" name="Text 23"/>
          <p:cNvSpPr/>
          <p:nvPr/>
        </p:nvSpPr>
        <p:spPr>
          <a:xfrm>
            <a:off x="5230368" y="1938528"/>
            <a:ext cx="3657600" cy="384048"/>
          </a:xfrm>
          <a:prstGeom prst="rect">
            <a:avLst/>
          </a:prstGeom>
          <a:noFill/>
          <a:ln/>
        </p:spPr>
        <p:txBody>
          <a:bodyPr wrap="square" rtlCol="0" anchor="ctr"/>
          <a:lstStyle/>
          <a:p>
            <a:pPr indent="0" marL="0">
              <a:buNone/>
            </a:pPr>
            <a:r>
              <a:rPr lang="en-US" sz="1300" b="1" dirty="0">
                <a:solidFill>
                  <a:srgbClr val="1A1A2E"/>
                </a:solidFill>
                <a:latin typeface="Times New Roman" pitchFamily="34" charset="0"/>
                <a:ea typeface="Times New Roman" pitchFamily="34" charset="-122"/>
                <a:cs typeface="Times New Roman" pitchFamily="34" charset="-120"/>
              </a:rPr>
              <a:t>Đặt hàng Kiosk</a:t>
            </a:r>
            <a:endParaRPr lang="en-US" sz="1300" dirty="0"/>
          </a:p>
        </p:txBody>
      </p:sp>
      <p:sp>
        <p:nvSpPr>
          <p:cNvPr id="26" name="Text 24"/>
          <p:cNvSpPr/>
          <p:nvPr/>
        </p:nvSpPr>
        <p:spPr>
          <a:xfrm>
            <a:off x="5230368" y="2286000"/>
            <a:ext cx="3657600" cy="256032"/>
          </a:xfrm>
          <a:prstGeom prst="rect">
            <a:avLst/>
          </a:prstGeom>
          <a:noFill/>
          <a:ln/>
        </p:spPr>
        <p:txBody>
          <a:bodyPr wrap="square" rtlCol="0" anchor="ctr"/>
          <a:lstStyle/>
          <a:p>
            <a:pPr indent="0" marL="0">
              <a:buNone/>
            </a:pPr>
            <a:r>
              <a:rPr lang="en-US" sz="750" dirty="0">
                <a:solidFill>
                  <a:srgbClr val="595959"/>
                </a:solidFill>
                <a:latin typeface="Times New Roman" pitchFamily="34" charset="0"/>
                <a:ea typeface="Times New Roman" pitchFamily="34" charset="-122"/>
                <a:cs typeface="Times New Roman" pitchFamily="34" charset="-120"/>
              </a:rPr>
              <a:t>Kiosk — Nhập Mã Lưu Ký  ·  Kiosk — Đã nhập mã lưu ký  ·  Kiosk — Chọn Món Đặt hàng</a:t>
            </a:r>
            <a:endParaRPr lang="en-US" sz="750" dirty="0"/>
          </a:p>
        </p:txBody>
      </p:sp>
      <p:sp>
        <p:nvSpPr>
          <p:cNvPr id="27" name="Shape 25"/>
          <p:cNvSpPr/>
          <p:nvPr/>
        </p:nvSpPr>
        <p:spPr>
          <a:xfrm>
            <a:off x="4846320" y="2633472"/>
            <a:ext cx="310896" cy="310896"/>
          </a:xfrm>
          <a:prstGeom prst="ellipse">
            <a:avLst/>
          </a:prstGeom>
          <a:solidFill>
            <a:srgbClr val="2E74B5"/>
          </a:solidFill>
          <a:ln/>
        </p:spPr>
      </p:sp>
      <p:sp>
        <p:nvSpPr>
          <p:cNvPr id="28" name="Text 26"/>
          <p:cNvSpPr/>
          <p:nvPr/>
        </p:nvSpPr>
        <p:spPr>
          <a:xfrm>
            <a:off x="4846320" y="2633472"/>
            <a:ext cx="310896" cy="310896"/>
          </a:xfrm>
          <a:prstGeom prst="rect">
            <a:avLst/>
          </a:prstGeom>
          <a:noFill/>
          <a:ln/>
        </p:spPr>
        <p:txBody>
          <a:bodyPr wrap="square" rtlCol="0" anchor="ctr"/>
          <a:lstStyle/>
          <a:p>
            <a:pPr algn="ctr" indent="0" marL="0">
              <a:buNone/>
            </a:pPr>
            <a:r>
              <a:rPr lang="en-US" sz="900" b="1" dirty="0">
                <a:solidFill>
                  <a:srgbClr val="FFFFFF"/>
                </a:solidFill>
                <a:latin typeface="Times New Roman" pitchFamily="34" charset="0"/>
                <a:ea typeface="Times New Roman" pitchFamily="34" charset="-122"/>
                <a:cs typeface="Times New Roman" pitchFamily="34" charset="-120"/>
              </a:rPr>
              <a:t>6</a:t>
            </a:r>
            <a:endParaRPr lang="en-US" sz="900" dirty="0"/>
          </a:p>
        </p:txBody>
      </p:sp>
      <p:sp>
        <p:nvSpPr>
          <p:cNvPr id="29" name="Text 27"/>
          <p:cNvSpPr/>
          <p:nvPr/>
        </p:nvSpPr>
        <p:spPr>
          <a:xfrm>
            <a:off x="5230368" y="2596896"/>
            <a:ext cx="3657600" cy="384048"/>
          </a:xfrm>
          <a:prstGeom prst="rect">
            <a:avLst/>
          </a:prstGeom>
          <a:noFill/>
          <a:ln/>
        </p:spPr>
        <p:txBody>
          <a:bodyPr wrap="square" rtlCol="0" anchor="ctr"/>
          <a:lstStyle/>
          <a:p>
            <a:pPr indent="0" marL="0">
              <a:buNone/>
            </a:pPr>
            <a:r>
              <a:rPr lang="en-US" sz="1300" b="1" dirty="0">
                <a:solidFill>
                  <a:srgbClr val="1A1A2E"/>
                </a:solidFill>
                <a:latin typeface="Times New Roman" pitchFamily="34" charset="0"/>
                <a:ea typeface="Times New Roman" pitchFamily="34" charset="-122"/>
                <a:cs typeface="Times New Roman" pitchFamily="34" charset="-120"/>
              </a:rPr>
              <a:t>Tổng quan hệ thống</a:t>
            </a:r>
            <a:endParaRPr lang="en-US" sz="1300" dirty="0"/>
          </a:p>
        </p:txBody>
      </p:sp>
      <p:sp>
        <p:nvSpPr>
          <p:cNvPr id="30" name="Text 28"/>
          <p:cNvSpPr/>
          <p:nvPr/>
        </p:nvSpPr>
        <p:spPr>
          <a:xfrm>
            <a:off x="5230368" y="2944368"/>
            <a:ext cx="3657600" cy="256032"/>
          </a:xfrm>
          <a:prstGeom prst="rect">
            <a:avLst/>
          </a:prstGeom>
          <a:noFill/>
          <a:ln/>
        </p:spPr>
        <p:txBody>
          <a:bodyPr wrap="square" rtlCol="0" anchor="ctr"/>
          <a:lstStyle/>
          <a:p>
            <a:pPr indent="0" marL="0">
              <a:buNone/>
            </a:pPr>
            <a:r>
              <a:rPr lang="en-US" sz="750" dirty="0">
                <a:solidFill>
                  <a:srgbClr val="595959"/>
                </a:solidFill>
                <a:latin typeface="Times New Roman" pitchFamily="34" charset="0"/>
                <a:ea typeface="Times New Roman" pitchFamily="34" charset="-122"/>
                <a:cs typeface="Times New Roman" pitchFamily="34" charset="-120"/>
              </a:rPr>
              <a:t>Giao diện chính — Thanh điều hướng</a:t>
            </a:r>
            <a:endParaRPr lang="en-US" sz="750" dirty="0"/>
          </a:p>
        </p:txBody>
      </p:sp>
      <p:sp>
        <p:nvSpPr>
          <p:cNvPr id="31" name="Shape 29"/>
          <p:cNvSpPr/>
          <p:nvPr/>
        </p:nvSpPr>
        <p:spPr>
          <a:xfrm>
            <a:off x="0" y="4828032"/>
            <a:ext cx="9144000" cy="320040"/>
          </a:xfrm>
          <a:prstGeom prst="rect">
            <a:avLst/>
          </a:prstGeom>
          <a:solidFill>
            <a:srgbClr val="1F3864"/>
          </a:solidFill>
          <a:ln/>
        </p:spPr>
      </p:sp>
      <p:sp>
        <p:nvSpPr>
          <p:cNvPr id="32" name="Text 30"/>
          <p:cNvSpPr/>
          <p:nvPr/>
        </p:nvSpPr>
        <p:spPr>
          <a:xfrm>
            <a:off x="182880" y="4873752"/>
            <a:ext cx="8778240" cy="237744"/>
          </a:xfrm>
          <a:prstGeom prst="rect">
            <a:avLst/>
          </a:prstGeom>
          <a:noFill/>
          <a:ln/>
        </p:spPr>
        <p:txBody>
          <a:bodyPr wrap="square" rtlCol="0" anchor="ctr"/>
          <a:lstStyle/>
          <a:p>
            <a:pPr algn="ctr" indent="0" marL="0">
              <a:buNone/>
            </a:pPr>
            <a:r>
              <a:rPr lang="en-US" sz="700" dirty="0">
                <a:solidFill>
                  <a:srgbClr val="DEEAF1"/>
                </a:solidFill>
                <a:latin typeface="Times New Roman" pitchFamily="34" charset="0"/>
                <a:ea typeface="Times New Roman" pitchFamily="34" charset="-122"/>
                <a:cs typeface="Times New Roman" pitchFamily="34" charset="-120"/>
              </a:rPr>
              <a:t>Hệ thống Quản lý Căn-teen Trại Giam</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5F7FA"/>
          </a:solidFill>
          <a:ln/>
        </p:spPr>
      </p:sp>
      <p:sp>
        <p:nvSpPr>
          <p:cNvPr id="3" name="Shape 1"/>
          <p:cNvSpPr/>
          <p:nvPr/>
        </p:nvSpPr>
        <p:spPr>
          <a:xfrm>
            <a:off x="0" y="0"/>
            <a:ext cx="9144000" cy="502920"/>
          </a:xfrm>
          <a:prstGeom prst="rect">
            <a:avLst/>
          </a:prstGeom>
          <a:solidFill>
            <a:srgbClr val="1F3864"/>
          </a:solidFill>
          <a:ln/>
        </p:spPr>
      </p:sp>
      <p:sp>
        <p:nvSpPr>
          <p:cNvPr id="4" name="Text 2"/>
          <p:cNvSpPr/>
          <p:nvPr/>
        </p:nvSpPr>
        <p:spPr>
          <a:xfrm>
            <a:off x="228600" y="73152"/>
            <a:ext cx="8686800" cy="347472"/>
          </a:xfrm>
          <a:prstGeom prst="rect">
            <a:avLst/>
          </a:prstGeom>
          <a:noFill/>
          <a:ln/>
        </p:spPr>
        <p:txBody>
          <a:bodyPr wrap="square" rtlCol="0" anchor="ctr"/>
          <a:lstStyle/>
          <a:p>
            <a:pPr indent="0" marL="0">
              <a:buNone/>
            </a:pPr>
            <a:r>
              <a:rPr lang="en-US" sz="900" i="1" dirty="0">
                <a:solidFill>
                  <a:srgbClr val="DEEAF1"/>
                </a:solidFill>
                <a:latin typeface="Times New Roman" pitchFamily="34" charset="0"/>
                <a:ea typeface="Times New Roman" pitchFamily="34" charset="-122"/>
                <a:cs typeface="Times New Roman" pitchFamily="34" charset="-120"/>
              </a:rPr>
              <a:t>Kiến trúc hệ thống</a:t>
            </a:r>
            <a:endParaRPr lang="en-US" sz="900" dirty="0"/>
          </a:p>
        </p:txBody>
      </p:sp>
      <p:sp>
        <p:nvSpPr>
          <p:cNvPr id="5" name="Text 3"/>
          <p:cNvSpPr/>
          <p:nvPr/>
        </p:nvSpPr>
        <p:spPr>
          <a:xfrm>
            <a:off x="365760" y="594360"/>
            <a:ext cx="8412480" cy="502920"/>
          </a:xfrm>
          <a:prstGeom prst="rect">
            <a:avLst/>
          </a:prstGeom>
          <a:noFill/>
          <a:ln/>
        </p:spPr>
        <p:txBody>
          <a:bodyPr wrap="square" rtlCol="0" anchor="ctr"/>
          <a:lstStyle/>
          <a:p>
            <a:pPr indent="0" marL="0">
              <a:buNone/>
            </a:pPr>
            <a:r>
              <a:rPr lang="en-US" sz="2000" b="1" dirty="0">
                <a:solidFill>
                  <a:srgbClr val="1F3864"/>
                </a:solidFill>
                <a:latin typeface="Times New Roman" pitchFamily="34" charset="0"/>
                <a:ea typeface="Times New Roman" pitchFamily="34" charset="-122"/>
                <a:cs typeface="Times New Roman" pitchFamily="34" charset="-120"/>
              </a:rPr>
              <a:t>Kiến trúc Tổng thể Hệ thống</a:t>
            </a:r>
            <a:endParaRPr lang="en-US" sz="2000" dirty="0"/>
          </a:p>
        </p:txBody>
      </p:sp>
      <p:sp>
        <p:nvSpPr>
          <p:cNvPr id="6" name="Shape 4"/>
          <p:cNvSpPr/>
          <p:nvPr/>
        </p:nvSpPr>
        <p:spPr>
          <a:xfrm>
            <a:off x="365760" y="1143000"/>
            <a:ext cx="8412480" cy="0"/>
          </a:xfrm>
          <a:prstGeom prst="line">
            <a:avLst/>
          </a:prstGeom>
          <a:noFill/>
          <a:ln w="25400">
            <a:solidFill>
              <a:srgbClr val="2E74B5"/>
            </a:solidFill>
            <a:prstDash val="solid"/>
          </a:ln>
        </p:spPr>
      </p:sp>
      <p:sp>
        <p:nvSpPr>
          <p:cNvPr id="7" name="Shape 5"/>
          <p:cNvSpPr/>
          <p:nvPr/>
        </p:nvSpPr>
        <p:spPr>
          <a:xfrm>
            <a:off x="274320" y="1325880"/>
            <a:ext cx="1737360" cy="1005840"/>
          </a:xfrm>
          <a:prstGeom prst="rect">
            <a:avLst/>
          </a:prstGeom>
          <a:solidFill>
            <a:srgbClr val="2E74B5"/>
          </a:solidFill>
          <a:ln/>
          <a:effectLst>
            <a:outerShdw sx="100000" sy="100000" kx="0" ky="0" algn="bl" rotWithShape="0" blurRad="50800" dist="25400" dir="2700000">
              <a:srgbClr val="000000">
                <a:alpha val="20000"/>
              </a:srgbClr>
            </a:outerShdw>
          </a:effectLst>
        </p:spPr>
      </p:sp>
      <p:sp>
        <p:nvSpPr>
          <p:cNvPr id="8" name="Text 6"/>
          <p:cNvSpPr/>
          <p:nvPr/>
        </p:nvSpPr>
        <p:spPr>
          <a:xfrm>
            <a:off x="320040" y="1380744"/>
            <a:ext cx="1645920" cy="658368"/>
          </a:xfrm>
          <a:prstGeom prst="rect">
            <a:avLst/>
          </a:prstGeom>
          <a:noFill/>
          <a:ln/>
        </p:spPr>
        <p:txBody>
          <a:bodyPr wrap="square" rtlCol="0" anchor="ctr"/>
          <a:lstStyle/>
          <a:p>
            <a:pPr algn="ctr" indent="0" marL="0">
              <a:buNone/>
            </a:pPr>
            <a:r>
              <a:rPr lang="en-US" sz="850" b="1" dirty="0">
                <a:solidFill>
                  <a:srgbClr val="FFFFFF"/>
                </a:solidFill>
                <a:latin typeface="Times New Roman" pitchFamily="34" charset="0"/>
                <a:ea typeface="Times New Roman" pitchFamily="34" charset="-122"/>
                <a:cs typeface="Times New Roman" pitchFamily="34" charset="-120"/>
              </a:rPr>
              <a:t>Frontend</a:t>
            </a:r>
            <a:endParaRPr lang="en-US" sz="850" dirty="0"/>
          </a:p>
          <a:p>
            <a:pPr algn="ctr" indent="0" marL="0">
              <a:buNone/>
            </a:pPr>
            <a:r>
              <a:rPr lang="en-US" sz="850" b="1" dirty="0">
                <a:solidFill>
                  <a:srgbClr val="FFFFFF"/>
                </a:solidFill>
                <a:latin typeface="Times New Roman" pitchFamily="34" charset="0"/>
                <a:ea typeface="Times New Roman" pitchFamily="34" charset="-122"/>
                <a:cs typeface="Times New Roman" pitchFamily="34" charset="-120"/>
              </a:rPr>
              <a:t>(React + Nginx)</a:t>
            </a:r>
            <a:endParaRPr lang="en-US" sz="850" dirty="0"/>
          </a:p>
        </p:txBody>
      </p:sp>
      <p:sp>
        <p:nvSpPr>
          <p:cNvPr id="9" name="Text 7"/>
          <p:cNvSpPr/>
          <p:nvPr/>
        </p:nvSpPr>
        <p:spPr>
          <a:xfrm>
            <a:off x="320040" y="2039112"/>
            <a:ext cx="1645920" cy="237744"/>
          </a:xfrm>
          <a:prstGeom prst="rect">
            <a:avLst/>
          </a:prstGeom>
          <a:noFill/>
          <a:ln/>
        </p:spPr>
        <p:txBody>
          <a:bodyPr wrap="square" rtlCol="0" anchor="ctr"/>
          <a:lstStyle/>
          <a:p>
            <a:pPr algn="ctr" indent="0" marL="0">
              <a:buNone/>
            </a:pPr>
            <a:r>
              <a:rPr lang="en-US" sz="750" i="1" dirty="0">
                <a:solidFill>
                  <a:srgbClr val="FFFFFF"/>
                </a:solidFill>
                <a:latin typeface="Courier New" pitchFamily="34" charset="0"/>
                <a:ea typeface="Courier New" pitchFamily="34" charset="-122"/>
                <a:cs typeface="Courier New" pitchFamily="34" charset="-120"/>
              </a:rPr>
              <a:t>:8080</a:t>
            </a:r>
            <a:endParaRPr lang="en-US" sz="750" dirty="0"/>
          </a:p>
        </p:txBody>
      </p:sp>
      <p:sp>
        <p:nvSpPr>
          <p:cNvPr id="10" name="Shape 8"/>
          <p:cNvSpPr/>
          <p:nvPr/>
        </p:nvSpPr>
        <p:spPr>
          <a:xfrm>
            <a:off x="2286000" y="1325880"/>
            <a:ext cx="1737360" cy="1005840"/>
          </a:xfrm>
          <a:prstGeom prst="rect">
            <a:avLst/>
          </a:prstGeom>
          <a:solidFill>
            <a:srgbClr val="1F3864"/>
          </a:solidFill>
          <a:ln/>
          <a:effectLst>
            <a:outerShdw sx="100000" sy="100000" kx="0" ky="0" algn="bl" rotWithShape="0" blurRad="50800" dist="25400" dir="2700000">
              <a:srgbClr val="000000">
                <a:alpha val="20000"/>
              </a:srgbClr>
            </a:outerShdw>
          </a:effectLst>
        </p:spPr>
      </p:sp>
      <p:sp>
        <p:nvSpPr>
          <p:cNvPr id="11" name="Text 9"/>
          <p:cNvSpPr/>
          <p:nvPr/>
        </p:nvSpPr>
        <p:spPr>
          <a:xfrm>
            <a:off x="2331720" y="1380744"/>
            <a:ext cx="1645920" cy="658368"/>
          </a:xfrm>
          <a:prstGeom prst="rect">
            <a:avLst/>
          </a:prstGeom>
          <a:noFill/>
          <a:ln/>
        </p:spPr>
        <p:txBody>
          <a:bodyPr wrap="square" rtlCol="0" anchor="ctr"/>
          <a:lstStyle/>
          <a:p>
            <a:pPr algn="ctr" indent="0" marL="0">
              <a:buNone/>
            </a:pPr>
            <a:r>
              <a:rPr lang="en-US" sz="850" b="1" dirty="0">
                <a:solidFill>
                  <a:srgbClr val="FFFFFF"/>
                </a:solidFill>
                <a:latin typeface="Times New Roman" pitchFamily="34" charset="0"/>
                <a:ea typeface="Times New Roman" pitchFamily="34" charset="-122"/>
                <a:cs typeface="Times New Roman" pitchFamily="34" charset="-120"/>
              </a:rPr>
              <a:t>Backend</a:t>
            </a:r>
            <a:endParaRPr lang="en-US" sz="850" dirty="0"/>
          </a:p>
          <a:p>
            <a:pPr algn="ctr" indent="0" marL="0">
              <a:buNone/>
            </a:pPr>
            <a:r>
              <a:rPr lang="en-US" sz="850" b="1" dirty="0">
                <a:solidFill>
                  <a:srgbClr val="FFFFFF"/>
                </a:solidFill>
                <a:latin typeface="Times New Roman" pitchFamily="34" charset="0"/>
                <a:ea typeface="Times New Roman" pitchFamily="34" charset="-122"/>
                <a:cs typeface="Times New Roman" pitchFamily="34" charset="-120"/>
              </a:rPr>
              <a:t>(NestJS)</a:t>
            </a:r>
            <a:endParaRPr lang="en-US" sz="850" dirty="0"/>
          </a:p>
        </p:txBody>
      </p:sp>
      <p:sp>
        <p:nvSpPr>
          <p:cNvPr id="12" name="Text 10"/>
          <p:cNvSpPr/>
          <p:nvPr/>
        </p:nvSpPr>
        <p:spPr>
          <a:xfrm>
            <a:off x="2331720" y="2039112"/>
            <a:ext cx="1645920" cy="237744"/>
          </a:xfrm>
          <a:prstGeom prst="rect">
            <a:avLst/>
          </a:prstGeom>
          <a:noFill/>
          <a:ln/>
        </p:spPr>
        <p:txBody>
          <a:bodyPr wrap="square" rtlCol="0" anchor="ctr"/>
          <a:lstStyle/>
          <a:p>
            <a:pPr algn="ctr" indent="0" marL="0">
              <a:buNone/>
            </a:pPr>
            <a:r>
              <a:rPr lang="en-US" sz="750" i="1" dirty="0">
                <a:solidFill>
                  <a:srgbClr val="FFFFFF"/>
                </a:solidFill>
                <a:latin typeface="Courier New" pitchFamily="34" charset="0"/>
                <a:ea typeface="Courier New" pitchFamily="34" charset="-122"/>
                <a:cs typeface="Courier New" pitchFamily="34" charset="-120"/>
              </a:rPr>
              <a:t>:3000</a:t>
            </a:r>
            <a:endParaRPr lang="en-US" sz="750" dirty="0"/>
          </a:p>
        </p:txBody>
      </p:sp>
      <p:sp>
        <p:nvSpPr>
          <p:cNvPr id="13" name="Shape 11"/>
          <p:cNvSpPr/>
          <p:nvPr/>
        </p:nvSpPr>
        <p:spPr>
          <a:xfrm>
            <a:off x="4297680" y="1325880"/>
            <a:ext cx="1737360" cy="1005840"/>
          </a:xfrm>
          <a:prstGeom prst="rect">
            <a:avLst/>
          </a:prstGeom>
          <a:solidFill>
            <a:srgbClr val="375623"/>
          </a:solidFill>
          <a:ln/>
          <a:effectLst>
            <a:outerShdw sx="100000" sy="100000" kx="0" ky="0" algn="bl" rotWithShape="0" blurRad="50800" dist="25400" dir="2700000">
              <a:srgbClr val="000000">
                <a:alpha val="20000"/>
              </a:srgbClr>
            </a:outerShdw>
          </a:effectLst>
        </p:spPr>
      </p:sp>
      <p:sp>
        <p:nvSpPr>
          <p:cNvPr id="14" name="Text 12"/>
          <p:cNvSpPr/>
          <p:nvPr/>
        </p:nvSpPr>
        <p:spPr>
          <a:xfrm>
            <a:off x="4343400" y="1380744"/>
            <a:ext cx="1645920" cy="658368"/>
          </a:xfrm>
          <a:prstGeom prst="rect">
            <a:avLst/>
          </a:prstGeom>
          <a:noFill/>
          <a:ln/>
        </p:spPr>
        <p:txBody>
          <a:bodyPr wrap="square" rtlCol="0" anchor="ctr"/>
          <a:lstStyle/>
          <a:p>
            <a:pPr algn="ctr" indent="0" marL="0">
              <a:buNone/>
            </a:pPr>
            <a:r>
              <a:rPr lang="en-US" sz="850" b="1" dirty="0">
                <a:solidFill>
                  <a:srgbClr val="FFFFFF"/>
                </a:solidFill>
                <a:latin typeface="Times New Roman" pitchFamily="34" charset="0"/>
                <a:ea typeface="Times New Roman" pitchFamily="34" charset="-122"/>
                <a:cs typeface="Times New Roman" pitchFamily="34" charset="-120"/>
              </a:rPr>
              <a:t>PostgreSQL 16</a:t>
            </a:r>
            <a:endParaRPr lang="en-US" sz="850" dirty="0"/>
          </a:p>
        </p:txBody>
      </p:sp>
      <p:sp>
        <p:nvSpPr>
          <p:cNvPr id="15" name="Text 13"/>
          <p:cNvSpPr/>
          <p:nvPr/>
        </p:nvSpPr>
        <p:spPr>
          <a:xfrm>
            <a:off x="4343400" y="2039112"/>
            <a:ext cx="1645920" cy="237744"/>
          </a:xfrm>
          <a:prstGeom prst="rect">
            <a:avLst/>
          </a:prstGeom>
          <a:noFill/>
          <a:ln/>
        </p:spPr>
        <p:txBody>
          <a:bodyPr wrap="square" rtlCol="0" anchor="ctr"/>
          <a:lstStyle/>
          <a:p>
            <a:pPr algn="ctr" indent="0" marL="0">
              <a:buNone/>
            </a:pPr>
            <a:r>
              <a:rPr lang="en-US" sz="750" i="1" dirty="0">
                <a:solidFill>
                  <a:srgbClr val="FFFFFF"/>
                </a:solidFill>
                <a:latin typeface="Courier New" pitchFamily="34" charset="0"/>
                <a:ea typeface="Courier New" pitchFamily="34" charset="-122"/>
                <a:cs typeface="Courier New" pitchFamily="34" charset="-120"/>
              </a:rPr>
              <a:t>:5432</a:t>
            </a:r>
            <a:endParaRPr lang="en-US" sz="750" dirty="0"/>
          </a:p>
        </p:txBody>
      </p:sp>
      <p:sp>
        <p:nvSpPr>
          <p:cNvPr id="16" name="Shape 14"/>
          <p:cNvSpPr/>
          <p:nvPr/>
        </p:nvSpPr>
        <p:spPr>
          <a:xfrm>
            <a:off x="6309360" y="1325880"/>
            <a:ext cx="1737360" cy="1005840"/>
          </a:xfrm>
          <a:prstGeom prst="rect">
            <a:avLst/>
          </a:prstGeom>
          <a:solidFill>
            <a:srgbClr val="2E74B5"/>
          </a:solidFill>
          <a:ln/>
          <a:effectLst>
            <a:outerShdw sx="100000" sy="100000" kx="0" ky="0" algn="bl" rotWithShape="0" blurRad="50800" dist="25400" dir="2700000">
              <a:srgbClr val="000000">
                <a:alpha val="20000"/>
              </a:srgbClr>
            </a:outerShdw>
          </a:effectLst>
        </p:spPr>
      </p:sp>
      <p:sp>
        <p:nvSpPr>
          <p:cNvPr id="17" name="Text 15"/>
          <p:cNvSpPr/>
          <p:nvPr/>
        </p:nvSpPr>
        <p:spPr>
          <a:xfrm>
            <a:off x="6355080" y="1380744"/>
            <a:ext cx="1645920" cy="658368"/>
          </a:xfrm>
          <a:prstGeom prst="rect">
            <a:avLst/>
          </a:prstGeom>
          <a:noFill/>
          <a:ln/>
        </p:spPr>
        <p:txBody>
          <a:bodyPr wrap="square" rtlCol="0" anchor="ctr"/>
          <a:lstStyle/>
          <a:p>
            <a:pPr algn="ctr" indent="0" marL="0">
              <a:buNone/>
            </a:pPr>
            <a:r>
              <a:rPr lang="en-US" sz="850" b="1" dirty="0">
                <a:solidFill>
                  <a:srgbClr val="FFFFFF"/>
                </a:solidFill>
                <a:latin typeface="Times New Roman" pitchFamily="34" charset="0"/>
                <a:ea typeface="Times New Roman" pitchFamily="34" charset="-122"/>
                <a:cs typeface="Times New Roman" pitchFamily="34" charset="-120"/>
              </a:rPr>
              <a:t>OMR Service</a:t>
            </a:r>
            <a:endParaRPr lang="en-US" sz="850" dirty="0"/>
          </a:p>
          <a:p>
            <a:pPr algn="ctr" indent="0" marL="0">
              <a:buNone/>
            </a:pPr>
            <a:r>
              <a:rPr lang="en-US" sz="850" b="1" dirty="0">
                <a:solidFill>
                  <a:srgbClr val="FFFFFF"/>
                </a:solidFill>
                <a:latin typeface="Times New Roman" pitchFamily="34" charset="0"/>
                <a:ea typeface="Times New Roman" pitchFamily="34" charset="-122"/>
                <a:cs typeface="Times New Roman" pitchFamily="34" charset="-120"/>
              </a:rPr>
              <a:t>(Python/ONNX)</a:t>
            </a:r>
            <a:endParaRPr lang="en-US" sz="850" dirty="0"/>
          </a:p>
        </p:txBody>
      </p:sp>
      <p:sp>
        <p:nvSpPr>
          <p:cNvPr id="18" name="Text 16"/>
          <p:cNvSpPr/>
          <p:nvPr/>
        </p:nvSpPr>
        <p:spPr>
          <a:xfrm>
            <a:off x="6355080" y="2039112"/>
            <a:ext cx="1645920" cy="237744"/>
          </a:xfrm>
          <a:prstGeom prst="rect">
            <a:avLst/>
          </a:prstGeom>
          <a:noFill/>
          <a:ln/>
        </p:spPr>
        <p:txBody>
          <a:bodyPr wrap="square" rtlCol="0" anchor="ctr"/>
          <a:lstStyle/>
          <a:p>
            <a:pPr algn="ctr" indent="0" marL="0">
              <a:buNone/>
            </a:pPr>
            <a:r>
              <a:rPr lang="en-US" sz="750" i="1" dirty="0">
                <a:solidFill>
                  <a:srgbClr val="FFFFFF"/>
                </a:solidFill>
                <a:latin typeface="Courier New" pitchFamily="34" charset="0"/>
                <a:ea typeface="Courier New" pitchFamily="34" charset="-122"/>
                <a:cs typeface="Courier New" pitchFamily="34" charset="-120"/>
              </a:rPr>
              <a:t>:8000</a:t>
            </a:r>
            <a:endParaRPr lang="en-US" sz="750" dirty="0"/>
          </a:p>
        </p:txBody>
      </p:sp>
      <p:sp>
        <p:nvSpPr>
          <p:cNvPr id="19" name="Shape 17"/>
          <p:cNvSpPr/>
          <p:nvPr/>
        </p:nvSpPr>
        <p:spPr>
          <a:xfrm>
            <a:off x="274320" y="2697480"/>
            <a:ext cx="1737360" cy="1005840"/>
          </a:xfrm>
          <a:prstGeom prst="rect">
            <a:avLst/>
          </a:prstGeom>
          <a:solidFill>
            <a:srgbClr val="C00000"/>
          </a:solidFill>
          <a:ln/>
          <a:effectLst>
            <a:outerShdw sx="100000" sy="100000" kx="0" ky="0" algn="bl" rotWithShape="0" blurRad="50800" dist="25400" dir="2700000">
              <a:srgbClr val="000000">
                <a:alpha val="20000"/>
              </a:srgbClr>
            </a:outerShdw>
          </a:effectLst>
        </p:spPr>
      </p:sp>
      <p:sp>
        <p:nvSpPr>
          <p:cNvPr id="20" name="Text 18"/>
          <p:cNvSpPr/>
          <p:nvPr/>
        </p:nvSpPr>
        <p:spPr>
          <a:xfrm>
            <a:off x="320040" y="2752344"/>
            <a:ext cx="1645920" cy="658368"/>
          </a:xfrm>
          <a:prstGeom prst="rect">
            <a:avLst/>
          </a:prstGeom>
          <a:noFill/>
          <a:ln/>
        </p:spPr>
        <p:txBody>
          <a:bodyPr wrap="square" rtlCol="0" anchor="ctr"/>
          <a:lstStyle/>
          <a:p>
            <a:pPr algn="ctr" indent="0" marL="0">
              <a:buNone/>
            </a:pPr>
            <a:r>
              <a:rPr lang="en-US" sz="850" b="1" dirty="0">
                <a:solidFill>
                  <a:srgbClr val="FFFFFF"/>
                </a:solidFill>
                <a:latin typeface="Times New Roman" pitchFamily="34" charset="0"/>
                <a:ea typeface="Times New Roman" pitchFamily="34" charset="-122"/>
                <a:cs typeface="Times New Roman" pitchFamily="34" charset="-120"/>
              </a:rPr>
              <a:t>Order Scanner</a:t>
            </a:r>
            <a:endParaRPr lang="en-US" sz="850" dirty="0"/>
          </a:p>
          <a:p>
            <a:pPr algn="ctr" indent="0" marL="0">
              <a:buNone/>
            </a:pPr>
            <a:r>
              <a:rPr lang="en-US" sz="850" b="1" dirty="0">
                <a:solidFill>
                  <a:srgbClr val="FFFFFF"/>
                </a:solidFill>
                <a:latin typeface="Times New Roman" pitchFamily="34" charset="0"/>
                <a:ea typeface="Times New Roman" pitchFamily="34" charset="-122"/>
                <a:cs typeface="Times New Roman" pitchFamily="34" charset="-120"/>
              </a:rPr>
              <a:t>(PaddleOCR)</a:t>
            </a:r>
            <a:endParaRPr lang="en-US" sz="850" dirty="0"/>
          </a:p>
        </p:txBody>
      </p:sp>
      <p:sp>
        <p:nvSpPr>
          <p:cNvPr id="21" name="Text 19"/>
          <p:cNvSpPr/>
          <p:nvPr/>
        </p:nvSpPr>
        <p:spPr>
          <a:xfrm>
            <a:off x="320040" y="3410712"/>
            <a:ext cx="1645920" cy="237744"/>
          </a:xfrm>
          <a:prstGeom prst="rect">
            <a:avLst/>
          </a:prstGeom>
          <a:noFill/>
          <a:ln/>
        </p:spPr>
        <p:txBody>
          <a:bodyPr wrap="square" rtlCol="0" anchor="ctr"/>
          <a:lstStyle/>
          <a:p>
            <a:pPr algn="ctr" indent="0" marL="0">
              <a:buNone/>
            </a:pPr>
            <a:r>
              <a:rPr lang="en-US" sz="750" i="1" dirty="0">
                <a:solidFill>
                  <a:srgbClr val="FFFFFF"/>
                </a:solidFill>
                <a:latin typeface="Courier New" pitchFamily="34" charset="0"/>
                <a:ea typeface="Courier New" pitchFamily="34" charset="-122"/>
                <a:cs typeface="Courier New" pitchFamily="34" charset="-120"/>
              </a:rPr>
              <a:t>Systemd</a:t>
            </a:r>
            <a:endParaRPr lang="en-US" sz="750" dirty="0"/>
          </a:p>
        </p:txBody>
      </p:sp>
      <p:sp>
        <p:nvSpPr>
          <p:cNvPr id="22" name="Shape 20"/>
          <p:cNvSpPr/>
          <p:nvPr/>
        </p:nvSpPr>
        <p:spPr>
          <a:xfrm>
            <a:off x="2286000" y="2697480"/>
            <a:ext cx="1737360" cy="1005840"/>
          </a:xfrm>
          <a:prstGeom prst="rect">
            <a:avLst/>
          </a:prstGeom>
          <a:solidFill>
            <a:srgbClr val="595959"/>
          </a:solidFill>
          <a:ln/>
          <a:effectLst>
            <a:outerShdw sx="100000" sy="100000" kx="0" ky="0" algn="bl" rotWithShape="0" blurRad="50800" dist="25400" dir="2700000">
              <a:srgbClr val="000000">
                <a:alpha val="20000"/>
              </a:srgbClr>
            </a:outerShdw>
          </a:effectLst>
        </p:spPr>
      </p:sp>
      <p:sp>
        <p:nvSpPr>
          <p:cNvPr id="23" name="Text 21"/>
          <p:cNvSpPr/>
          <p:nvPr/>
        </p:nvSpPr>
        <p:spPr>
          <a:xfrm>
            <a:off x="2331720" y="2752344"/>
            <a:ext cx="1645920" cy="658368"/>
          </a:xfrm>
          <a:prstGeom prst="rect">
            <a:avLst/>
          </a:prstGeom>
          <a:noFill/>
          <a:ln/>
        </p:spPr>
        <p:txBody>
          <a:bodyPr wrap="square" rtlCol="0" anchor="ctr"/>
          <a:lstStyle/>
          <a:p>
            <a:pPr algn="ctr" indent="0" marL="0">
              <a:buNone/>
            </a:pPr>
            <a:r>
              <a:rPr lang="en-US" sz="850" b="1" dirty="0">
                <a:solidFill>
                  <a:srgbClr val="FFFFFF"/>
                </a:solidFill>
                <a:latin typeface="Times New Roman" pitchFamily="34" charset="0"/>
                <a:ea typeface="Times New Roman" pitchFamily="34" charset="-122"/>
                <a:cs typeface="Times New Roman" pitchFamily="34" charset="-120"/>
              </a:rPr>
              <a:t>Scan Agent</a:t>
            </a:r>
            <a:endParaRPr lang="en-US" sz="850" dirty="0"/>
          </a:p>
          <a:p>
            <a:pPr algn="ctr" indent="0" marL="0">
              <a:buNone/>
            </a:pPr>
            <a:r>
              <a:rPr lang="en-US" sz="850" b="1" dirty="0">
                <a:solidFill>
                  <a:srgbClr val="FFFFFF"/>
                </a:solidFill>
                <a:latin typeface="Times New Roman" pitchFamily="34" charset="0"/>
                <a:ea typeface="Times New Roman" pitchFamily="34" charset="-122"/>
                <a:cs typeface="Times New Roman" pitchFamily="34" charset="-120"/>
              </a:rPr>
              <a:t>(File bridge)</a:t>
            </a:r>
            <a:endParaRPr lang="en-US" sz="850" dirty="0"/>
          </a:p>
        </p:txBody>
      </p:sp>
      <p:sp>
        <p:nvSpPr>
          <p:cNvPr id="24" name="Text 22"/>
          <p:cNvSpPr/>
          <p:nvPr/>
        </p:nvSpPr>
        <p:spPr>
          <a:xfrm>
            <a:off x="2331720" y="3410712"/>
            <a:ext cx="1645920" cy="237744"/>
          </a:xfrm>
          <a:prstGeom prst="rect">
            <a:avLst/>
          </a:prstGeom>
          <a:noFill/>
          <a:ln/>
        </p:spPr>
        <p:txBody>
          <a:bodyPr wrap="square" rtlCol="0" anchor="ctr"/>
          <a:lstStyle/>
          <a:p>
            <a:pPr algn="ctr" indent="0" marL="0">
              <a:buNone/>
            </a:pPr>
            <a:r>
              <a:rPr lang="en-US" sz="750" i="1" dirty="0">
                <a:solidFill>
                  <a:srgbClr val="FFFFFF"/>
                </a:solidFill>
                <a:latin typeface="Courier New" pitchFamily="34" charset="0"/>
                <a:ea typeface="Courier New" pitchFamily="34" charset="-122"/>
                <a:cs typeface="Courier New" pitchFamily="34" charset="-120"/>
              </a:rPr>
              <a:t>Docker</a:t>
            </a:r>
            <a:endParaRPr lang="en-US" sz="750" dirty="0"/>
          </a:p>
        </p:txBody>
      </p:sp>
      <p:sp>
        <p:nvSpPr>
          <p:cNvPr id="25" name="Shape 23"/>
          <p:cNvSpPr/>
          <p:nvPr/>
        </p:nvSpPr>
        <p:spPr>
          <a:xfrm>
            <a:off x="4297680" y="2697480"/>
            <a:ext cx="1737360" cy="1005840"/>
          </a:xfrm>
          <a:prstGeom prst="rect">
            <a:avLst/>
          </a:prstGeom>
          <a:solidFill>
            <a:srgbClr val="1F3864"/>
          </a:solidFill>
          <a:ln/>
          <a:effectLst>
            <a:outerShdw sx="100000" sy="100000" kx="0" ky="0" algn="bl" rotWithShape="0" blurRad="50800" dist="25400" dir="2700000">
              <a:srgbClr val="000000">
                <a:alpha val="20000"/>
              </a:srgbClr>
            </a:outerShdw>
          </a:effectLst>
        </p:spPr>
      </p:sp>
      <p:sp>
        <p:nvSpPr>
          <p:cNvPr id="26" name="Text 24"/>
          <p:cNvSpPr/>
          <p:nvPr/>
        </p:nvSpPr>
        <p:spPr>
          <a:xfrm>
            <a:off x="4343400" y="2752344"/>
            <a:ext cx="1645920" cy="658368"/>
          </a:xfrm>
          <a:prstGeom prst="rect">
            <a:avLst/>
          </a:prstGeom>
          <a:noFill/>
          <a:ln/>
        </p:spPr>
        <p:txBody>
          <a:bodyPr wrap="square" rtlCol="0" anchor="ctr"/>
          <a:lstStyle/>
          <a:p>
            <a:pPr algn="ctr" indent="0" marL="0">
              <a:buNone/>
            </a:pPr>
            <a:r>
              <a:rPr lang="en-US" sz="850" b="1" dirty="0">
                <a:solidFill>
                  <a:srgbClr val="FFFFFF"/>
                </a:solidFill>
                <a:latin typeface="Times New Roman" pitchFamily="34" charset="0"/>
                <a:ea typeface="Times New Roman" pitchFamily="34" charset="-122"/>
                <a:cs typeface="Times New Roman" pitchFamily="34" charset="-120"/>
              </a:rPr>
              <a:t>Electron App</a:t>
            </a:r>
            <a:endParaRPr lang="en-US" sz="850" dirty="0"/>
          </a:p>
          <a:p>
            <a:pPr algn="ctr" indent="0" marL="0">
              <a:buNone/>
            </a:pPr>
            <a:r>
              <a:rPr lang="en-US" sz="850" b="1" dirty="0">
                <a:solidFill>
                  <a:srgbClr val="FFFFFF"/>
                </a:solidFill>
                <a:latin typeface="Times New Roman" pitchFamily="34" charset="0"/>
                <a:ea typeface="Times New Roman" pitchFamily="34" charset="-122"/>
                <a:cs typeface="Times New Roman" pitchFamily="34" charset="-120"/>
              </a:rPr>
              <a:t>(Windows)</a:t>
            </a:r>
            <a:endParaRPr lang="en-US" sz="850" dirty="0"/>
          </a:p>
        </p:txBody>
      </p:sp>
      <p:sp>
        <p:nvSpPr>
          <p:cNvPr id="27" name="Text 25"/>
          <p:cNvSpPr/>
          <p:nvPr/>
        </p:nvSpPr>
        <p:spPr>
          <a:xfrm>
            <a:off x="4343400" y="3410712"/>
            <a:ext cx="1645920" cy="237744"/>
          </a:xfrm>
          <a:prstGeom prst="rect">
            <a:avLst/>
          </a:prstGeom>
          <a:noFill/>
          <a:ln/>
        </p:spPr>
        <p:txBody>
          <a:bodyPr wrap="square" rtlCol="0" anchor="ctr"/>
          <a:lstStyle/>
          <a:p>
            <a:pPr algn="ctr" indent="0" marL="0">
              <a:buNone/>
            </a:pPr>
            <a:r>
              <a:rPr lang="en-US" sz="750" i="1" dirty="0">
                <a:solidFill>
                  <a:srgbClr val="FFFFFF"/>
                </a:solidFill>
                <a:latin typeface="Courier New" pitchFamily="34" charset="0"/>
                <a:ea typeface="Courier New" pitchFamily="34" charset="-122"/>
                <a:cs typeface="Courier New" pitchFamily="34" charset="-120"/>
              </a:rPr>
              <a:t>Desktop</a:t>
            </a:r>
            <a:endParaRPr lang="en-US" sz="750" dirty="0"/>
          </a:p>
        </p:txBody>
      </p:sp>
      <p:sp>
        <p:nvSpPr>
          <p:cNvPr id="28" name="Shape 26"/>
          <p:cNvSpPr/>
          <p:nvPr/>
        </p:nvSpPr>
        <p:spPr>
          <a:xfrm>
            <a:off x="6309360" y="2697480"/>
            <a:ext cx="1737360" cy="1005840"/>
          </a:xfrm>
          <a:prstGeom prst="rect">
            <a:avLst/>
          </a:prstGeom>
          <a:solidFill>
            <a:srgbClr val="595959"/>
          </a:solidFill>
          <a:ln/>
          <a:effectLst>
            <a:outerShdw sx="100000" sy="100000" kx="0" ky="0" algn="bl" rotWithShape="0" blurRad="50800" dist="25400" dir="2700000">
              <a:srgbClr val="000000">
                <a:alpha val="20000"/>
              </a:srgbClr>
            </a:outerShdw>
          </a:effectLst>
        </p:spPr>
      </p:sp>
      <p:sp>
        <p:nvSpPr>
          <p:cNvPr id="29" name="Text 27"/>
          <p:cNvSpPr/>
          <p:nvPr/>
        </p:nvSpPr>
        <p:spPr>
          <a:xfrm>
            <a:off x="6355080" y="2752344"/>
            <a:ext cx="1645920" cy="658368"/>
          </a:xfrm>
          <a:prstGeom prst="rect">
            <a:avLst/>
          </a:prstGeom>
          <a:noFill/>
          <a:ln/>
        </p:spPr>
        <p:txBody>
          <a:bodyPr wrap="square" rtlCol="0" anchor="ctr"/>
          <a:lstStyle/>
          <a:p>
            <a:pPr algn="ctr" indent="0" marL="0">
              <a:buNone/>
            </a:pPr>
            <a:r>
              <a:rPr lang="en-US" sz="850" b="1" dirty="0">
                <a:solidFill>
                  <a:srgbClr val="FFFFFF"/>
                </a:solidFill>
                <a:latin typeface="Times New Roman" pitchFamily="34" charset="0"/>
                <a:ea typeface="Times New Roman" pitchFamily="34" charset="-122"/>
                <a:cs typeface="Times New Roman" pitchFamily="34" charset="-120"/>
              </a:rPr>
              <a:t>Samba Share</a:t>
            </a:r>
            <a:endParaRPr lang="en-US" sz="850" dirty="0"/>
          </a:p>
          <a:p>
            <a:pPr algn="ctr" indent="0" marL="0">
              <a:buNone/>
            </a:pPr>
            <a:r>
              <a:rPr lang="en-US" sz="850" b="1" dirty="0">
                <a:solidFill>
                  <a:srgbClr val="FFFFFF"/>
                </a:solidFill>
                <a:latin typeface="Times New Roman" pitchFamily="34" charset="0"/>
                <a:ea typeface="Times New Roman" pitchFamily="34" charset="-122"/>
                <a:cs typeface="Times New Roman" pitchFamily="34" charset="-120"/>
              </a:rPr>
              <a:t>(Scanner HW)</a:t>
            </a:r>
            <a:endParaRPr lang="en-US" sz="850" dirty="0"/>
          </a:p>
        </p:txBody>
      </p:sp>
      <p:sp>
        <p:nvSpPr>
          <p:cNvPr id="30" name="Text 28"/>
          <p:cNvSpPr/>
          <p:nvPr/>
        </p:nvSpPr>
        <p:spPr>
          <a:xfrm>
            <a:off x="6355080" y="3410712"/>
            <a:ext cx="1645920" cy="237744"/>
          </a:xfrm>
          <a:prstGeom prst="rect">
            <a:avLst/>
          </a:prstGeom>
          <a:noFill/>
          <a:ln/>
        </p:spPr>
        <p:txBody>
          <a:bodyPr wrap="square" rtlCol="0" anchor="ctr"/>
          <a:lstStyle/>
          <a:p>
            <a:pPr algn="ctr" indent="0" marL="0">
              <a:buNone/>
            </a:pPr>
            <a:r>
              <a:rPr lang="en-US" sz="750" i="1" dirty="0">
                <a:solidFill>
                  <a:srgbClr val="FFFFFF"/>
                </a:solidFill>
                <a:latin typeface="Courier New" pitchFamily="34" charset="0"/>
                <a:ea typeface="Courier New" pitchFamily="34" charset="-122"/>
                <a:cs typeface="Courier New" pitchFamily="34" charset="-120"/>
              </a:rPr>
              <a:t>:445</a:t>
            </a:r>
            <a:endParaRPr lang="en-US" sz="750" dirty="0"/>
          </a:p>
        </p:txBody>
      </p:sp>
      <p:sp>
        <p:nvSpPr>
          <p:cNvPr id="31" name="Shape 29"/>
          <p:cNvSpPr/>
          <p:nvPr/>
        </p:nvSpPr>
        <p:spPr>
          <a:xfrm>
            <a:off x="2011680" y="1828800"/>
            <a:ext cx="274320" cy="0"/>
          </a:xfrm>
          <a:prstGeom prst="line">
            <a:avLst/>
          </a:prstGeom>
          <a:noFill/>
          <a:ln w="19050">
            <a:solidFill>
              <a:srgbClr val="2E74B5"/>
            </a:solidFill>
            <a:prstDash val="solid"/>
            <a:tailEnd type="arrow"/>
          </a:ln>
        </p:spPr>
      </p:sp>
      <p:sp>
        <p:nvSpPr>
          <p:cNvPr id="32" name="Shape 30"/>
          <p:cNvSpPr/>
          <p:nvPr/>
        </p:nvSpPr>
        <p:spPr>
          <a:xfrm>
            <a:off x="4023360" y="1828800"/>
            <a:ext cx="274320" cy="0"/>
          </a:xfrm>
          <a:prstGeom prst="line">
            <a:avLst/>
          </a:prstGeom>
          <a:noFill/>
          <a:ln w="19050">
            <a:solidFill>
              <a:srgbClr val="2E74B5"/>
            </a:solidFill>
            <a:prstDash val="solid"/>
            <a:tailEnd type="arrow"/>
          </a:ln>
        </p:spPr>
      </p:sp>
      <p:sp>
        <p:nvSpPr>
          <p:cNvPr id="33" name="Shape 31"/>
          <p:cNvSpPr/>
          <p:nvPr/>
        </p:nvSpPr>
        <p:spPr>
          <a:xfrm>
            <a:off x="6035040" y="1828800"/>
            <a:ext cx="274320" cy="0"/>
          </a:xfrm>
          <a:prstGeom prst="line">
            <a:avLst/>
          </a:prstGeom>
          <a:noFill/>
          <a:ln w="19050">
            <a:solidFill>
              <a:srgbClr val="2E74B5"/>
            </a:solidFill>
            <a:prstDash val="solid"/>
            <a:tailEnd type="arrow"/>
          </a:ln>
        </p:spPr>
      </p:sp>
      <p:sp>
        <p:nvSpPr>
          <p:cNvPr id="34" name="Text 32"/>
          <p:cNvSpPr/>
          <p:nvPr/>
        </p:nvSpPr>
        <p:spPr>
          <a:xfrm>
            <a:off x="274320" y="4663440"/>
            <a:ext cx="8595360" cy="274320"/>
          </a:xfrm>
          <a:prstGeom prst="rect">
            <a:avLst/>
          </a:prstGeom>
          <a:noFill/>
          <a:ln/>
        </p:spPr>
        <p:txBody>
          <a:bodyPr wrap="square" rtlCol="0" anchor="ctr"/>
          <a:lstStyle/>
          <a:p>
            <a:pPr algn="ctr" indent="0" marL="0">
              <a:buNone/>
            </a:pPr>
            <a:r>
              <a:rPr lang="en-US" sz="900" i="1" dirty="0">
                <a:solidFill>
                  <a:srgbClr val="C00000"/>
                </a:solidFill>
                <a:latin typeface="Times New Roman" pitchFamily="34" charset="0"/>
                <a:ea typeface="Times New Roman" pitchFamily="34" charset="-122"/>
                <a:cs typeface="Times New Roman" pitchFamily="34" charset="-120"/>
              </a:rPr>
              <a:t>⚡ Triển khai hoàn toàn cách ly mạng (air-gapped) — không kết nối Internet</a:t>
            </a:r>
            <a:endParaRPr lang="en-US" sz="900" dirty="0"/>
          </a:p>
        </p:txBody>
      </p:sp>
      <p:sp>
        <p:nvSpPr>
          <p:cNvPr id="35" name="Shape 33"/>
          <p:cNvSpPr/>
          <p:nvPr/>
        </p:nvSpPr>
        <p:spPr>
          <a:xfrm>
            <a:off x="0" y="4828032"/>
            <a:ext cx="9144000" cy="320040"/>
          </a:xfrm>
          <a:prstGeom prst="rect">
            <a:avLst/>
          </a:prstGeom>
          <a:solidFill>
            <a:srgbClr val="1F3864"/>
          </a:solidFill>
          <a:ln/>
        </p:spPr>
      </p:sp>
      <p:sp>
        <p:nvSpPr>
          <p:cNvPr id="36" name="Text 34"/>
          <p:cNvSpPr/>
          <p:nvPr/>
        </p:nvSpPr>
        <p:spPr>
          <a:xfrm>
            <a:off x="182880" y="4873752"/>
            <a:ext cx="8778240" cy="237744"/>
          </a:xfrm>
          <a:prstGeom prst="rect">
            <a:avLst/>
          </a:prstGeom>
          <a:noFill/>
          <a:ln/>
        </p:spPr>
        <p:txBody>
          <a:bodyPr wrap="square" rtlCol="0" anchor="ctr"/>
          <a:lstStyle/>
          <a:p>
            <a:pPr algn="ctr" indent="0" marL="0">
              <a:buNone/>
            </a:pPr>
            <a:r>
              <a:rPr lang="en-US" sz="700" dirty="0">
                <a:solidFill>
                  <a:srgbClr val="DEEAF1"/>
                </a:solidFill>
                <a:latin typeface="Times New Roman" pitchFamily="34" charset="0"/>
                <a:ea typeface="Times New Roman" pitchFamily="34" charset="-122"/>
                <a:cs typeface="Times New Roman" pitchFamily="34" charset="-120"/>
              </a:rPr>
              <a:t>Hệ thống Quản lý Căn-teen Trại Giam   |   Kiến trúc hệ thống</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2E74B5"/>
          </a:solidFill>
          <a:ln/>
        </p:spPr>
      </p:sp>
      <p:sp>
        <p:nvSpPr>
          <p:cNvPr id="3" name="Text 1"/>
          <p:cNvSpPr/>
          <p:nvPr/>
        </p:nvSpPr>
        <p:spPr>
          <a:xfrm>
            <a:off x="457200" y="548640"/>
            <a:ext cx="1828800" cy="1828800"/>
          </a:xfrm>
          <a:prstGeom prst="rect">
            <a:avLst/>
          </a:prstGeom>
          <a:noFill/>
          <a:ln/>
        </p:spPr>
        <p:txBody>
          <a:bodyPr wrap="square" rtlCol="0" anchor="ctr"/>
          <a:lstStyle/>
          <a:p>
            <a:pPr indent="0" marL="0">
              <a:buNone/>
            </a:pPr>
            <a:r>
              <a:rPr lang="en-US" sz="9000" b="1" dirty="0">
                <a:solidFill>
                  <a:srgbClr val="FFFFFF">
                    <a:alpha val="30000"/>
                  </a:srgbClr>
                </a:solidFill>
                <a:latin typeface="Times New Roman" pitchFamily="34" charset="0"/>
                <a:ea typeface="Times New Roman" pitchFamily="34" charset="-122"/>
                <a:cs typeface="Times New Roman" pitchFamily="34" charset="-120"/>
              </a:rPr>
              <a:t>01</a:t>
            </a:r>
            <a:endParaRPr lang="en-US" sz="9000" dirty="0"/>
          </a:p>
        </p:txBody>
      </p:sp>
      <p:sp>
        <p:nvSpPr>
          <p:cNvPr id="4" name="Shape 2"/>
          <p:cNvSpPr/>
          <p:nvPr/>
        </p:nvSpPr>
        <p:spPr>
          <a:xfrm>
            <a:off x="0" y="1828800"/>
            <a:ext cx="91440" cy="1645920"/>
          </a:xfrm>
          <a:prstGeom prst="rect">
            <a:avLst/>
          </a:prstGeom>
          <a:solidFill>
            <a:srgbClr val="C00000"/>
          </a:solidFill>
          <a:ln/>
        </p:spPr>
      </p:sp>
      <p:sp>
        <p:nvSpPr>
          <p:cNvPr id="5" name="Text 3"/>
          <p:cNvSpPr/>
          <p:nvPr/>
        </p:nvSpPr>
        <p:spPr>
          <a:xfrm>
            <a:off x="365760" y="1828800"/>
            <a:ext cx="8229600" cy="365760"/>
          </a:xfrm>
          <a:prstGeom prst="rect">
            <a:avLst/>
          </a:prstGeom>
          <a:noFill/>
          <a:ln/>
        </p:spPr>
        <p:txBody>
          <a:bodyPr wrap="square" rtlCol="0" anchor="ctr"/>
          <a:lstStyle/>
          <a:p>
            <a:pPr indent="0" marL="0">
              <a:buNone/>
            </a:pPr>
            <a:r>
              <a:rPr lang="en-US" sz="1100" i="1" dirty="0">
                <a:solidFill>
                  <a:srgbClr val="DEEAF1"/>
                </a:solidFill>
                <a:latin typeface="Times New Roman" pitchFamily="34" charset="0"/>
                <a:ea typeface="Times New Roman" pitchFamily="34" charset="-122"/>
                <a:cs typeface="Times New Roman" pitchFamily="34" charset="-120"/>
              </a:rPr>
              <a:t>Nhóm chức năng</a:t>
            </a:r>
            <a:endParaRPr lang="en-US" sz="1100" dirty="0"/>
          </a:p>
        </p:txBody>
      </p:sp>
      <p:sp>
        <p:nvSpPr>
          <p:cNvPr id="6" name="Text 4"/>
          <p:cNvSpPr/>
          <p:nvPr/>
        </p:nvSpPr>
        <p:spPr>
          <a:xfrm>
            <a:off x="365760" y="2194560"/>
            <a:ext cx="8229600" cy="1097280"/>
          </a:xfrm>
          <a:prstGeom prst="rect">
            <a:avLst/>
          </a:prstGeom>
          <a:noFill/>
          <a:ln/>
        </p:spPr>
        <p:txBody>
          <a:bodyPr wrap="square" rtlCol="0" anchor="ctr"/>
          <a:lstStyle/>
          <a:p>
            <a:pPr indent="0" marL="0">
              <a:buNone/>
            </a:pPr>
            <a:r>
              <a:rPr lang="en-US" sz="3000" b="1" dirty="0">
                <a:solidFill>
                  <a:srgbClr val="FFFFFF"/>
                </a:solidFill>
                <a:latin typeface="Times New Roman" pitchFamily="34" charset="0"/>
                <a:ea typeface="Times New Roman" pitchFamily="34" charset="-122"/>
                <a:cs typeface="Times New Roman" pitchFamily="34" charset="-120"/>
              </a:rPr>
              <a:t>Xác thực</a:t>
            </a:r>
            <a:endParaRPr lang="en-US" sz="3000" dirty="0"/>
          </a:p>
        </p:txBody>
      </p:sp>
      <p:sp>
        <p:nvSpPr>
          <p:cNvPr id="7" name="Text 5"/>
          <p:cNvSpPr/>
          <p:nvPr/>
        </p:nvSpPr>
        <p:spPr>
          <a:xfrm>
            <a:off x="7772400" y="4507992"/>
            <a:ext cx="1097280" cy="320040"/>
          </a:xfrm>
          <a:prstGeom prst="rect">
            <a:avLst/>
          </a:prstGeom>
          <a:noFill/>
          <a:ln/>
        </p:spPr>
        <p:txBody>
          <a:bodyPr wrap="square" rtlCol="0" anchor="ctr"/>
          <a:lstStyle/>
          <a:p>
            <a:pPr algn="r" indent="0" marL="0">
              <a:buNone/>
            </a:pPr>
            <a:r>
              <a:rPr lang="en-US" sz="900" dirty="0">
                <a:solidFill>
                  <a:srgbClr val="DEEAF1"/>
                </a:solidFill>
                <a:latin typeface="Times New Roman" pitchFamily="34" charset="0"/>
                <a:ea typeface="Times New Roman" pitchFamily="34" charset="-122"/>
                <a:cs typeface="Times New Roman" pitchFamily="34" charset="-120"/>
              </a:rPr>
              <a:t>1 / 6</a:t>
            </a:r>
            <a:endParaRPr lang="en-US" sz="900" dirty="0"/>
          </a:p>
        </p:txBody>
      </p:sp>
      <p:sp>
        <p:nvSpPr>
          <p:cNvPr id="8" name="Shape 6"/>
          <p:cNvSpPr/>
          <p:nvPr/>
        </p:nvSpPr>
        <p:spPr>
          <a:xfrm>
            <a:off x="0" y="4828032"/>
            <a:ext cx="9144000" cy="320040"/>
          </a:xfrm>
          <a:prstGeom prst="rect">
            <a:avLst/>
          </a:prstGeom>
          <a:solidFill>
            <a:srgbClr val="1F3864"/>
          </a:solidFill>
          <a:ln/>
        </p:spPr>
      </p:sp>
      <p:sp>
        <p:nvSpPr>
          <p:cNvPr id="9" name="Text 7"/>
          <p:cNvSpPr/>
          <p:nvPr/>
        </p:nvSpPr>
        <p:spPr>
          <a:xfrm>
            <a:off x="182880" y="4873752"/>
            <a:ext cx="8778240" cy="237744"/>
          </a:xfrm>
          <a:prstGeom prst="rect">
            <a:avLst/>
          </a:prstGeom>
          <a:noFill/>
          <a:ln/>
        </p:spPr>
        <p:txBody>
          <a:bodyPr wrap="square" rtlCol="0" anchor="ctr"/>
          <a:lstStyle/>
          <a:p>
            <a:pPr algn="ctr" indent="0" marL="0">
              <a:buNone/>
            </a:pPr>
            <a:r>
              <a:rPr lang="en-US" sz="700" dirty="0">
                <a:solidFill>
                  <a:srgbClr val="DEEAF1"/>
                </a:solidFill>
                <a:latin typeface="Times New Roman" pitchFamily="34" charset="0"/>
                <a:ea typeface="Times New Roman" pitchFamily="34" charset="-122"/>
                <a:cs typeface="Times New Roman" pitchFamily="34" charset="-120"/>
              </a:rPr>
              <a:t>Hệ thống Quản lý Căn-teen Trại Giam</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FFFFF"/>
          </a:solidFill>
          <a:ln/>
        </p:spPr>
      </p:sp>
      <p:sp>
        <p:nvSpPr>
          <p:cNvPr id="3" name="Shape 1"/>
          <p:cNvSpPr/>
          <p:nvPr/>
        </p:nvSpPr>
        <p:spPr>
          <a:xfrm>
            <a:off x="0" y="0"/>
            <a:ext cx="9144000" cy="502920"/>
          </a:xfrm>
          <a:prstGeom prst="rect">
            <a:avLst/>
          </a:prstGeom>
          <a:solidFill>
            <a:srgbClr val="1F3864"/>
          </a:solidFill>
          <a:ln/>
        </p:spPr>
      </p:sp>
      <p:sp>
        <p:nvSpPr>
          <p:cNvPr id="4" name="Text 2"/>
          <p:cNvSpPr/>
          <p:nvPr/>
        </p:nvSpPr>
        <p:spPr>
          <a:xfrm>
            <a:off x="228600" y="73152"/>
            <a:ext cx="8686800" cy="347472"/>
          </a:xfrm>
          <a:prstGeom prst="rect">
            <a:avLst/>
          </a:prstGeom>
          <a:noFill/>
          <a:ln/>
        </p:spPr>
        <p:txBody>
          <a:bodyPr wrap="square" rtlCol="0" anchor="ctr"/>
          <a:lstStyle/>
          <a:p>
            <a:pPr indent="0" marL="0">
              <a:buNone/>
            </a:pPr>
            <a:r>
              <a:rPr lang="en-US" sz="900" i="1" dirty="0">
                <a:solidFill>
                  <a:srgbClr val="DEEAF1"/>
                </a:solidFill>
                <a:latin typeface="Times New Roman" pitchFamily="34" charset="0"/>
                <a:ea typeface="Times New Roman" pitchFamily="34" charset="-122"/>
                <a:cs typeface="Times New Roman" pitchFamily="34" charset="-120"/>
              </a:rPr>
              <a:t>Xác thực</a:t>
            </a:r>
            <a:endParaRPr lang="en-US" sz="900" dirty="0"/>
          </a:p>
        </p:txBody>
      </p:sp>
      <p:sp>
        <p:nvSpPr>
          <p:cNvPr id="5" name="Shape 3"/>
          <p:cNvSpPr/>
          <p:nvPr/>
        </p:nvSpPr>
        <p:spPr>
          <a:xfrm>
            <a:off x="0" y="502920"/>
            <a:ext cx="3291840" cy="4325112"/>
          </a:xfrm>
          <a:prstGeom prst="rect">
            <a:avLst/>
          </a:prstGeom>
          <a:solidFill>
            <a:srgbClr val="F5F7FA"/>
          </a:solidFill>
          <a:ln/>
        </p:spPr>
      </p:sp>
      <p:sp>
        <p:nvSpPr>
          <p:cNvPr id="6" name="Text 4"/>
          <p:cNvSpPr/>
          <p:nvPr/>
        </p:nvSpPr>
        <p:spPr>
          <a:xfrm>
            <a:off x="182880" y="594360"/>
            <a:ext cx="3017520" cy="640080"/>
          </a:xfrm>
          <a:prstGeom prst="rect">
            <a:avLst/>
          </a:prstGeom>
          <a:noFill/>
          <a:ln/>
        </p:spPr>
        <p:txBody>
          <a:bodyPr wrap="square" rtlCol="0" anchor="ctr"/>
          <a:lstStyle/>
          <a:p>
            <a:pPr indent="0" marL="0">
              <a:buNone/>
            </a:pPr>
            <a:r>
              <a:rPr lang="en-US" sz="1500" b="1" dirty="0">
                <a:solidFill>
                  <a:srgbClr val="1F3864"/>
                </a:solidFill>
                <a:latin typeface="Times New Roman" pitchFamily="34" charset="0"/>
                <a:ea typeface="Times New Roman" pitchFamily="34" charset="-122"/>
                <a:cs typeface="Times New Roman" pitchFamily="34" charset="-120"/>
              </a:rPr>
              <a:t>Trang Đăng nhập</a:t>
            </a:r>
            <a:endParaRPr lang="en-US" sz="1500" dirty="0"/>
          </a:p>
        </p:txBody>
      </p:sp>
      <p:sp>
        <p:nvSpPr>
          <p:cNvPr id="7" name="Shape 5"/>
          <p:cNvSpPr/>
          <p:nvPr/>
        </p:nvSpPr>
        <p:spPr>
          <a:xfrm>
            <a:off x="182880" y="1234440"/>
            <a:ext cx="2926080" cy="36576"/>
          </a:xfrm>
          <a:prstGeom prst="rect">
            <a:avLst/>
          </a:prstGeom>
          <a:solidFill>
            <a:srgbClr val="2E74B5"/>
          </a:solidFill>
          <a:ln/>
        </p:spPr>
      </p:sp>
      <p:sp>
        <p:nvSpPr>
          <p:cNvPr id="8" name="Text 6"/>
          <p:cNvSpPr/>
          <p:nvPr/>
        </p:nvSpPr>
        <p:spPr>
          <a:xfrm>
            <a:off x="182880" y="1353312"/>
            <a:ext cx="3017520" cy="1371600"/>
          </a:xfrm>
          <a:prstGeom prst="rect">
            <a:avLst/>
          </a:prstGeom>
          <a:noFill/>
          <a:ln/>
        </p:spPr>
        <p:txBody>
          <a:bodyPr wrap="square" rtlCol="0" anchor="t"/>
          <a:lstStyle/>
          <a:p>
            <a:pPr indent="0" marL="0">
              <a:buNone/>
            </a:pPr>
            <a:r>
              <a:rPr lang="en-US" sz="1000" dirty="0">
                <a:solidFill>
                  <a:srgbClr val="1A1A2E"/>
                </a:solidFill>
                <a:latin typeface="Times New Roman" pitchFamily="34" charset="0"/>
                <a:ea typeface="Times New Roman" pitchFamily="34" charset="-122"/>
                <a:cs typeface="Times New Roman" pitchFamily="34" charset="-120"/>
              </a:rPr>
              <a:t>Form đăng nhập: nhập tên tài khoản và mật khẩu. JWT HS256, hiệu lực 12 giờ. Tự động đăng xuất khi token hết hạn.</a:t>
            </a:r>
            <a:endParaRPr lang="en-US" sz="1000" dirty="0"/>
          </a:p>
        </p:txBody>
      </p:sp>
      <p:sp>
        <p:nvSpPr>
          <p:cNvPr id="9" name="Shape 7"/>
          <p:cNvSpPr/>
          <p:nvPr/>
        </p:nvSpPr>
        <p:spPr>
          <a:xfrm>
            <a:off x="182880" y="2834640"/>
            <a:ext cx="2926080" cy="320040"/>
          </a:xfrm>
          <a:prstGeom prst="rect">
            <a:avLst/>
          </a:prstGeom>
          <a:solidFill>
            <a:srgbClr val="1F3864"/>
          </a:solidFill>
          <a:ln/>
        </p:spPr>
      </p:sp>
      <p:sp>
        <p:nvSpPr>
          <p:cNvPr id="10" name="Text 8"/>
          <p:cNvSpPr/>
          <p:nvPr/>
        </p:nvSpPr>
        <p:spPr>
          <a:xfrm>
            <a:off x="228600" y="2852928"/>
            <a:ext cx="2834640" cy="274320"/>
          </a:xfrm>
          <a:prstGeom prst="rect">
            <a:avLst/>
          </a:prstGeom>
          <a:noFill/>
          <a:ln/>
        </p:spPr>
        <p:txBody>
          <a:bodyPr wrap="square" rtlCol="0" anchor="ctr"/>
          <a:lstStyle/>
          <a:p>
            <a:pPr indent="0" marL="0">
              <a:buNone/>
            </a:pPr>
            <a:r>
              <a:rPr lang="en-US" sz="850" dirty="0">
                <a:solidFill>
                  <a:srgbClr val="FFFFFF"/>
                </a:solidFill>
                <a:latin typeface="Courier New" pitchFamily="34" charset="0"/>
                <a:ea typeface="Courier New" pitchFamily="34" charset="-122"/>
                <a:cs typeface="Courier New" pitchFamily="34" charset="-120"/>
              </a:rPr>
              <a:t>Đường dẫn: login.png</a:t>
            </a:r>
            <a:endParaRPr lang="en-US" sz="850" dirty="0"/>
          </a:p>
        </p:txBody>
      </p:sp>
      <p:sp>
        <p:nvSpPr>
          <p:cNvPr id="11" name="Text 9"/>
          <p:cNvSpPr/>
          <p:nvPr/>
        </p:nvSpPr>
        <p:spPr>
          <a:xfrm>
            <a:off x="182880" y="3273552"/>
            <a:ext cx="3017520" cy="237744"/>
          </a:xfrm>
          <a:prstGeom prst="rect">
            <a:avLst/>
          </a:prstGeom>
          <a:noFill/>
          <a:ln/>
        </p:spPr>
        <p:txBody>
          <a:bodyPr wrap="square" rtlCol="0" anchor="ctr"/>
          <a:lstStyle/>
          <a:p>
            <a:pPr indent="0" marL="0">
              <a:buNone/>
            </a:pPr>
            <a:r>
              <a:rPr lang="en-US" sz="800" dirty="0">
                <a:solidFill>
                  <a:srgbClr val="595959"/>
                </a:solidFill>
                <a:latin typeface="Times New Roman" pitchFamily="34" charset="0"/>
                <a:ea typeface="Times New Roman" pitchFamily="34" charset="-122"/>
                <a:cs typeface="Times New Roman" pitchFamily="34" charset="-120"/>
              </a:rPr>
              <a:t>• JWT HS256, hết hạn 12 giờ</a:t>
            </a:r>
            <a:endParaRPr lang="en-US" sz="800" dirty="0"/>
          </a:p>
        </p:txBody>
      </p:sp>
      <p:sp>
        <p:nvSpPr>
          <p:cNvPr id="12" name="Text 10"/>
          <p:cNvSpPr/>
          <p:nvPr/>
        </p:nvSpPr>
        <p:spPr>
          <a:xfrm>
            <a:off x="182880" y="3529584"/>
            <a:ext cx="3017520" cy="237744"/>
          </a:xfrm>
          <a:prstGeom prst="rect">
            <a:avLst/>
          </a:prstGeom>
          <a:noFill/>
          <a:ln/>
        </p:spPr>
        <p:txBody>
          <a:bodyPr wrap="square" rtlCol="0" anchor="ctr"/>
          <a:lstStyle/>
          <a:p>
            <a:pPr indent="0" marL="0">
              <a:buNone/>
            </a:pPr>
            <a:r>
              <a:rPr lang="en-US" sz="800" dirty="0">
                <a:solidFill>
                  <a:srgbClr val="595959"/>
                </a:solidFill>
                <a:latin typeface="Times New Roman" pitchFamily="34" charset="0"/>
                <a:ea typeface="Times New Roman" pitchFamily="34" charset="-122"/>
                <a:cs typeface="Times New Roman" pitchFamily="34" charset="-120"/>
              </a:rPr>
              <a:t>• Tự động đăng xuất khi token hết hạn (401)</a:t>
            </a:r>
            <a:endParaRPr lang="en-US" sz="800" dirty="0"/>
          </a:p>
        </p:txBody>
      </p:sp>
      <p:sp>
        <p:nvSpPr>
          <p:cNvPr id="13" name="Text 11"/>
          <p:cNvSpPr/>
          <p:nvPr/>
        </p:nvSpPr>
        <p:spPr>
          <a:xfrm>
            <a:off x="182880" y="3785616"/>
            <a:ext cx="3017520" cy="237744"/>
          </a:xfrm>
          <a:prstGeom prst="rect">
            <a:avLst/>
          </a:prstGeom>
          <a:noFill/>
          <a:ln/>
        </p:spPr>
        <p:txBody>
          <a:bodyPr wrap="square" rtlCol="0" anchor="ctr"/>
          <a:lstStyle/>
          <a:p>
            <a:pPr indent="0" marL="0">
              <a:buNone/>
            </a:pPr>
            <a:r>
              <a:rPr lang="en-US" sz="800" dirty="0">
                <a:solidFill>
                  <a:srgbClr val="595959"/>
                </a:solidFill>
                <a:latin typeface="Times New Roman" pitchFamily="34" charset="0"/>
                <a:ea typeface="Times New Roman" pitchFamily="34" charset="-122"/>
                <a:cs typeface="Times New Roman" pitchFamily="34" charset="-120"/>
              </a:rPr>
              <a:t>• Mã hóa mật khẩu bcrypt</a:t>
            </a:r>
            <a:endParaRPr lang="en-US" sz="800" dirty="0"/>
          </a:p>
        </p:txBody>
      </p:sp>
      <p:sp>
        <p:nvSpPr>
          <p:cNvPr id="14" name="Shape 12"/>
          <p:cNvSpPr/>
          <p:nvPr/>
        </p:nvSpPr>
        <p:spPr>
          <a:xfrm>
            <a:off x="3483864" y="557784"/>
            <a:ext cx="5623560" cy="4233672"/>
          </a:xfrm>
          <a:prstGeom prst="rect">
            <a:avLst/>
          </a:prstGeom>
          <a:solidFill>
            <a:srgbClr val="D9D9D9"/>
          </a:solidFill>
          <a:ln/>
          <a:effectLst>
            <a:outerShdw sx="100000" sy="100000" kx="0" ky="0" algn="bl" rotWithShape="0" blurRad="76200" dist="38100" dir="2700000">
              <a:srgbClr val="000000">
                <a:alpha val="25000"/>
              </a:srgbClr>
            </a:outerShdw>
          </a:effectLst>
        </p:spPr>
      </p:sp>
      <p:pic>
        <p:nvPicPr>
          <p:cNvPr id="15" name="Image 0" descr="D:\pet\carteen\tools\screenshots\login.png">    </p:cNvPr>
          <p:cNvPicPr>
            <a:picLocks noChangeAspect="1"/>
          </p:cNvPicPr>
          <p:nvPr/>
        </p:nvPicPr>
        <p:blipFill>
          <a:blip r:embed="rId1"/>
          <a:srcRect l="0" r="0" t="0" b="0"/>
          <a:stretch/>
        </p:blipFill>
        <p:spPr>
          <a:xfrm>
            <a:off x="3429000" y="521208"/>
            <a:ext cx="5623560" cy="4233672"/>
          </a:xfrm>
          <a:prstGeom prst="rect">
            <a:avLst/>
          </a:prstGeom>
        </p:spPr>
      </p:pic>
      <p:sp>
        <p:nvSpPr>
          <p:cNvPr id="16" name="Shape 13"/>
          <p:cNvSpPr/>
          <p:nvPr/>
        </p:nvSpPr>
        <p:spPr>
          <a:xfrm>
            <a:off x="3429000" y="521208"/>
            <a:ext cx="5623560" cy="4233672"/>
          </a:xfrm>
          <a:prstGeom prst="rect">
            <a:avLst/>
          </a:prstGeom>
          <a:ln w="12700">
            <a:solidFill>
              <a:srgbClr val="D9D9D9"/>
            </a:solidFill>
            <a:prstDash val="solid"/>
          </a:ln>
        </p:spPr>
      </p:sp>
      <p:sp>
        <p:nvSpPr>
          <p:cNvPr id="17" name="Shape 14"/>
          <p:cNvSpPr/>
          <p:nvPr/>
        </p:nvSpPr>
        <p:spPr>
          <a:xfrm>
            <a:off x="0" y="4828032"/>
            <a:ext cx="9144000" cy="320040"/>
          </a:xfrm>
          <a:prstGeom prst="rect">
            <a:avLst/>
          </a:prstGeom>
          <a:solidFill>
            <a:srgbClr val="1F3864"/>
          </a:solidFill>
          <a:ln/>
        </p:spPr>
      </p:sp>
      <p:sp>
        <p:nvSpPr>
          <p:cNvPr id="18" name="Text 15"/>
          <p:cNvSpPr/>
          <p:nvPr/>
        </p:nvSpPr>
        <p:spPr>
          <a:xfrm>
            <a:off x="182880" y="4873752"/>
            <a:ext cx="8778240" cy="237744"/>
          </a:xfrm>
          <a:prstGeom prst="rect">
            <a:avLst/>
          </a:prstGeom>
          <a:noFill/>
          <a:ln/>
        </p:spPr>
        <p:txBody>
          <a:bodyPr wrap="square" rtlCol="0" anchor="ctr"/>
          <a:lstStyle/>
          <a:p>
            <a:pPr algn="ctr" indent="0" marL="0">
              <a:buNone/>
            </a:pPr>
            <a:r>
              <a:rPr lang="en-US" sz="700" dirty="0">
                <a:solidFill>
                  <a:srgbClr val="DEEAF1"/>
                </a:solidFill>
                <a:latin typeface="Times New Roman" pitchFamily="34" charset="0"/>
                <a:ea typeface="Times New Roman" pitchFamily="34" charset="-122"/>
                <a:cs typeface="Times New Roman" pitchFamily="34" charset="-120"/>
              </a:rPr>
              <a:t>Hệ thống Quản lý Căn-teen Trại Giam   |   Trang Đăng nhập</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2E74B5"/>
          </a:solidFill>
          <a:ln/>
        </p:spPr>
      </p:sp>
      <p:sp>
        <p:nvSpPr>
          <p:cNvPr id="3" name="Text 1"/>
          <p:cNvSpPr/>
          <p:nvPr/>
        </p:nvSpPr>
        <p:spPr>
          <a:xfrm>
            <a:off x="457200" y="548640"/>
            <a:ext cx="1828800" cy="1828800"/>
          </a:xfrm>
          <a:prstGeom prst="rect">
            <a:avLst/>
          </a:prstGeom>
          <a:noFill/>
          <a:ln/>
        </p:spPr>
        <p:txBody>
          <a:bodyPr wrap="square" rtlCol="0" anchor="ctr"/>
          <a:lstStyle/>
          <a:p>
            <a:pPr indent="0" marL="0">
              <a:buNone/>
            </a:pPr>
            <a:r>
              <a:rPr lang="en-US" sz="9000" b="1" dirty="0">
                <a:solidFill>
                  <a:srgbClr val="FFFFFF">
                    <a:alpha val="30000"/>
                  </a:srgbClr>
                </a:solidFill>
                <a:latin typeface="Times New Roman" pitchFamily="34" charset="0"/>
                <a:ea typeface="Times New Roman" pitchFamily="34" charset="-122"/>
                <a:cs typeface="Times New Roman" pitchFamily="34" charset="-120"/>
              </a:rPr>
              <a:t>02</a:t>
            </a:r>
            <a:endParaRPr lang="en-US" sz="9000" dirty="0"/>
          </a:p>
        </p:txBody>
      </p:sp>
      <p:sp>
        <p:nvSpPr>
          <p:cNvPr id="4" name="Shape 2"/>
          <p:cNvSpPr/>
          <p:nvPr/>
        </p:nvSpPr>
        <p:spPr>
          <a:xfrm>
            <a:off x="0" y="1828800"/>
            <a:ext cx="91440" cy="1645920"/>
          </a:xfrm>
          <a:prstGeom prst="rect">
            <a:avLst/>
          </a:prstGeom>
          <a:solidFill>
            <a:srgbClr val="C00000"/>
          </a:solidFill>
          <a:ln/>
        </p:spPr>
      </p:sp>
      <p:sp>
        <p:nvSpPr>
          <p:cNvPr id="5" name="Text 3"/>
          <p:cNvSpPr/>
          <p:nvPr/>
        </p:nvSpPr>
        <p:spPr>
          <a:xfrm>
            <a:off x="365760" y="1828800"/>
            <a:ext cx="8229600" cy="365760"/>
          </a:xfrm>
          <a:prstGeom prst="rect">
            <a:avLst/>
          </a:prstGeom>
          <a:noFill/>
          <a:ln/>
        </p:spPr>
        <p:txBody>
          <a:bodyPr wrap="square" rtlCol="0" anchor="ctr"/>
          <a:lstStyle/>
          <a:p>
            <a:pPr indent="0" marL="0">
              <a:buNone/>
            </a:pPr>
            <a:r>
              <a:rPr lang="en-US" sz="1100" i="1" dirty="0">
                <a:solidFill>
                  <a:srgbClr val="DEEAF1"/>
                </a:solidFill>
                <a:latin typeface="Times New Roman" pitchFamily="34" charset="0"/>
                <a:ea typeface="Times New Roman" pitchFamily="34" charset="-122"/>
                <a:cs typeface="Times New Roman" pitchFamily="34" charset="-120"/>
              </a:rPr>
              <a:t>Nhóm chức năng</a:t>
            </a:r>
            <a:endParaRPr lang="en-US" sz="1100" dirty="0"/>
          </a:p>
        </p:txBody>
      </p:sp>
      <p:sp>
        <p:nvSpPr>
          <p:cNvPr id="6" name="Text 4"/>
          <p:cNvSpPr/>
          <p:nvPr/>
        </p:nvSpPr>
        <p:spPr>
          <a:xfrm>
            <a:off x="365760" y="2194560"/>
            <a:ext cx="8229600" cy="1097280"/>
          </a:xfrm>
          <a:prstGeom prst="rect">
            <a:avLst/>
          </a:prstGeom>
          <a:noFill/>
          <a:ln/>
        </p:spPr>
        <p:txBody>
          <a:bodyPr wrap="square" rtlCol="0" anchor="ctr"/>
          <a:lstStyle/>
          <a:p>
            <a:pPr indent="0" marL="0">
              <a:buNone/>
            </a:pPr>
            <a:r>
              <a:rPr lang="en-US" sz="3000" b="1" dirty="0">
                <a:solidFill>
                  <a:srgbClr val="FFFFFF"/>
                </a:solidFill>
                <a:latin typeface="Times New Roman" pitchFamily="34" charset="0"/>
                <a:ea typeface="Times New Roman" pitchFamily="34" charset="-122"/>
                <a:cs typeface="Times New Roman" pitchFamily="34" charset="-120"/>
              </a:rPr>
              <a:t>Vận hành</a:t>
            </a:r>
            <a:endParaRPr lang="en-US" sz="3000" dirty="0"/>
          </a:p>
        </p:txBody>
      </p:sp>
      <p:sp>
        <p:nvSpPr>
          <p:cNvPr id="7" name="Text 5"/>
          <p:cNvSpPr/>
          <p:nvPr/>
        </p:nvSpPr>
        <p:spPr>
          <a:xfrm>
            <a:off x="7772400" y="4507992"/>
            <a:ext cx="1097280" cy="320040"/>
          </a:xfrm>
          <a:prstGeom prst="rect">
            <a:avLst/>
          </a:prstGeom>
          <a:noFill/>
          <a:ln/>
        </p:spPr>
        <p:txBody>
          <a:bodyPr wrap="square" rtlCol="0" anchor="ctr"/>
          <a:lstStyle/>
          <a:p>
            <a:pPr algn="r" indent="0" marL="0">
              <a:buNone/>
            </a:pPr>
            <a:r>
              <a:rPr lang="en-US" sz="900" dirty="0">
                <a:solidFill>
                  <a:srgbClr val="DEEAF1"/>
                </a:solidFill>
                <a:latin typeface="Times New Roman" pitchFamily="34" charset="0"/>
                <a:ea typeface="Times New Roman" pitchFamily="34" charset="-122"/>
                <a:cs typeface="Times New Roman" pitchFamily="34" charset="-120"/>
              </a:rPr>
              <a:t>2 / 6</a:t>
            </a:r>
            <a:endParaRPr lang="en-US" sz="900" dirty="0"/>
          </a:p>
        </p:txBody>
      </p:sp>
      <p:sp>
        <p:nvSpPr>
          <p:cNvPr id="8" name="Shape 6"/>
          <p:cNvSpPr/>
          <p:nvPr/>
        </p:nvSpPr>
        <p:spPr>
          <a:xfrm>
            <a:off x="0" y="4828032"/>
            <a:ext cx="9144000" cy="320040"/>
          </a:xfrm>
          <a:prstGeom prst="rect">
            <a:avLst/>
          </a:prstGeom>
          <a:solidFill>
            <a:srgbClr val="1F3864"/>
          </a:solidFill>
          <a:ln/>
        </p:spPr>
      </p:sp>
      <p:sp>
        <p:nvSpPr>
          <p:cNvPr id="9" name="Text 7"/>
          <p:cNvSpPr/>
          <p:nvPr/>
        </p:nvSpPr>
        <p:spPr>
          <a:xfrm>
            <a:off x="182880" y="4873752"/>
            <a:ext cx="8778240" cy="237744"/>
          </a:xfrm>
          <a:prstGeom prst="rect">
            <a:avLst/>
          </a:prstGeom>
          <a:noFill/>
          <a:ln/>
        </p:spPr>
        <p:txBody>
          <a:bodyPr wrap="square" rtlCol="0" anchor="ctr"/>
          <a:lstStyle/>
          <a:p>
            <a:pPr algn="ctr" indent="0" marL="0">
              <a:buNone/>
            </a:pPr>
            <a:r>
              <a:rPr lang="en-US" sz="700" dirty="0">
                <a:solidFill>
                  <a:srgbClr val="DEEAF1"/>
                </a:solidFill>
                <a:latin typeface="Times New Roman" pitchFamily="34" charset="0"/>
                <a:ea typeface="Times New Roman" pitchFamily="34" charset="-122"/>
                <a:cs typeface="Times New Roman" pitchFamily="34" charset="-120"/>
              </a:rPr>
              <a:t>Hệ thống Quản lý Căn-teen Trại Giam</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FFFFF"/>
          </a:solidFill>
          <a:ln/>
        </p:spPr>
      </p:sp>
      <p:sp>
        <p:nvSpPr>
          <p:cNvPr id="3" name="Shape 1"/>
          <p:cNvSpPr/>
          <p:nvPr/>
        </p:nvSpPr>
        <p:spPr>
          <a:xfrm>
            <a:off x="0" y="0"/>
            <a:ext cx="9144000" cy="502920"/>
          </a:xfrm>
          <a:prstGeom prst="rect">
            <a:avLst/>
          </a:prstGeom>
          <a:solidFill>
            <a:srgbClr val="1F3864"/>
          </a:solidFill>
          <a:ln/>
        </p:spPr>
      </p:sp>
      <p:sp>
        <p:nvSpPr>
          <p:cNvPr id="4" name="Text 2"/>
          <p:cNvSpPr/>
          <p:nvPr/>
        </p:nvSpPr>
        <p:spPr>
          <a:xfrm>
            <a:off x="228600" y="73152"/>
            <a:ext cx="8686800" cy="347472"/>
          </a:xfrm>
          <a:prstGeom prst="rect">
            <a:avLst/>
          </a:prstGeom>
          <a:noFill/>
          <a:ln/>
        </p:spPr>
        <p:txBody>
          <a:bodyPr wrap="square" rtlCol="0" anchor="ctr"/>
          <a:lstStyle/>
          <a:p>
            <a:pPr indent="0" marL="0">
              <a:buNone/>
            </a:pPr>
            <a:r>
              <a:rPr lang="en-US" sz="900" i="1" dirty="0">
                <a:solidFill>
                  <a:srgbClr val="DEEAF1"/>
                </a:solidFill>
                <a:latin typeface="Times New Roman" pitchFamily="34" charset="0"/>
                <a:ea typeface="Times New Roman" pitchFamily="34" charset="-122"/>
                <a:cs typeface="Times New Roman" pitchFamily="34" charset="-120"/>
              </a:rPr>
              <a:t>Vận hành</a:t>
            </a:r>
            <a:endParaRPr lang="en-US" sz="900" dirty="0"/>
          </a:p>
        </p:txBody>
      </p:sp>
      <p:sp>
        <p:nvSpPr>
          <p:cNvPr id="5" name="Shape 3"/>
          <p:cNvSpPr/>
          <p:nvPr/>
        </p:nvSpPr>
        <p:spPr>
          <a:xfrm>
            <a:off x="0" y="502920"/>
            <a:ext cx="3291840" cy="4325112"/>
          </a:xfrm>
          <a:prstGeom prst="rect">
            <a:avLst/>
          </a:prstGeom>
          <a:solidFill>
            <a:srgbClr val="F5F7FA"/>
          </a:solidFill>
          <a:ln/>
        </p:spPr>
      </p:sp>
      <p:sp>
        <p:nvSpPr>
          <p:cNvPr id="6" name="Text 4"/>
          <p:cNvSpPr/>
          <p:nvPr/>
        </p:nvSpPr>
        <p:spPr>
          <a:xfrm>
            <a:off x="182880" y="594360"/>
            <a:ext cx="3017520" cy="640080"/>
          </a:xfrm>
          <a:prstGeom prst="rect">
            <a:avLst/>
          </a:prstGeom>
          <a:noFill/>
          <a:ln/>
        </p:spPr>
        <p:txBody>
          <a:bodyPr wrap="square" rtlCol="0" anchor="ctr"/>
          <a:lstStyle/>
          <a:p>
            <a:pPr indent="0" marL="0">
              <a:buNone/>
            </a:pPr>
            <a:r>
              <a:rPr lang="en-US" sz="1500" b="1" dirty="0">
                <a:solidFill>
                  <a:srgbClr val="1F3864"/>
                </a:solidFill>
                <a:latin typeface="Times New Roman" pitchFamily="34" charset="0"/>
                <a:ea typeface="Times New Roman" pitchFamily="34" charset="-122"/>
                <a:cs typeface="Times New Roman" pitchFamily="34" charset="-120"/>
              </a:rPr>
              <a:t>Tổng quan (Dashboard)</a:t>
            </a:r>
            <a:endParaRPr lang="en-US" sz="1500" dirty="0"/>
          </a:p>
        </p:txBody>
      </p:sp>
      <p:sp>
        <p:nvSpPr>
          <p:cNvPr id="7" name="Shape 5"/>
          <p:cNvSpPr/>
          <p:nvPr/>
        </p:nvSpPr>
        <p:spPr>
          <a:xfrm>
            <a:off x="182880" y="1234440"/>
            <a:ext cx="2926080" cy="36576"/>
          </a:xfrm>
          <a:prstGeom prst="rect">
            <a:avLst/>
          </a:prstGeom>
          <a:solidFill>
            <a:srgbClr val="2E74B5"/>
          </a:solidFill>
          <a:ln/>
        </p:spPr>
      </p:sp>
      <p:sp>
        <p:nvSpPr>
          <p:cNvPr id="8" name="Text 6"/>
          <p:cNvSpPr/>
          <p:nvPr/>
        </p:nvSpPr>
        <p:spPr>
          <a:xfrm>
            <a:off x="182880" y="1353312"/>
            <a:ext cx="3017520" cy="1371600"/>
          </a:xfrm>
          <a:prstGeom prst="rect">
            <a:avLst/>
          </a:prstGeom>
          <a:noFill/>
          <a:ln/>
        </p:spPr>
        <p:txBody>
          <a:bodyPr wrap="square" rtlCol="0" anchor="t"/>
          <a:lstStyle/>
          <a:p>
            <a:pPr indent="0" marL="0">
              <a:buNone/>
            </a:pPr>
            <a:r>
              <a:rPr lang="en-US" sz="1000" dirty="0">
                <a:solidFill>
                  <a:srgbClr val="1A1A2E"/>
                </a:solidFill>
                <a:latin typeface="Times New Roman" pitchFamily="34" charset="0"/>
                <a:ea typeface="Times New Roman" pitchFamily="34" charset="-122"/>
                <a:cs typeface="Times New Roman" pitchFamily="34" charset="-120"/>
              </a:rPr>
              <a:t>Màn hình tổng quan theo ngày: thống kê đơn hàng, trạng thái hàng đợi quét, số dư tài khoản và hoạt động gần đây.</a:t>
            </a:r>
            <a:endParaRPr lang="en-US" sz="1000" dirty="0"/>
          </a:p>
        </p:txBody>
      </p:sp>
      <p:sp>
        <p:nvSpPr>
          <p:cNvPr id="9" name="Shape 7"/>
          <p:cNvSpPr/>
          <p:nvPr/>
        </p:nvSpPr>
        <p:spPr>
          <a:xfrm>
            <a:off x="182880" y="2834640"/>
            <a:ext cx="2926080" cy="320040"/>
          </a:xfrm>
          <a:prstGeom prst="rect">
            <a:avLst/>
          </a:prstGeom>
          <a:solidFill>
            <a:srgbClr val="1F3864"/>
          </a:solidFill>
          <a:ln/>
        </p:spPr>
      </p:sp>
      <p:sp>
        <p:nvSpPr>
          <p:cNvPr id="10" name="Text 8"/>
          <p:cNvSpPr/>
          <p:nvPr/>
        </p:nvSpPr>
        <p:spPr>
          <a:xfrm>
            <a:off x="228600" y="2852928"/>
            <a:ext cx="2834640" cy="274320"/>
          </a:xfrm>
          <a:prstGeom prst="rect">
            <a:avLst/>
          </a:prstGeom>
          <a:noFill/>
          <a:ln/>
        </p:spPr>
        <p:txBody>
          <a:bodyPr wrap="square" rtlCol="0" anchor="ctr"/>
          <a:lstStyle/>
          <a:p>
            <a:pPr indent="0" marL="0">
              <a:buNone/>
            </a:pPr>
            <a:r>
              <a:rPr lang="en-US" sz="850" dirty="0">
                <a:solidFill>
                  <a:srgbClr val="FFFFFF"/>
                </a:solidFill>
                <a:latin typeface="Courier New" pitchFamily="34" charset="0"/>
                <a:ea typeface="Courier New" pitchFamily="34" charset="-122"/>
                <a:cs typeface="Courier New" pitchFamily="34" charset="-120"/>
              </a:rPr>
              <a:t>Đường dẫn: dashboard.png</a:t>
            </a:r>
            <a:endParaRPr lang="en-US" sz="850" dirty="0"/>
          </a:p>
        </p:txBody>
      </p:sp>
      <p:sp>
        <p:nvSpPr>
          <p:cNvPr id="11" name="Text 9"/>
          <p:cNvSpPr/>
          <p:nvPr/>
        </p:nvSpPr>
        <p:spPr>
          <a:xfrm>
            <a:off x="182880" y="3273552"/>
            <a:ext cx="3017520" cy="237744"/>
          </a:xfrm>
          <a:prstGeom prst="rect">
            <a:avLst/>
          </a:prstGeom>
          <a:noFill/>
          <a:ln/>
        </p:spPr>
        <p:txBody>
          <a:bodyPr wrap="square" rtlCol="0" anchor="ctr"/>
          <a:lstStyle/>
          <a:p>
            <a:pPr indent="0" marL="0">
              <a:buNone/>
            </a:pPr>
            <a:r>
              <a:rPr lang="en-US" sz="800" dirty="0">
                <a:solidFill>
                  <a:srgbClr val="595959"/>
                </a:solidFill>
                <a:latin typeface="Times New Roman" pitchFamily="34" charset="0"/>
                <a:ea typeface="Times New Roman" pitchFamily="34" charset="-122"/>
                <a:cs typeface="Times New Roman" pitchFamily="34" charset="-120"/>
              </a:rPr>
              <a:t>• Thống kê tổng quan hệ thống</a:t>
            </a:r>
            <a:endParaRPr lang="en-US" sz="800" dirty="0"/>
          </a:p>
        </p:txBody>
      </p:sp>
      <p:sp>
        <p:nvSpPr>
          <p:cNvPr id="12" name="Text 10"/>
          <p:cNvSpPr/>
          <p:nvPr/>
        </p:nvSpPr>
        <p:spPr>
          <a:xfrm>
            <a:off x="182880" y="3529584"/>
            <a:ext cx="3017520" cy="237744"/>
          </a:xfrm>
          <a:prstGeom prst="rect">
            <a:avLst/>
          </a:prstGeom>
          <a:noFill/>
          <a:ln/>
        </p:spPr>
        <p:txBody>
          <a:bodyPr wrap="square" rtlCol="0" anchor="ctr"/>
          <a:lstStyle/>
          <a:p>
            <a:pPr indent="0" marL="0">
              <a:buNone/>
            </a:pPr>
            <a:r>
              <a:rPr lang="en-US" sz="800" dirty="0">
                <a:solidFill>
                  <a:srgbClr val="595959"/>
                </a:solidFill>
                <a:latin typeface="Times New Roman" pitchFamily="34" charset="0"/>
                <a:ea typeface="Times New Roman" pitchFamily="34" charset="-122"/>
                <a:cs typeface="Times New Roman" pitchFamily="34" charset="-120"/>
              </a:rPr>
              <a:t>• Phân vùng theo khu vực phụ trách</a:t>
            </a:r>
            <a:endParaRPr lang="en-US" sz="800" dirty="0"/>
          </a:p>
        </p:txBody>
      </p:sp>
      <p:sp>
        <p:nvSpPr>
          <p:cNvPr id="13" name="Shape 11"/>
          <p:cNvSpPr/>
          <p:nvPr/>
        </p:nvSpPr>
        <p:spPr>
          <a:xfrm>
            <a:off x="3483864" y="557784"/>
            <a:ext cx="5623560" cy="4233672"/>
          </a:xfrm>
          <a:prstGeom prst="rect">
            <a:avLst/>
          </a:prstGeom>
          <a:solidFill>
            <a:srgbClr val="D9D9D9"/>
          </a:solidFill>
          <a:ln/>
          <a:effectLst>
            <a:outerShdw sx="100000" sy="100000" kx="0" ky="0" algn="bl" rotWithShape="0" blurRad="76200" dist="38100" dir="2700000">
              <a:srgbClr val="000000">
                <a:alpha val="25000"/>
              </a:srgbClr>
            </a:outerShdw>
          </a:effectLst>
        </p:spPr>
      </p:sp>
      <p:pic>
        <p:nvPicPr>
          <p:cNvPr id="14" name="Image 0" descr="D:\pet\carteen\tools\screenshots\dashboard.png">    </p:cNvPr>
          <p:cNvPicPr>
            <a:picLocks noChangeAspect="1"/>
          </p:cNvPicPr>
          <p:nvPr/>
        </p:nvPicPr>
        <p:blipFill>
          <a:blip r:embed="rId1"/>
          <a:srcRect l="0" r="0" t="0" b="0"/>
          <a:stretch/>
        </p:blipFill>
        <p:spPr>
          <a:xfrm>
            <a:off x="3429000" y="521208"/>
            <a:ext cx="5623560" cy="4233672"/>
          </a:xfrm>
          <a:prstGeom prst="rect">
            <a:avLst/>
          </a:prstGeom>
        </p:spPr>
      </p:pic>
      <p:sp>
        <p:nvSpPr>
          <p:cNvPr id="15" name="Shape 12"/>
          <p:cNvSpPr/>
          <p:nvPr/>
        </p:nvSpPr>
        <p:spPr>
          <a:xfrm>
            <a:off x="3429000" y="521208"/>
            <a:ext cx="5623560" cy="4233672"/>
          </a:xfrm>
          <a:prstGeom prst="rect">
            <a:avLst/>
          </a:prstGeom>
          <a:ln w="12700">
            <a:solidFill>
              <a:srgbClr val="D9D9D9"/>
            </a:solidFill>
            <a:prstDash val="solid"/>
          </a:ln>
        </p:spPr>
      </p:sp>
      <p:sp>
        <p:nvSpPr>
          <p:cNvPr id="16" name="Shape 13"/>
          <p:cNvSpPr/>
          <p:nvPr/>
        </p:nvSpPr>
        <p:spPr>
          <a:xfrm>
            <a:off x="0" y="4828032"/>
            <a:ext cx="9144000" cy="320040"/>
          </a:xfrm>
          <a:prstGeom prst="rect">
            <a:avLst/>
          </a:prstGeom>
          <a:solidFill>
            <a:srgbClr val="1F3864"/>
          </a:solidFill>
          <a:ln/>
        </p:spPr>
      </p:sp>
      <p:sp>
        <p:nvSpPr>
          <p:cNvPr id="17" name="Text 14"/>
          <p:cNvSpPr/>
          <p:nvPr/>
        </p:nvSpPr>
        <p:spPr>
          <a:xfrm>
            <a:off x="182880" y="4873752"/>
            <a:ext cx="8778240" cy="237744"/>
          </a:xfrm>
          <a:prstGeom prst="rect">
            <a:avLst/>
          </a:prstGeom>
          <a:noFill/>
          <a:ln/>
        </p:spPr>
        <p:txBody>
          <a:bodyPr wrap="square" rtlCol="0" anchor="ctr"/>
          <a:lstStyle/>
          <a:p>
            <a:pPr algn="ctr" indent="0" marL="0">
              <a:buNone/>
            </a:pPr>
            <a:r>
              <a:rPr lang="en-US" sz="700" dirty="0">
                <a:solidFill>
                  <a:srgbClr val="DEEAF1"/>
                </a:solidFill>
                <a:latin typeface="Times New Roman" pitchFamily="34" charset="0"/>
                <a:ea typeface="Times New Roman" pitchFamily="34" charset="-122"/>
                <a:cs typeface="Times New Roman" pitchFamily="34" charset="-120"/>
              </a:rPr>
              <a:t>Hệ thống Quản lý Căn-teen Trại Giam   |   Tổng quan (Dashboard)</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FFFFF"/>
          </a:solidFill>
          <a:ln/>
        </p:spPr>
      </p:sp>
      <p:sp>
        <p:nvSpPr>
          <p:cNvPr id="3" name="Shape 1"/>
          <p:cNvSpPr/>
          <p:nvPr/>
        </p:nvSpPr>
        <p:spPr>
          <a:xfrm>
            <a:off x="0" y="0"/>
            <a:ext cx="9144000" cy="502920"/>
          </a:xfrm>
          <a:prstGeom prst="rect">
            <a:avLst/>
          </a:prstGeom>
          <a:solidFill>
            <a:srgbClr val="1F3864"/>
          </a:solidFill>
          <a:ln/>
        </p:spPr>
      </p:sp>
      <p:sp>
        <p:nvSpPr>
          <p:cNvPr id="4" name="Text 2"/>
          <p:cNvSpPr/>
          <p:nvPr/>
        </p:nvSpPr>
        <p:spPr>
          <a:xfrm>
            <a:off x="228600" y="73152"/>
            <a:ext cx="8686800" cy="347472"/>
          </a:xfrm>
          <a:prstGeom prst="rect">
            <a:avLst/>
          </a:prstGeom>
          <a:noFill/>
          <a:ln/>
        </p:spPr>
        <p:txBody>
          <a:bodyPr wrap="square" rtlCol="0" anchor="ctr"/>
          <a:lstStyle/>
          <a:p>
            <a:pPr indent="0" marL="0">
              <a:buNone/>
            </a:pPr>
            <a:r>
              <a:rPr lang="en-US" sz="900" i="1" dirty="0">
                <a:solidFill>
                  <a:srgbClr val="DEEAF1"/>
                </a:solidFill>
                <a:latin typeface="Times New Roman" pitchFamily="34" charset="0"/>
                <a:ea typeface="Times New Roman" pitchFamily="34" charset="-122"/>
                <a:cs typeface="Times New Roman" pitchFamily="34" charset="-120"/>
              </a:rPr>
              <a:t>Vận hành</a:t>
            </a:r>
            <a:endParaRPr lang="en-US" sz="900" dirty="0"/>
          </a:p>
        </p:txBody>
      </p:sp>
      <p:sp>
        <p:nvSpPr>
          <p:cNvPr id="5" name="Shape 3"/>
          <p:cNvSpPr/>
          <p:nvPr/>
        </p:nvSpPr>
        <p:spPr>
          <a:xfrm>
            <a:off x="0" y="502920"/>
            <a:ext cx="3291840" cy="4325112"/>
          </a:xfrm>
          <a:prstGeom prst="rect">
            <a:avLst/>
          </a:prstGeom>
          <a:solidFill>
            <a:srgbClr val="F5F7FA"/>
          </a:solidFill>
          <a:ln/>
        </p:spPr>
      </p:sp>
      <p:sp>
        <p:nvSpPr>
          <p:cNvPr id="6" name="Text 4"/>
          <p:cNvSpPr/>
          <p:nvPr/>
        </p:nvSpPr>
        <p:spPr>
          <a:xfrm>
            <a:off x="182880" y="594360"/>
            <a:ext cx="3017520" cy="640080"/>
          </a:xfrm>
          <a:prstGeom prst="rect">
            <a:avLst/>
          </a:prstGeom>
          <a:noFill/>
          <a:ln/>
        </p:spPr>
        <p:txBody>
          <a:bodyPr wrap="square" rtlCol="0" anchor="ctr"/>
          <a:lstStyle/>
          <a:p>
            <a:pPr indent="0" marL="0">
              <a:buNone/>
            </a:pPr>
            <a:r>
              <a:rPr lang="en-US" sz="1500" b="1" dirty="0">
                <a:solidFill>
                  <a:srgbClr val="1F3864"/>
                </a:solidFill>
                <a:latin typeface="Times New Roman" pitchFamily="34" charset="0"/>
                <a:ea typeface="Times New Roman" pitchFamily="34" charset="-122"/>
                <a:cs typeface="Times New Roman" pitchFamily="34" charset="-120"/>
              </a:rPr>
              <a:t>Danh sách Đơn hàng</a:t>
            </a:r>
            <a:endParaRPr lang="en-US" sz="1500" dirty="0"/>
          </a:p>
        </p:txBody>
      </p:sp>
      <p:sp>
        <p:nvSpPr>
          <p:cNvPr id="7" name="Shape 5"/>
          <p:cNvSpPr/>
          <p:nvPr/>
        </p:nvSpPr>
        <p:spPr>
          <a:xfrm>
            <a:off x="182880" y="1234440"/>
            <a:ext cx="2926080" cy="36576"/>
          </a:xfrm>
          <a:prstGeom prst="rect">
            <a:avLst/>
          </a:prstGeom>
          <a:solidFill>
            <a:srgbClr val="2E74B5"/>
          </a:solidFill>
          <a:ln/>
        </p:spPr>
      </p:sp>
      <p:sp>
        <p:nvSpPr>
          <p:cNvPr id="8" name="Text 6"/>
          <p:cNvSpPr/>
          <p:nvPr/>
        </p:nvSpPr>
        <p:spPr>
          <a:xfrm>
            <a:off x="182880" y="1353312"/>
            <a:ext cx="3017520" cy="1371600"/>
          </a:xfrm>
          <a:prstGeom prst="rect">
            <a:avLst/>
          </a:prstGeom>
          <a:noFill/>
          <a:ln/>
        </p:spPr>
        <p:txBody>
          <a:bodyPr wrap="square" rtlCol="0" anchor="t"/>
          <a:lstStyle/>
          <a:p>
            <a:pPr indent="0" marL="0">
              <a:buNone/>
            </a:pPr>
            <a:r>
              <a:rPr lang="en-US" sz="1000" dirty="0">
                <a:solidFill>
                  <a:srgbClr val="1A1A2E"/>
                </a:solidFill>
                <a:latin typeface="Times New Roman" pitchFamily="34" charset="0"/>
                <a:ea typeface="Times New Roman" pitchFamily="34" charset="-122"/>
                <a:cs typeface="Times New Roman" pitchFamily="34" charset="-120"/>
              </a:rPr>
              <a:t>Xem toàn bộ đơn hàng: lọc theo ngày/khu vực/trạng thái. Trạng thái: PENDING → PAID / REJECTED / DELIVERED. In phiếu theo lô.</a:t>
            </a:r>
            <a:endParaRPr lang="en-US" sz="1000" dirty="0"/>
          </a:p>
        </p:txBody>
      </p:sp>
      <p:sp>
        <p:nvSpPr>
          <p:cNvPr id="9" name="Shape 7"/>
          <p:cNvSpPr/>
          <p:nvPr/>
        </p:nvSpPr>
        <p:spPr>
          <a:xfrm>
            <a:off x="182880" y="2834640"/>
            <a:ext cx="2926080" cy="320040"/>
          </a:xfrm>
          <a:prstGeom prst="rect">
            <a:avLst/>
          </a:prstGeom>
          <a:solidFill>
            <a:srgbClr val="1F3864"/>
          </a:solidFill>
          <a:ln/>
        </p:spPr>
      </p:sp>
      <p:sp>
        <p:nvSpPr>
          <p:cNvPr id="10" name="Text 8"/>
          <p:cNvSpPr/>
          <p:nvPr/>
        </p:nvSpPr>
        <p:spPr>
          <a:xfrm>
            <a:off x="228600" y="2852928"/>
            <a:ext cx="2834640" cy="274320"/>
          </a:xfrm>
          <a:prstGeom prst="rect">
            <a:avLst/>
          </a:prstGeom>
          <a:noFill/>
          <a:ln/>
        </p:spPr>
        <p:txBody>
          <a:bodyPr wrap="square" rtlCol="0" anchor="ctr"/>
          <a:lstStyle/>
          <a:p>
            <a:pPr indent="0" marL="0">
              <a:buNone/>
            </a:pPr>
            <a:r>
              <a:rPr lang="en-US" sz="850" dirty="0">
                <a:solidFill>
                  <a:srgbClr val="FFFFFF"/>
                </a:solidFill>
                <a:latin typeface="Courier New" pitchFamily="34" charset="0"/>
                <a:ea typeface="Courier New" pitchFamily="34" charset="-122"/>
                <a:cs typeface="Courier New" pitchFamily="34" charset="-120"/>
              </a:rPr>
              <a:t>Đường dẫn: orders.png</a:t>
            </a:r>
            <a:endParaRPr lang="en-US" sz="850" dirty="0"/>
          </a:p>
        </p:txBody>
      </p:sp>
      <p:sp>
        <p:nvSpPr>
          <p:cNvPr id="11" name="Text 9"/>
          <p:cNvSpPr/>
          <p:nvPr/>
        </p:nvSpPr>
        <p:spPr>
          <a:xfrm>
            <a:off x="182880" y="3273552"/>
            <a:ext cx="3017520" cy="237744"/>
          </a:xfrm>
          <a:prstGeom prst="rect">
            <a:avLst/>
          </a:prstGeom>
          <a:noFill/>
          <a:ln/>
        </p:spPr>
        <p:txBody>
          <a:bodyPr wrap="square" rtlCol="0" anchor="ctr"/>
          <a:lstStyle/>
          <a:p>
            <a:pPr indent="0" marL="0">
              <a:buNone/>
            </a:pPr>
            <a:r>
              <a:rPr lang="en-US" sz="800" dirty="0">
                <a:solidFill>
                  <a:srgbClr val="595959"/>
                </a:solidFill>
                <a:latin typeface="Times New Roman" pitchFamily="34" charset="0"/>
                <a:ea typeface="Times New Roman" pitchFamily="34" charset="-122"/>
                <a:cs typeface="Times New Roman" pitchFamily="34" charset="-120"/>
              </a:rPr>
              <a:t>• Lọc theo ngày, khu vực, trạng thái</a:t>
            </a:r>
            <a:endParaRPr lang="en-US" sz="800" dirty="0"/>
          </a:p>
        </p:txBody>
      </p:sp>
      <p:sp>
        <p:nvSpPr>
          <p:cNvPr id="12" name="Text 10"/>
          <p:cNvSpPr/>
          <p:nvPr/>
        </p:nvSpPr>
        <p:spPr>
          <a:xfrm>
            <a:off x="182880" y="3529584"/>
            <a:ext cx="3017520" cy="237744"/>
          </a:xfrm>
          <a:prstGeom prst="rect">
            <a:avLst/>
          </a:prstGeom>
          <a:noFill/>
          <a:ln/>
        </p:spPr>
        <p:txBody>
          <a:bodyPr wrap="square" rtlCol="0" anchor="ctr"/>
          <a:lstStyle/>
          <a:p>
            <a:pPr indent="0" marL="0">
              <a:buNone/>
            </a:pPr>
            <a:r>
              <a:rPr lang="en-US" sz="800" dirty="0">
                <a:solidFill>
                  <a:srgbClr val="595959"/>
                </a:solidFill>
                <a:latin typeface="Times New Roman" pitchFamily="34" charset="0"/>
                <a:ea typeface="Times New Roman" pitchFamily="34" charset="-122"/>
                <a:cs typeface="Times New Roman" pitchFamily="34" charset="-120"/>
              </a:rPr>
              <a:t>• Trạng thái: PENDING → PAID / REJECTED</a:t>
            </a:r>
            <a:endParaRPr lang="en-US" sz="800" dirty="0"/>
          </a:p>
        </p:txBody>
      </p:sp>
      <p:sp>
        <p:nvSpPr>
          <p:cNvPr id="13" name="Text 11"/>
          <p:cNvSpPr/>
          <p:nvPr/>
        </p:nvSpPr>
        <p:spPr>
          <a:xfrm>
            <a:off x="182880" y="3785616"/>
            <a:ext cx="3017520" cy="237744"/>
          </a:xfrm>
          <a:prstGeom prst="rect">
            <a:avLst/>
          </a:prstGeom>
          <a:noFill/>
          <a:ln/>
        </p:spPr>
        <p:txBody>
          <a:bodyPr wrap="square" rtlCol="0" anchor="ctr"/>
          <a:lstStyle/>
          <a:p>
            <a:pPr indent="0" marL="0">
              <a:buNone/>
            </a:pPr>
            <a:r>
              <a:rPr lang="en-US" sz="800" dirty="0">
                <a:solidFill>
                  <a:srgbClr val="595959"/>
                </a:solidFill>
                <a:latin typeface="Times New Roman" pitchFamily="34" charset="0"/>
                <a:ea typeface="Times New Roman" pitchFamily="34" charset="-122"/>
                <a:cs typeface="Times New Roman" pitchFamily="34" charset="-120"/>
              </a:rPr>
              <a:t>• In phiếu đặt hàng theo lô</a:t>
            </a:r>
            <a:endParaRPr lang="en-US" sz="800" dirty="0"/>
          </a:p>
        </p:txBody>
      </p:sp>
      <p:sp>
        <p:nvSpPr>
          <p:cNvPr id="14" name="Shape 12"/>
          <p:cNvSpPr/>
          <p:nvPr/>
        </p:nvSpPr>
        <p:spPr>
          <a:xfrm>
            <a:off x="3483864" y="557784"/>
            <a:ext cx="5623560" cy="4233672"/>
          </a:xfrm>
          <a:prstGeom prst="rect">
            <a:avLst/>
          </a:prstGeom>
          <a:solidFill>
            <a:srgbClr val="D9D9D9"/>
          </a:solidFill>
          <a:ln/>
          <a:effectLst>
            <a:outerShdw sx="100000" sy="100000" kx="0" ky="0" algn="bl" rotWithShape="0" blurRad="76200" dist="38100" dir="2700000">
              <a:srgbClr val="000000">
                <a:alpha val="25000"/>
              </a:srgbClr>
            </a:outerShdw>
          </a:effectLst>
        </p:spPr>
      </p:sp>
      <p:pic>
        <p:nvPicPr>
          <p:cNvPr id="15" name="Image 0" descr="D:\pet\carteen\tools\screenshots\orders.png">    </p:cNvPr>
          <p:cNvPicPr>
            <a:picLocks noChangeAspect="1"/>
          </p:cNvPicPr>
          <p:nvPr/>
        </p:nvPicPr>
        <p:blipFill>
          <a:blip r:embed="rId1"/>
          <a:srcRect l="0" r="0" t="0" b="0"/>
          <a:stretch/>
        </p:blipFill>
        <p:spPr>
          <a:xfrm>
            <a:off x="3429000" y="521208"/>
            <a:ext cx="5623560" cy="4233672"/>
          </a:xfrm>
          <a:prstGeom prst="rect">
            <a:avLst/>
          </a:prstGeom>
        </p:spPr>
      </p:pic>
      <p:sp>
        <p:nvSpPr>
          <p:cNvPr id="16" name="Shape 13"/>
          <p:cNvSpPr/>
          <p:nvPr/>
        </p:nvSpPr>
        <p:spPr>
          <a:xfrm>
            <a:off x="3429000" y="521208"/>
            <a:ext cx="5623560" cy="4233672"/>
          </a:xfrm>
          <a:prstGeom prst="rect">
            <a:avLst/>
          </a:prstGeom>
          <a:ln w="12700">
            <a:solidFill>
              <a:srgbClr val="D9D9D9"/>
            </a:solidFill>
            <a:prstDash val="solid"/>
          </a:ln>
        </p:spPr>
      </p:sp>
      <p:sp>
        <p:nvSpPr>
          <p:cNvPr id="17" name="Shape 14"/>
          <p:cNvSpPr/>
          <p:nvPr/>
        </p:nvSpPr>
        <p:spPr>
          <a:xfrm>
            <a:off x="0" y="4828032"/>
            <a:ext cx="9144000" cy="320040"/>
          </a:xfrm>
          <a:prstGeom prst="rect">
            <a:avLst/>
          </a:prstGeom>
          <a:solidFill>
            <a:srgbClr val="1F3864"/>
          </a:solidFill>
          <a:ln/>
        </p:spPr>
      </p:sp>
      <p:sp>
        <p:nvSpPr>
          <p:cNvPr id="18" name="Text 15"/>
          <p:cNvSpPr/>
          <p:nvPr/>
        </p:nvSpPr>
        <p:spPr>
          <a:xfrm>
            <a:off x="182880" y="4873752"/>
            <a:ext cx="8778240" cy="237744"/>
          </a:xfrm>
          <a:prstGeom prst="rect">
            <a:avLst/>
          </a:prstGeom>
          <a:noFill/>
          <a:ln/>
        </p:spPr>
        <p:txBody>
          <a:bodyPr wrap="square" rtlCol="0" anchor="ctr"/>
          <a:lstStyle/>
          <a:p>
            <a:pPr algn="ctr" indent="0" marL="0">
              <a:buNone/>
            </a:pPr>
            <a:r>
              <a:rPr lang="en-US" sz="700" dirty="0">
                <a:solidFill>
                  <a:srgbClr val="DEEAF1"/>
                </a:solidFill>
                <a:latin typeface="Times New Roman" pitchFamily="34" charset="0"/>
                <a:ea typeface="Times New Roman" pitchFamily="34" charset="-122"/>
                <a:cs typeface="Times New Roman" pitchFamily="34" charset="-120"/>
              </a:rPr>
              <a:t>Hệ thống Quản lý Căn-teen Trại Giam   |   Danh sách Đơn hàng</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FFFFF"/>
          </a:solidFill>
          <a:ln/>
        </p:spPr>
      </p:sp>
      <p:sp>
        <p:nvSpPr>
          <p:cNvPr id="3" name="Shape 1"/>
          <p:cNvSpPr/>
          <p:nvPr/>
        </p:nvSpPr>
        <p:spPr>
          <a:xfrm>
            <a:off x="0" y="0"/>
            <a:ext cx="9144000" cy="502920"/>
          </a:xfrm>
          <a:prstGeom prst="rect">
            <a:avLst/>
          </a:prstGeom>
          <a:solidFill>
            <a:srgbClr val="1F3864"/>
          </a:solidFill>
          <a:ln/>
        </p:spPr>
      </p:sp>
      <p:sp>
        <p:nvSpPr>
          <p:cNvPr id="4" name="Text 2"/>
          <p:cNvSpPr/>
          <p:nvPr/>
        </p:nvSpPr>
        <p:spPr>
          <a:xfrm>
            <a:off x="228600" y="73152"/>
            <a:ext cx="8686800" cy="347472"/>
          </a:xfrm>
          <a:prstGeom prst="rect">
            <a:avLst/>
          </a:prstGeom>
          <a:noFill/>
          <a:ln/>
        </p:spPr>
        <p:txBody>
          <a:bodyPr wrap="square" rtlCol="0" anchor="ctr"/>
          <a:lstStyle/>
          <a:p>
            <a:pPr indent="0" marL="0">
              <a:buNone/>
            </a:pPr>
            <a:r>
              <a:rPr lang="en-US" sz="900" i="1" dirty="0">
                <a:solidFill>
                  <a:srgbClr val="DEEAF1"/>
                </a:solidFill>
                <a:latin typeface="Times New Roman" pitchFamily="34" charset="0"/>
                <a:ea typeface="Times New Roman" pitchFamily="34" charset="-122"/>
                <a:cs typeface="Times New Roman" pitchFamily="34" charset="-120"/>
              </a:rPr>
              <a:t>Vận hành</a:t>
            </a:r>
            <a:endParaRPr lang="en-US" sz="900" dirty="0"/>
          </a:p>
        </p:txBody>
      </p:sp>
      <p:sp>
        <p:nvSpPr>
          <p:cNvPr id="5" name="Shape 3"/>
          <p:cNvSpPr/>
          <p:nvPr/>
        </p:nvSpPr>
        <p:spPr>
          <a:xfrm>
            <a:off x="0" y="502920"/>
            <a:ext cx="3291840" cy="4325112"/>
          </a:xfrm>
          <a:prstGeom prst="rect">
            <a:avLst/>
          </a:prstGeom>
          <a:solidFill>
            <a:srgbClr val="F5F7FA"/>
          </a:solidFill>
          <a:ln/>
        </p:spPr>
      </p:sp>
      <p:sp>
        <p:nvSpPr>
          <p:cNvPr id="6" name="Text 4"/>
          <p:cNvSpPr/>
          <p:nvPr/>
        </p:nvSpPr>
        <p:spPr>
          <a:xfrm>
            <a:off x="182880" y="594360"/>
            <a:ext cx="3017520" cy="640080"/>
          </a:xfrm>
          <a:prstGeom prst="rect">
            <a:avLst/>
          </a:prstGeom>
          <a:noFill/>
          <a:ln/>
        </p:spPr>
        <p:txBody>
          <a:bodyPr wrap="square" rtlCol="0" anchor="ctr"/>
          <a:lstStyle/>
          <a:p>
            <a:pPr indent="0" marL="0">
              <a:buNone/>
            </a:pPr>
            <a:r>
              <a:rPr lang="en-US" sz="1500" b="1" dirty="0">
                <a:solidFill>
                  <a:srgbClr val="1F3864"/>
                </a:solidFill>
                <a:latin typeface="Times New Roman" pitchFamily="34" charset="0"/>
                <a:ea typeface="Times New Roman" pitchFamily="34" charset="-122"/>
                <a:cs typeface="Times New Roman" pitchFamily="34" charset="-120"/>
              </a:rPr>
              <a:t>Tổng kết Bếp / Kho</a:t>
            </a:r>
            <a:endParaRPr lang="en-US" sz="1500" dirty="0"/>
          </a:p>
        </p:txBody>
      </p:sp>
      <p:sp>
        <p:nvSpPr>
          <p:cNvPr id="7" name="Shape 5"/>
          <p:cNvSpPr/>
          <p:nvPr/>
        </p:nvSpPr>
        <p:spPr>
          <a:xfrm>
            <a:off x="182880" y="1234440"/>
            <a:ext cx="2926080" cy="36576"/>
          </a:xfrm>
          <a:prstGeom prst="rect">
            <a:avLst/>
          </a:prstGeom>
          <a:solidFill>
            <a:srgbClr val="2E74B5"/>
          </a:solidFill>
          <a:ln/>
        </p:spPr>
      </p:sp>
      <p:sp>
        <p:nvSpPr>
          <p:cNvPr id="8" name="Text 6"/>
          <p:cNvSpPr/>
          <p:nvPr/>
        </p:nvSpPr>
        <p:spPr>
          <a:xfrm>
            <a:off x="182880" y="1353312"/>
            <a:ext cx="3017520" cy="1371600"/>
          </a:xfrm>
          <a:prstGeom prst="rect">
            <a:avLst/>
          </a:prstGeom>
          <a:noFill/>
          <a:ln/>
        </p:spPr>
        <p:txBody>
          <a:bodyPr wrap="square" rtlCol="0" anchor="t"/>
          <a:lstStyle/>
          <a:p>
            <a:pPr indent="0" marL="0">
              <a:buNone/>
            </a:pPr>
            <a:r>
              <a:rPr lang="en-US" sz="1000" dirty="0">
                <a:solidFill>
                  <a:srgbClr val="1A1A2E"/>
                </a:solidFill>
                <a:latin typeface="Times New Roman" pitchFamily="34" charset="0"/>
                <a:ea typeface="Times New Roman" pitchFamily="34" charset="-122"/>
                <a:cs typeface="Times New Roman" pitchFamily="34" charset="-120"/>
              </a:rPr>
              <a:t>Tổng hợp số lượng từng mặt hàng theo ngày lĩnh hàng — phục vụ bộ phận bếp và kho chuẩn bị hàng hóa.</a:t>
            </a:r>
            <a:endParaRPr lang="en-US" sz="1000" dirty="0"/>
          </a:p>
        </p:txBody>
      </p:sp>
      <p:sp>
        <p:nvSpPr>
          <p:cNvPr id="9" name="Shape 7"/>
          <p:cNvSpPr/>
          <p:nvPr/>
        </p:nvSpPr>
        <p:spPr>
          <a:xfrm>
            <a:off x="182880" y="2834640"/>
            <a:ext cx="2926080" cy="320040"/>
          </a:xfrm>
          <a:prstGeom prst="rect">
            <a:avLst/>
          </a:prstGeom>
          <a:solidFill>
            <a:srgbClr val="1F3864"/>
          </a:solidFill>
          <a:ln/>
        </p:spPr>
      </p:sp>
      <p:sp>
        <p:nvSpPr>
          <p:cNvPr id="10" name="Text 8"/>
          <p:cNvSpPr/>
          <p:nvPr/>
        </p:nvSpPr>
        <p:spPr>
          <a:xfrm>
            <a:off x="228600" y="2852928"/>
            <a:ext cx="2834640" cy="274320"/>
          </a:xfrm>
          <a:prstGeom prst="rect">
            <a:avLst/>
          </a:prstGeom>
          <a:noFill/>
          <a:ln/>
        </p:spPr>
        <p:txBody>
          <a:bodyPr wrap="square" rtlCol="0" anchor="ctr"/>
          <a:lstStyle/>
          <a:p>
            <a:pPr indent="0" marL="0">
              <a:buNone/>
            </a:pPr>
            <a:r>
              <a:rPr lang="en-US" sz="850" dirty="0">
                <a:solidFill>
                  <a:srgbClr val="FFFFFF"/>
                </a:solidFill>
                <a:latin typeface="Courier New" pitchFamily="34" charset="0"/>
                <a:ea typeface="Courier New" pitchFamily="34" charset="-122"/>
                <a:cs typeface="Courier New" pitchFamily="34" charset="-120"/>
              </a:rPr>
              <a:t>Đường dẫn: kitchen-summary.png</a:t>
            </a:r>
            <a:endParaRPr lang="en-US" sz="850" dirty="0"/>
          </a:p>
        </p:txBody>
      </p:sp>
      <p:sp>
        <p:nvSpPr>
          <p:cNvPr id="11" name="Text 9"/>
          <p:cNvSpPr/>
          <p:nvPr/>
        </p:nvSpPr>
        <p:spPr>
          <a:xfrm>
            <a:off x="182880" y="3273552"/>
            <a:ext cx="3017520" cy="237744"/>
          </a:xfrm>
          <a:prstGeom prst="rect">
            <a:avLst/>
          </a:prstGeom>
          <a:noFill/>
          <a:ln/>
        </p:spPr>
        <p:txBody>
          <a:bodyPr wrap="square" rtlCol="0" anchor="ctr"/>
          <a:lstStyle/>
          <a:p>
            <a:pPr indent="0" marL="0">
              <a:buNone/>
            </a:pPr>
            <a:r>
              <a:rPr lang="en-US" sz="800" dirty="0">
                <a:solidFill>
                  <a:srgbClr val="595959"/>
                </a:solidFill>
                <a:latin typeface="Times New Roman" pitchFamily="34" charset="0"/>
                <a:ea typeface="Times New Roman" pitchFamily="34" charset="-122"/>
                <a:cs typeface="Times New Roman" pitchFamily="34" charset="-120"/>
              </a:rPr>
              <a:t>• Tổng hợp số lượng từng mặt hàng</a:t>
            </a:r>
            <a:endParaRPr lang="en-US" sz="800" dirty="0"/>
          </a:p>
        </p:txBody>
      </p:sp>
      <p:sp>
        <p:nvSpPr>
          <p:cNvPr id="12" name="Text 10"/>
          <p:cNvSpPr/>
          <p:nvPr/>
        </p:nvSpPr>
        <p:spPr>
          <a:xfrm>
            <a:off x="182880" y="3529584"/>
            <a:ext cx="3017520" cy="237744"/>
          </a:xfrm>
          <a:prstGeom prst="rect">
            <a:avLst/>
          </a:prstGeom>
          <a:noFill/>
          <a:ln/>
        </p:spPr>
        <p:txBody>
          <a:bodyPr wrap="square" rtlCol="0" anchor="ctr"/>
          <a:lstStyle/>
          <a:p>
            <a:pPr indent="0" marL="0">
              <a:buNone/>
            </a:pPr>
            <a:r>
              <a:rPr lang="en-US" sz="800" dirty="0">
                <a:solidFill>
                  <a:srgbClr val="595959"/>
                </a:solidFill>
                <a:latin typeface="Times New Roman" pitchFamily="34" charset="0"/>
                <a:ea typeface="Times New Roman" pitchFamily="34" charset="-122"/>
                <a:cs typeface="Times New Roman" pitchFamily="34" charset="-120"/>
              </a:rPr>
              <a:t>• Theo ngày lĩnh hàng (collection date)</a:t>
            </a:r>
            <a:endParaRPr lang="en-US" sz="800" dirty="0"/>
          </a:p>
        </p:txBody>
      </p:sp>
      <p:sp>
        <p:nvSpPr>
          <p:cNvPr id="13" name="Text 11"/>
          <p:cNvSpPr/>
          <p:nvPr/>
        </p:nvSpPr>
        <p:spPr>
          <a:xfrm>
            <a:off x="182880" y="3785616"/>
            <a:ext cx="3017520" cy="237744"/>
          </a:xfrm>
          <a:prstGeom prst="rect">
            <a:avLst/>
          </a:prstGeom>
          <a:noFill/>
          <a:ln/>
        </p:spPr>
        <p:txBody>
          <a:bodyPr wrap="square" rtlCol="0" anchor="ctr"/>
          <a:lstStyle/>
          <a:p>
            <a:pPr indent="0" marL="0">
              <a:buNone/>
            </a:pPr>
            <a:r>
              <a:rPr lang="en-US" sz="800" dirty="0">
                <a:solidFill>
                  <a:srgbClr val="595959"/>
                </a:solidFill>
                <a:latin typeface="Times New Roman" pitchFamily="34" charset="0"/>
                <a:ea typeface="Times New Roman" pitchFamily="34" charset="-122"/>
                <a:cs typeface="Times New Roman" pitchFamily="34" charset="-120"/>
              </a:rPr>
              <a:t>• Phục vụ bộ phận bếp và kho</a:t>
            </a:r>
            <a:endParaRPr lang="en-US" sz="800" dirty="0"/>
          </a:p>
        </p:txBody>
      </p:sp>
      <p:sp>
        <p:nvSpPr>
          <p:cNvPr id="14" name="Shape 12"/>
          <p:cNvSpPr/>
          <p:nvPr/>
        </p:nvSpPr>
        <p:spPr>
          <a:xfrm>
            <a:off x="3483864" y="557784"/>
            <a:ext cx="5623560" cy="4233672"/>
          </a:xfrm>
          <a:prstGeom prst="rect">
            <a:avLst/>
          </a:prstGeom>
          <a:solidFill>
            <a:srgbClr val="D9D9D9"/>
          </a:solidFill>
          <a:ln/>
          <a:effectLst>
            <a:outerShdw sx="100000" sy="100000" kx="0" ky="0" algn="bl" rotWithShape="0" blurRad="76200" dist="38100" dir="2700000">
              <a:srgbClr val="000000">
                <a:alpha val="25000"/>
              </a:srgbClr>
            </a:outerShdw>
          </a:effectLst>
        </p:spPr>
      </p:sp>
      <p:pic>
        <p:nvPicPr>
          <p:cNvPr id="15" name="Image 0" descr="D:\pet\carteen\tools\screenshots\kitchen-summary.png">    </p:cNvPr>
          <p:cNvPicPr>
            <a:picLocks noChangeAspect="1"/>
          </p:cNvPicPr>
          <p:nvPr/>
        </p:nvPicPr>
        <p:blipFill>
          <a:blip r:embed="rId1"/>
          <a:srcRect l="0" r="0" t="0" b="0"/>
          <a:stretch/>
        </p:blipFill>
        <p:spPr>
          <a:xfrm>
            <a:off x="3429000" y="521208"/>
            <a:ext cx="5623560" cy="4233672"/>
          </a:xfrm>
          <a:prstGeom prst="rect">
            <a:avLst/>
          </a:prstGeom>
        </p:spPr>
      </p:pic>
      <p:sp>
        <p:nvSpPr>
          <p:cNvPr id="16" name="Shape 13"/>
          <p:cNvSpPr/>
          <p:nvPr/>
        </p:nvSpPr>
        <p:spPr>
          <a:xfrm>
            <a:off x="3429000" y="521208"/>
            <a:ext cx="5623560" cy="4233672"/>
          </a:xfrm>
          <a:prstGeom prst="rect">
            <a:avLst/>
          </a:prstGeom>
          <a:ln w="12700">
            <a:solidFill>
              <a:srgbClr val="D9D9D9"/>
            </a:solidFill>
            <a:prstDash val="solid"/>
          </a:ln>
        </p:spPr>
      </p:sp>
      <p:sp>
        <p:nvSpPr>
          <p:cNvPr id="17" name="Shape 14"/>
          <p:cNvSpPr/>
          <p:nvPr/>
        </p:nvSpPr>
        <p:spPr>
          <a:xfrm>
            <a:off x="0" y="4828032"/>
            <a:ext cx="9144000" cy="320040"/>
          </a:xfrm>
          <a:prstGeom prst="rect">
            <a:avLst/>
          </a:prstGeom>
          <a:solidFill>
            <a:srgbClr val="1F3864"/>
          </a:solidFill>
          <a:ln/>
        </p:spPr>
      </p:sp>
      <p:sp>
        <p:nvSpPr>
          <p:cNvPr id="18" name="Text 15"/>
          <p:cNvSpPr/>
          <p:nvPr/>
        </p:nvSpPr>
        <p:spPr>
          <a:xfrm>
            <a:off x="182880" y="4873752"/>
            <a:ext cx="8778240" cy="237744"/>
          </a:xfrm>
          <a:prstGeom prst="rect">
            <a:avLst/>
          </a:prstGeom>
          <a:noFill/>
          <a:ln/>
        </p:spPr>
        <p:txBody>
          <a:bodyPr wrap="square" rtlCol="0" anchor="ctr"/>
          <a:lstStyle/>
          <a:p>
            <a:pPr algn="ctr" indent="0" marL="0">
              <a:buNone/>
            </a:pPr>
            <a:r>
              <a:rPr lang="en-US" sz="700" dirty="0">
                <a:solidFill>
                  <a:srgbClr val="DEEAF1"/>
                </a:solidFill>
                <a:latin typeface="Times New Roman" pitchFamily="34" charset="0"/>
                <a:ea typeface="Times New Roman" pitchFamily="34" charset="-122"/>
                <a:cs typeface="Times New Roman" pitchFamily="34" charset="-120"/>
              </a:rPr>
              <a:t>Hệ thống Quản lý Căn-teen Trại Giam   |   Tổng kết Bếp / Kho</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2E74B5"/>
          </a:solidFill>
          <a:ln/>
        </p:spPr>
      </p:sp>
      <p:sp>
        <p:nvSpPr>
          <p:cNvPr id="3" name="Text 1"/>
          <p:cNvSpPr/>
          <p:nvPr/>
        </p:nvSpPr>
        <p:spPr>
          <a:xfrm>
            <a:off x="457200" y="548640"/>
            <a:ext cx="1828800" cy="1828800"/>
          </a:xfrm>
          <a:prstGeom prst="rect">
            <a:avLst/>
          </a:prstGeom>
          <a:noFill/>
          <a:ln/>
        </p:spPr>
        <p:txBody>
          <a:bodyPr wrap="square" rtlCol="0" anchor="ctr"/>
          <a:lstStyle/>
          <a:p>
            <a:pPr indent="0" marL="0">
              <a:buNone/>
            </a:pPr>
            <a:r>
              <a:rPr lang="en-US" sz="9000" b="1" dirty="0">
                <a:solidFill>
                  <a:srgbClr val="FFFFFF">
                    <a:alpha val="30000"/>
                  </a:srgbClr>
                </a:solidFill>
                <a:latin typeface="Times New Roman" pitchFamily="34" charset="0"/>
                <a:ea typeface="Times New Roman" pitchFamily="34" charset="-122"/>
                <a:cs typeface="Times New Roman" pitchFamily="34" charset="-120"/>
              </a:rPr>
              <a:t>03</a:t>
            </a:r>
            <a:endParaRPr lang="en-US" sz="9000" dirty="0"/>
          </a:p>
        </p:txBody>
      </p:sp>
      <p:sp>
        <p:nvSpPr>
          <p:cNvPr id="4" name="Shape 2"/>
          <p:cNvSpPr/>
          <p:nvPr/>
        </p:nvSpPr>
        <p:spPr>
          <a:xfrm>
            <a:off x="0" y="1828800"/>
            <a:ext cx="91440" cy="1645920"/>
          </a:xfrm>
          <a:prstGeom prst="rect">
            <a:avLst/>
          </a:prstGeom>
          <a:solidFill>
            <a:srgbClr val="C00000"/>
          </a:solidFill>
          <a:ln/>
        </p:spPr>
      </p:sp>
      <p:sp>
        <p:nvSpPr>
          <p:cNvPr id="5" name="Text 3"/>
          <p:cNvSpPr/>
          <p:nvPr/>
        </p:nvSpPr>
        <p:spPr>
          <a:xfrm>
            <a:off x="365760" y="1828800"/>
            <a:ext cx="8229600" cy="365760"/>
          </a:xfrm>
          <a:prstGeom prst="rect">
            <a:avLst/>
          </a:prstGeom>
          <a:noFill/>
          <a:ln/>
        </p:spPr>
        <p:txBody>
          <a:bodyPr wrap="square" rtlCol="0" anchor="ctr"/>
          <a:lstStyle/>
          <a:p>
            <a:pPr indent="0" marL="0">
              <a:buNone/>
            </a:pPr>
            <a:r>
              <a:rPr lang="en-US" sz="1100" i="1" dirty="0">
                <a:solidFill>
                  <a:srgbClr val="DEEAF1"/>
                </a:solidFill>
                <a:latin typeface="Times New Roman" pitchFamily="34" charset="0"/>
                <a:ea typeface="Times New Roman" pitchFamily="34" charset="-122"/>
                <a:cs typeface="Times New Roman" pitchFamily="34" charset="-120"/>
              </a:rPr>
              <a:t>Nhóm chức năng</a:t>
            </a:r>
            <a:endParaRPr lang="en-US" sz="1100" dirty="0"/>
          </a:p>
        </p:txBody>
      </p:sp>
      <p:sp>
        <p:nvSpPr>
          <p:cNvPr id="6" name="Text 4"/>
          <p:cNvSpPr/>
          <p:nvPr/>
        </p:nvSpPr>
        <p:spPr>
          <a:xfrm>
            <a:off x="365760" y="2194560"/>
            <a:ext cx="8229600" cy="1097280"/>
          </a:xfrm>
          <a:prstGeom prst="rect">
            <a:avLst/>
          </a:prstGeom>
          <a:noFill/>
          <a:ln/>
        </p:spPr>
        <p:txBody>
          <a:bodyPr wrap="square" rtlCol="0" anchor="ctr"/>
          <a:lstStyle/>
          <a:p>
            <a:pPr indent="0" marL="0">
              <a:buNone/>
            </a:pPr>
            <a:r>
              <a:rPr lang="en-US" sz="3000" b="1" dirty="0">
                <a:solidFill>
                  <a:srgbClr val="FFFFFF"/>
                </a:solidFill>
                <a:latin typeface="Times New Roman" pitchFamily="34" charset="0"/>
                <a:ea typeface="Times New Roman" pitchFamily="34" charset="-122"/>
                <a:cs typeface="Times New Roman" pitchFamily="34" charset="-120"/>
              </a:rPr>
              <a:t>Quầy Thu ngân</a:t>
            </a:r>
            <a:endParaRPr lang="en-US" sz="3000" dirty="0"/>
          </a:p>
        </p:txBody>
      </p:sp>
      <p:sp>
        <p:nvSpPr>
          <p:cNvPr id="7" name="Text 5"/>
          <p:cNvSpPr/>
          <p:nvPr/>
        </p:nvSpPr>
        <p:spPr>
          <a:xfrm>
            <a:off x="7772400" y="4507992"/>
            <a:ext cx="1097280" cy="320040"/>
          </a:xfrm>
          <a:prstGeom prst="rect">
            <a:avLst/>
          </a:prstGeom>
          <a:noFill/>
          <a:ln/>
        </p:spPr>
        <p:txBody>
          <a:bodyPr wrap="square" rtlCol="0" anchor="ctr"/>
          <a:lstStyle/>
          <a:p>
            <a:pPr algn="r" indent="0" marL="0">
              <a:buNone/>
            </a:pPr>
            <a:r>
              <a:rPr lang="en-US" sz="900" dirty="0">
                <a:solidFill>
                  <a:srgbClr val="DEEAF1"/>
                </a:solidFill>
                <a:latin typeface="Times New Roman" pitchFamily="34" charset="0"/>
                <a:ea typeface="Times New Roman" pitchFamily="34" charset="-122"/>
                <a:cs typeface="Times New Roman" pitchFamily="34" charset="-120"/>
              </a:rPr>
              <a:t>3 / 6</a:t>
            </a:r>
            <a:endParaRPr lang="en-US" sz="900" dirty="0"/>
          </a:p>
        </p:txBody>
      </p:sp>
      <p:sp>
        <p:nvSpPr>
          <p:cNvPr id="8" name="Shape 6"/>
          <p:cNvSpPr/>
          <p:nvPr/>
        </p:nvSpPr>
        <p:spPr>
          <a:xfrm>
            <a:off x="0" y="4828032"/>
            <a:ext cx="9144000" cy="320040"/>
          </a:xfrm>
          <a:prstGeom prst="rect">
            <a:avLst/>
          </a:prstGeom>
          <a:solidFill>
            <a:srgbClr val="1F3864"/>
          </a:solidFill>
          <a:ln/>
        </p:spPr>
      </p:sp>
      <p:sp>
        <p:nvSpPr>
          <p:cNvPr id="9" name="Text 7"/>
          <p:cNvSpPr/>
          <p:nvPr/>
        </p:nvSpPr>
        <p:spPr>
          <a:xfrm>
            <a:off x="182880" y="4873752"/>
            <a:ext cx="8778240" cy="237744"/>
          </a:xfrm>
          <a:prstGeom prst="rect">
            <a:avLst/>
          </a:prstGeom>
          <a:noFill/>
          <a:ln/>
        </p:spPr>
        <p:txBody>
          <a:bodyPr wrap="square" rtlCol="0" anchor="ctr"/>
          <a:lstStyle/>
          <a:p>
            <a:pPr algn="ctr" indent="0" marL="0">
              <a:buNone/>
            </a:pPr>
            <a:r>
              <a:rPr lang="en-US" sz="700" dirty="0">
                <a:solidFill>
                  <a:srgbClr val="DEEAF1"/>
                </a:solidFill>
                <a:latin typeface="Times New Roman" pitchFamily="34" charset="0"/>
                <a:ea typeface="Times New Roman" pitchFamily="34" charset="-122"/>
                <a:cs typeface="Times New Roman" pitchFamily="34" charset="-120"/>
              </a:rPr>
              <a:t>Hệ thống Quản lý Căn-teen Trại Giam</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FFFFF"/>
          </a:solidFill>
          <a:ln/>
        </p:spPr>
      </p:sp>
      <p:sp>
        <p:nvSpPr>
          <p:cNvPr id="3" name="Shape 1"/>
          <p:cNvSpPr/>
          <p:nvPr/>
        </p:nvSpPr>
        <p:spPr>
          <a:xfrm>
            <a:off x="0" y="0"/>
            <a:ext cx="9144000" cy="502920"/>
          </a:xfrm>
          <a:prstGeom prst="rect">
            <a:avLst/>
          </a:prstGeom>
          <a:solidFill>
            <a:srgbClr val="1F3864"/>
          </a:solidFill>
          <a:ln/>
        </p:spPr>
      </p:sp>
      <p:sp>
        <p:nvSpPr>
          <p:cNvPr id="4" name="Text 2"/>
          <p:cNvSpPr/>
          <p:nvPr/>
        </p:nvSpPr>
        <p:spPr>
          <a:xfrm>
            <a:off x="228600" y="73152"/>
            <a:ext cx="8686800" cy="347472"/>
          </a:xfrm>
          <a:prstGeom prst="rect">
            <a:avLst/>
          </a:prstGeom>
          <a:noFill/>
          <a:ln/>
        </p:spPr>
        <p:txBody>
          <a:bodyPr wrap="square" rtlCol="0" anchor="ctr"/>
          <a:lstStyle/>
          <a:p>
            <a:pPr indent="0" marL="0">
              <a:buNone/>
            </a:pPr>
            <a:r>
              <a:rPr lang="en-US" sz="900" i="1" dirty="0">
                <a:solidFill>
                  <a:srgbClr val="DEEAF1"/>
                </a:solidFill>
                <a:latin typeface="Times New Roman" pitchFamily="34" charset="0"/>
                <a:ea typeface="Times New Roman" pitchFamily="34" charset="-122"/>
                <a:cs typeface="Times New Roman" pitchFamily="34" charset="-120"/>
              </a:rPr>
              <a:t>Quầy Thu ngân</a:t>
            </a:r>
            <a:endParaRPr lang="en-US" sz="900" dirty="0"/>
          </a:p>
        </p:txBody>
      </p:sp>
      <p:sp>
        <p:nvSpPr>
          <p:cNvPr id="5" name="Shape 3"/>
          <p:cNvSpPr/>
          <p:nvPr/>
        </p:nvSpPr>
        <p:spPr>
          <a:xfrm>
            <a:off x="0" y="502920"/>
            <a:ext cx="3291840" cy="4325112"/>
          </a:xfrm>
          <a:prstGeom prst="rect">
            <a:avLst/>
          </a:prstGeom>
          <a:solidFill>
            <a:srgbClr val="F5F7FA"/>
          </a:solidFill>
          <a:ln/>
        </p:spPr>
      </p:sp>
      <p:sp>
        <p:nvSpPr>
          <p:cNvPr id="6" name="Text 4"/>
          <p:cNvSpPr/>
          <p:nvPr/>
        </p:nvSpPr>
        <p:spPr>
          <a:xfrm>
            <a:off x="182880" y="594360"/>
            <a:ext cx="3017520" cy="640080"/>
          </a:xfrm>
          <a:prstGeom prst="rect">
            <a:avLst/>
          </a:prstGeom>
          <a:noFill/>
          <a:ln/>
        </p:spPr>
        <p:txBody>
          <a:bodyPr wrap="square" rtlCol="0" anchor="ctr"/>
          <a:lstStyle/>
          <a:p>
            <a:pPr indent="0" marL="0">
              <a:buNone/>
            </a:pPr>
            <a:r>
              <a:rPr lang="en-US" sz="1500" b="1" dirty="0">
                <a:solidFill>
                  <a:srgbClr val="1F3864"/>
                </a:solidFill>
                <a:latin typeface="Times New Roman" pitchFamily="34" charset="0"/>
                <a:ea typeface="Times New Roman" pitchFamily="34" charset="-122"/>
                <a:cs typeface="Times New Roman" pitchFamily="34" charset="-120"/>
              </a:rPr>
              <a:t>Quầy Thu ngân — Giao diện chính</a:t>
            </a:r>
            <a:endParaRPr lang="en-US" sz="1500" dirty="0"/>
          </a:p>
        </p:txBody>
      </p:sp>
      <p:sp>
        <p:nvSpPr>
          <p:cNvPr id="7" name="Shape 5"/>
          <p:cNvSpPr/>
          <p:nvPr/>
        </p:nvSpPr>
        <p:spPr>
          <a:xfrm>
            <a:off x="182880" y="1234440"/>
            <a:ext cx="2926080" cy="36576"/>
          </a:xfrm>
          <a:prstGeom prst="rect">
            <a:avLst/>
          </a:prstGeom>
          <a:solidFill>
            <a:srgbClr val="2E74B5"/>
          </a:solidFill>
          <a:ln/>
        </p:spPr>
      </p:sp>
      <p:sp>
        <p:nvSpPr>
          <p:cNvPr id="8" name="Text 6"/>
          <p:cNvSpPr/>
          <p:nvPr/>
        </p:nvSpPr>
        <p:spPr>
          <a:xfrm>
            <a:off x="182880" y="1353312"/>
            <a:ext cx="3017520" cy="1371600"/>
          </a:xfrm>
          <a:prstGeom prst="rect">
            <a:avLst/>
          </a:prstGeom>
          <a:noFill/>
          <a:ln/>
        </p:spPr>
        <p:txBody>
          <a:bodyPr wrap="square" rtlCol="0" anchor="t"/>
          <a:lstStyle/>
          <a:p>
            <a:pPr indent="0" marL="0">
              <a:buNone/>
            </a:pPr>
            <a:r>
              <a:rPr lang="en-US" sz="1000" dirty="0">
                <a:solidFill>
                  <a:srgbClr val="1A1A2E"/>
                </a:solidFill>
                <a:latin typeface="Times New Roman" pitchFamily="34" charset="0"/>
                <a:ea typeface="Times New Roman" pitchFamily="34" charset="-122"/>
                <a:cs typeface="Times New Roman" pitchFamily="34" charset="-120"/>
              </a:rPr>
              <a:t>Giao diện quầy thu ngân: ô tìm kiếm phạm nhân theo mã lưu ký và hàng đợi đơn hàng PENDING chờ duyệt phía dưới.</a:t>
            </a:r>
            <a:endParaRPr lang="en-US" sz="1000" dirty="0"/>
          </a:p>
        </p:txBody>
      </p:sp>
      <p:sp>
        <p:nvSpPr>
          <p:cNvPr id="9" name="Shape 7"/>
          <p:cNvSpPr/>
          <p:nvPr/>
        </p:nvSpPr>
        <p:spPr>
          <a:xfrm>
            <a:off x="182880" y="2834640"/>
            <a:ext cx="2926080" cy="320040"/>
          </a:xfrm>
          <a:prstGeom prst="rect">
            <a:avLst/>
          </a:prstGeom>
          <a:solidFill>
            <a:srgbClr val="1F3864"/>
          </a:solidFill>
          <a:ln/>
        </p:spPr>
      </p:sp>
      <p:sp>
        <p:nvSpPr>
          <p:cNvPr id="10" name="Text 8"/>
          <p:cNvSpPr/>
          <p:nvPr/>
        </p:nvSpPr>
        <p:spPr>
          <a:xfrm>
            <a:off x="228600" y="2852928"/>
            <a:ext cx="2834640" cy="274320"/>
          </a:xfrm>
          <a:prstGeom prst="rect">
            <a:avLst/>
          </a:prstGeom>
          <a:noFill/>
          <a:ln/>
        </p:spPr>
        <p:txBody>
          <a:bodyPr wrap="square" rtlCol="0" anchor="ctr"/>
          <a:lstStyle/>
          <a:p>
            <a:pPr indent="0" marL="0">
              <a:buNone/>
            </a:pPr>
            <a:r>
              <a:rPr lang="en-US" sz="850" dirty="0">
                <a:solidFill>
                  <a:srgbClr val="FFFFFF"/>
                </a:solidFill>
                <a:latin typeface="Courier New" pitchFamily="34" charset="0"/>
                <a:ea typeface="Courier New" pitchFamily="34" charset="-122"/>
                <a:cs typeface="Courier New" pitchFamily="34" charset="-120"/>
              </a:rPr>
              <a:t>Đường dẫn: counter-empty.png</a:t>
            </a:r>
            <a:endParaRPr lang="en-US" sz="850" dirty="0"/>
          </a:p>
        </p:txBody>
      </p:sp>
      <p:sp>
        <p:nvSpPr>
          <p:cNvPr id="11" name="Shape 9"/>
          <p:cNvSpPr/>
          <p:nvPr/>
        </p:nvSpPr>
        <p:spPr>
          <a:xfrm>
            <a:off x="3483864" y="557784"/>
            <a:ext cx="5623560" cy="4233672"/>
          </a:xfrm>
          <a:prstGeom prst="rect">
            <a:avLst/>
          </a:prstGeom>
          <a:solidFill>
            <a:srgbClr val="D9D9D9"/>
          </a:solidFill>
          <a:ln/>
          <a:effectLst>
            <a:outerShdw sx="100000" sy="100000" kx="0" ky="0" algn="bl" rotWithShape="0" blurRad="76200" dist="38100" dir="2700000">
              <a:srgbClr val="000000">
                <a:alpha val="25000"/>
              </a:srgbClr>
            </a:outerShdw>
          </a:effectLst>
        </p:spPr>
      </p:sp>
      <p:pic>
        <p:nvPicPr>
          <p:cNvPr id="12" name="Image 0" descr="D:\pet\carteen\tools\screenshots\counter-empty.png">    </p:cNvPr>
          <p:cNvPicPr>
            <a:picLocks noChangeAspect="1"/>
          </p:cNvPicPr>
          <p:nvPr/>
        </p:nvPicPr>
        <p:blipFill>
          <a:blip r:embed="rId1"/>
          <a:srcRect l="0" r="0" t="0" b="0"/>
          <a:stretch/>
        </p:blipFill>
        <p:spPr>
          <a:xfrm>
            <a:off x="3429000" y="521208"/>
            <a:ext cx="5623560" cy="4233672"/>
          </a:xfrm>
          <a:prstGeom prst="rect">
            <a:avLst/>
          </a:prstGeom>
        </p:spPr>
      </p:pic>
      <p:sp>
        <p:nvSpPr>
          <p:cNvPr id="13" name="Shape 10"/>
          <p:cNvSpPr/>
          <p:nvPr/>
        </p:nvSpPr>
        <p:spPr>
          <a:xfrm>
            <a:off x="3429000" y="521208"/>
            <a:ext cx="5623560" cy="4233672"/>
          </a:xfrm>
          <a:prstGeom prst="rect">
            <a:avLst/>
          </a:prstGeom>
          <a:ln w="12700">
            <a:solidFill>
              <a:srgbClr val="D9D9D9"/>
            </a:solidFill>
            <a:prstDash val="solid"/>
          </a:ln>
        </p:spPr>
      </p:sp>
      <p:sp>
        <p:nvSpPr>
          <p:cNvPr id="14" name="Shape 11"/>
          <p:cNvSpPr/>
          <p:nvPr/>
        </p:nvSpPr>
        <p:spPr>
          <a:xfrm>
            <a:off x="0" y="4828032"/>
            <a:ext cx="9144000" cy="320040"/>
          </a:xfrm>
          <a:prstGeom prst="rect">
            <a:avLst/>
          </a:prstGeom>
          <a:solidFill>
            <a:srgbClr val="1F3864"/>
          </a:solidFill>
          <a:ln/>
        </p:spPr>
      </p:sp>
      <p:sp>
        <p:nvSpPr>
          <p:cNvPr id="15" name="Text 12"/>
          <p:cNvSpPr/>
          <p:nvPr/>
        </p:nvSpPr>
        <p:spPr>
          <a:xfrm>
            <a:off x="182880" y="4873752"/>
            <a:ext cx="8778240" cy="237744"/>
          </a:xfrm>
          <a:prstGeom prst="rect">
            <a:avLst/>
          </a:prstGeom>
          <a:noFill/>
          <a:ln/>
        </p:spPr>
        <p:txBody>
          <a:bodyPr wrap="square" rtlCol="0" anchor="ctr"/>
          <a:lstStyle/>
          <a:p>
            <a:pPr algn="ctr" indent="0" marL="0">
              <a:buNone/>
            </a:pPr>
            <a:r>
              <a:rPr lang="en-US" sz="700" dirty="0">
                <a:solidFill>
                  <a:srgbClr val="DEEAF1"/>
                </a:solidFill>
                <a:latin typeface="Times New Roman" pitchFamily="34" charset="0"/>
                <a:ea typeface="Times New Roman" pitchFamily="34" charset="-122"/>
                <a:cs typeface="Times New Roman" pitchFamily="34" charset="-120"/>
              </a:rPr>
              <a:t>Hệ thống Quản lý Căn-teen Trại Giam   |   Quầy Thu ngân — Giao diện chính</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FFFFF"/>
          </a:solidFill>
          <a:ln/>
        </p:spPr>
      </p:sp>
      <p:sp>
        <p:nvSpPr>
          <p:cNvPr id="3" name="Shape 1"/>
          <p:cNvSpPr/>
          <p:nvPr/>
        </p:nvSpPr>
        <p:spPr>
          <a:xfrm>
            <a:off x="0" y="0"/>
            <a:ext cx="9144000" cy="502920"/>
          </a:xfrm>
          <a:prstGeom prst="rect">
            <a:avLst/>
          </a:prstGeom>
          <a:solidFill>
            <a:srgbClr val="1F3864"/>
          </a:solidFill>
          <a:ln/>
        </p:spPr>
      </p:sp>
      <p:sp>
        <p:nvSpPr>
          <p:cNvPr id="4" name="Text 2"/>
          <p:cNvSpPr/>
          <p:nvPr/>
        </p:nvSpPr>
        <p:spPr>
          <a:xfrm>
            <a:off x="228600" y="73152"/>
            <a:ext cx="8686800" cy="347472"/>
          </a:xfrm>
          <a:prstGeom prst="rect">
            <a:avLst/>
          </a:prstGeom>
          <a:noFill/>
          <a:ln/>
        </p:spPr>
        <p:txBody>
          <a:bodyPr wrap="square" rtlCol="0" anchor="ctr"/>
          <a:lstStyle/>
          <a:p>
            <a:pPr indent="0" marL="0">
              <a:buNone/>
            </a:pPr>
            <a:r>
              <a:rPr lang="en-US" sz="900" i="1" dirty="0">
                <a:solidFill>
                  <a:srgbClr val="DEEAF1"/>
                </a:solidFill>
                <a:latin typeface="Times New Roman" pitchFamily="34" charset="0"/>
                <a:ea typeface="Times New Roman" pitchFamily="34" charset="-122"/>
                <a:cs typeface="Times New Roman" pitchFamily="34" charset="-120"/>
              </a:rPr>
              <a:t>Quầy Thu ngân</a:t>
            </a:r>
            <a:endParaRPr lang="en-US" sz="900" dirty="0"/>
          </a:p>
        </p:txBody>
      </p:sp>
      <p:sp>
        <p:nvSpPr>
          <p:cNvPr id="5" name="Shape 3"/>
          <p:cNvSpPr/>
          <p:nvPr/>
        </p:nvSpPr>
        <p:spPr>
          <a:xfrm>
            <a:off x="0" y="502920"/>
            <a:ext cx="3291840" cy="4325112"/>
          </a:xfrm>
          <a:prstGeom prst="rect">
            <a:avLst/>
          </a:prstGeom>
          <a:solidFill>
            <a:srgbClr val="F5F7FA"/>
          </a:solidFill>
          <a:ln/>
        </p:spPr>
      </p:sp>
      <p:sp>
        <p:nvSpPr>
          <p:cNvPr id="6" name="Text 4"/>
          <p:cNvSpPr/>
          <p:nvPr/>
        </p:nvSpPr>
        <p:spPr>
          <a:xfrm>
            <a:off x="182880" y="594360"/>
            <a:ext cx="3017520" cy="640080"/>
          </a:xfrm>
          <a:prstGeom prst="rect">
            <a:avLst/>
          </a:prstGeom>
          <a:noFill/>
          <a:ln/>
        </p:spPr>
        <p:txBody>
          <a:bodyPr wrap="square" rtlCol="0" anchor="ctr"/>
          <a:lstStyle/>
          <a:p>
            <a:pPr indent="0" marL="0">
              <a:buNone/>
            </a:pPr>
            <a:r>
              <a:rPr lang="en-US" sz="1500" b="1" dirty="0">
                <a:solidFill>
                  <a:srgbClr val="1F3864"/>
                </a:solidFill>
                <a:latin typeface="Times New Roman" pitchFamily="34" charset="0"/>
                <a:ea typeface="Times New Roman" pitchFamily="34" charset="-122"/>
                <a:cs typeface="Times New Roman" pitchFamily="34" charset="-120"/>
              </a:rPr>
              <a:t>Quầy Thu ngân — Thông tin Phạm nhân</a:t>
            </a:r>
            <a:endParaRPr lang="en-US" sz="1500" dirty="0"/>
          </a:p>
        </p:txBody>
      </p:sp>
      <p:sp>
        <p:nvSpPr>
          <p:cNvPr id="7" name="Shape 5"/>
          <p:cNvSpPr/>
          <p:nvPr/>
        </p:nvSpPr>
        <p:spPr>
          <a:xfrm>
            <a:off x="182880" y="1234440"/>
            <a:ext cx="2926080" cy="36576"/>
          </a:xfrm>
          <a:prstGeom prst="rect">
            <a:avLst/>
          </a:prstGeom>
          <a:solidFill>
            <a:srgbClr val="2E74B5"/>
          </a:solidFill>
          <a:ln/>
        </p:spPr>
      </p:sp>
      <p:sp>
        <p:nvSpPr>
          <p:cNvPr id="8" name="Text 6"/>
          <p:cNvSpPr/>
          <p:nvPr/>
        </p:nvSpPr>
        <p:spPr>
          <a:xfrm>
            <a:off x="182880" y="1353312"/>
            <a:ext cx="3017520" cy="1371600"/>
          </a:xfrm>
          <a:prstGeom prst="rect">
            <a:avLst/>
          </a:prstGeom>
          <a:noFill/>
          <a:ln/>
        </p:spPr>
        <p:txBody>
          <a:bodyPr wrap="square" rtlCol="0" anchor="t"/>
          <a:lstStyle/>
          <a:p>
            <a:pPr indent="0" marL="0">
              <a:buNone/>
            </a:pPr>
            <a:r>
              <a:rPr lang="en-US" sz="1000" dirty="0">
                <a:solidFill>
                  <a:srgbClr val="1A1A2E"/>
                </a:solidFill>
                <a:latin typeface="Times New Roman" pitchFamily="34" charset="0"/>
                <a:ea typeface="Times New Roman" pitchFamily="34" charset="-122"/>
                <a:cs typeface="Times New Roman" pitchFamily="34" charset="-120"/>
              </a:rPr>
              <a:t>Sau khi tra cứu mã lưu ký: hiển thị hồ sơ, số dư tài khoản, lịch sử giao dịch, form nạp tiền và form đặt hàng hộ.</a:t>
            </a:r>
            <a:endParaRPr lang="en-US" sz="1000" dirty="0"/>
          </a:p>
        </p:txBody>
      </p:sp>
      <p:sp>
        <p:nvSpPr>
          <p:cNvPr id="9" name="Shape 7"/>
          <p:cNvSpPr/>
          <p:nvPr/>
        </p:nvSpPr>
        <p:spPr>
          <a:xfrm>
            <a:off x="182880" y="2834640"/>
            <a:ext cx="2926080" cy="320040"/>
          </a:xfrm>
          <a:prstGeom prst="rect">
            <a:avLst/>
          </a:prstGeom>
          <a:solidFill>
            <a:srgbClr val="1F3864"/>
          </a:solidFill>
          <a:ln/>
        </p:spPr>
      </p:sp>
      <p:sp>
        <p:nvSpPr>
          <p:cNvPr id="10" name="Text 8"/>
          <p:cNvSpPr/>
          <p:nvPr/>
        </p:nvSpPr>
        <p:spPr>
          <a:xfrm>
            <a:off x="228600" y="2852928"/>
            <a:ext cx="2834640" cy="274320"/>
          </a:xfrm>
          <a:prstGeom prst="rect">
            <a:avLst/>
          </a:prstGeom>
          <a:noFill/>
          <a:ln/>
        </p:spPr>
        <p:txBody>
          <a:bodyPr wrap="square" rtlCol="0" anchor="ctr"/>
          <a:lstStyle/>
          <a:p>
            <a:pPr indent="0" marL="0">
              <a:buNone/>
            </a:pPr>
            <a:r>
              <a:rPr lang="en-US" sz="850" dirty="0">
                <a:solidFill>
                  <a:srgbClr val="FFFFFF"/>
                </a:solidFill>
                <a:latin typeface="Courier New" pitchFamily="34" charset="0"/>
                <a:ea typeface="Courier New" pitchFamily="34" charset="-122"/>
                <a:cs typeface="Courier New" pitchFamily="34" charset="-120"/>
              </a:rPr>
              <a:t>Đường dẫn: counter-lookup.png</a:t>
            </a:r>
            <a:endParaRPr lang="en-US" sz="850" dirty="0"/>
          </a:p>
        </p:txBody>
      </p:sp>
      <p:sp>
        <p:nvSpPr>
          <p:cNvPr id="11" name="Shape 9"/>
          <p:cNvSpPr/>
          <p:nvPr/>
        </p:nvSpPr>
        <p:spPr>
          <a:xfrm>
            <a:off x="3483864" y="557784"/>
            <a:ext cx="5623560" cy="4233672"/>
          </a:xfrm>
          <a:prstGeom prst="rect">
            <a:avLst/>
          </a:prstGeom>
          <a:solidFill>
            <a:srgbClr val="D9D9D9"/>
          </a:solidFill>
          <a:ln/>
          <a:effectLst>
            <a:outerShdw sx="100000" sy="100000" kx="0" ky="0" algn="bl" rotWithShape="0" blurRad="76200" dist="38100" dir="2700000">
              <a:srgbClr val="000000">
                <a:alpha val="25000"/>
              </a:srgbClr>
            </a:outerShdw>
          </a:effectLst>
        </p:spPr>
      </p:sp>
      <p:pic>
        <p:nvPicPr>
          <p:cNvPr id="12" name="Image 0" descr="D:\pet\carteen\tools\screenshots\counter-lookup.png">    </p:cNvPr>
          <p:cNvPicPr>
            <a:picLocks noChangeAspect="1"/>
          </p:cNvPicPr>
          <p:nvPr/>
        </p:nvPicPr>
        <p:blipFill>
          <a:blip r:embed="rId1"/>
          <a:srcRect l="0" r="0" t="0" b="0"/>
          <a:stretch/>
        </p:blipFill>
        <p:spPr>
          <a:xfrm>
            <a:off x="3429000" y="521208"/>
            <a:ext cx="5623560" cy="4233672"/>
          </a:xfrm>
          <a:prstGeom prst="rect">
            <a:avLst/>
          </a:prstGeom>
        </p:spPr>
      </p:pic>
      <p:sp>
        <p:nvSpPr>
          <p:cNvPr id="13" name="Shape 10"/>
          <p:cNvSpPr/>
          <p:nvPr/>
        </p:nvSpPr>
        <p:spPr>
          <a:xfrm>
            <a:off x="3429000" y="521208"/>
            <a:ext cx="5623560" cy="4233672"/>
          </a:xfrm>
          <a:prstGeom prst="rect">
            <a:avLst/>
          </a:prstGeom>
          <a:ln w="12700">
            <a:solidFill>
              <a:srgbClr val="D9D9D9"/>
            </a:solidFill>
            <a:prstDash val="solid"/>
          </a:ln>
        </p:spPr>
      </p:sp>
      <p:sp>
        <p:nvSpPr>
          <p:cNvPr id="14" name="Shape 11"/>
          <p:cNvSpPr/>
          <p:nvPr/>
        </p:nvSpPr>
        <p:spPr>
          <a:xfrm>
            <a:off x="0" y="4828032"/>
            <a:ext cx="9144000" cy="320040"/>
          </a:xfrm>
          <a:prstGeom prst="rect">
            <a:avLst/>
          </a:prstGeom>
          <a:solidFill>
            <a:srgbClr val="1F3864"/>
          </a:solidFill>
          <a:ln/>
        </p:spPr>
      </p:sp>
      <p:sp>
        <p:nvSpPr>
          <p:cNvPr id="15" name="Text 12"/>
          <p:cNvSpPr/>
          <p:nvPr/>
        </p:nvSpPr>
        <p:spPr>
          <a:xfrm>
            <a:off x="182880" y="4873752"/>
            <a:ext cx="8778240" cy="237744"/>
          </a:xfrm>
          <a:prstGeom prst="rect">
            <a:avLst/>
          </a:prstGeom>
          <a:noFill/>
          <a:ln/>
        </p:spPr>
        <p:txBody>
          <a:bodyPr wrap="square" rtlCol="0" anchor="ctr"/>
          <a:lstStyle/>
          <a:p>
            <a:pPr algn="ctr" indent="0" marL="0">
              <a:buNone/>
            </a:pPr>
            <a:r>
              <a:rPr lang="en-US" sz="700" dirty="0">
                <a:solidFill>
                  <a:srgbClr val="DEEAF1"/>
                </a:solidFill>
                <a:latin typeface="Times New Roman" pitchFamily="34" charset="0"/>
                <a:ea typeface="Times New Roman" pitchFamily="34" charset="-122"/>
                <a:cs typeface="Times New Roman" pitchFamily="34" charset="-120"/>
              </a:rPr>
              <a:t>Hệ thống Quản lý Căn-teen Trại Giam   |   Quầy Thu ngân — Thông tin Phạm nhân</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FFFFF"/>
          </a:solidFill>
          <a:ln/>
        </p:spPr>
      </p:sp>
      <p:sp>
        <p:nvSpPr>
          <p:cNvPr id="3" name="Shape 1"/>
          <p:cNvSpPr/>
          <p:nvPr/>
        </p:nvSpPr>
        <p:spPr>
          <a:xfrm>
            <a:off x="0" y="0"/>
            <a:ext cx="9144000" cy="502920"/>
          </a:xfrm>
          <a:prstGeom prst="rect">
            <a:avLst/>
          </a:prstGeom>
          <a:solidFill>
            <a:srgbClr val="1F3864"/>
          </a:solidFill>
          <a:ln/>
        </p:spPr>
      </p:sp>
      <p:sp>
        <p:nvSpPr>
          <p:cNvPr id="4" name="Text 2"/>
          <p:cNvSpPr/>
          <p:nvPr/>
        </p:nvSpPr>
        <p:spPr>
          <a:xfrm>
            <a:off x="228600" y="73152"/>
            <a:ext cx="8686800" cy="347472"/>
          </a:xfrm>
          <a:prstGeom prst="rect">
            <a:avLst/>
          </a:prstGeom>
          <a:noFill/>
          <a:ln/>
        </p:spPr>
        <p:txBody>
          <a:bodyPr wrap="square" rtlCol="0" anchor="ctr"/>
          <a:lstStyle/>
          <a:p>
            <a:pPr indent="0" marL="0">
              <a:buNone/>
            </a:pPr>
            <a:r>
              <a:rPr lang="en-US" sz="900" i="1" dirty="0">
                <a:solidFill>
                  <a:srgbClr val="DEEAF1"/>
                </a:solidFill>
                <a:latin typeface="Times New Roman" pitchFamily="34" charset="0"/>
                <a:ea typeface="Times New Roman" pitchFamily="34" charset="-122"/>
                <a:cs typeface="Times New Roman" pitchFamily="34" charset="-120"/>
              </a:rPr>
              <a:t>Quầy Thu ngân</a:t>
            </a:r>
            <a:endParaRPr lang="en-US" sz="900" dirty="0"/>
          </a:p>
        </p:txBody>
      </p:sp>
      <p:sp>
        <p:nvSpPr>
          <p:cNvPr id="5" name="Shape 3"/>
          <p:cNvSpPr/>
          <p:nvPr/>
        </p:nvSpPr>
        <p:spPr>
          <a:xfrm>
            <a:off x="0" y="502920"/>
            <a:ext cx="3291840" cy="4325112"/>
          </a:xfrm>
          <a:prstGeom prst="rect">
            <a:avLst/>
          </a:prstGeom>
          <a:solidFill>
            <a:srgbClr val="F5F7FA"/>
          </a:solidFill>
          <a:ln/>
        </p:spPr>
      </p:sp>
      <p:sp>
        <p:nvSpPr>
          <p:cNvPr id="6" name="Text 4"/>
          <p:cNvSpPr/>
          <p:nvPr/>
        </p:nvSpPr>
        <p:spPr>
          <a:xfrm>
            <a:off x="182880" y="594360"/>
            <a:ext cx="3017520" cy="640080"/>
          </a:xfrm>
          <a:prstGeom prst="rect">
            <a:avLst/>
          </a:prstGeom>
          <a:noFill/>
          <a:ln/>
        </p:spPr>
        <p:txBody>
          <a:bodyPr wrap="square" rtlCol="0" anchor="ctr"/>
          <a:lstStyle/>
          <a:p>
            <a:pPr indent="0" marL="0">
              <a:buNone/>
            </a:pPr>
            <a:r>
              <a:rPr lang="en-US" sz="1500" b="1" dirty="0">
                <a:solidFill>
                  <a:srgbClr val="1F3864"/>
                </a:solidFill>
                <a:latin typeface="Times New Roman" pitchFamily="34" charset="0"/>
                <a:ea typeface="Times New Roman" pitchFamily="34" charset="-122"/>
                <a:cs typeface="Times New Roman" pitchFamily="34" charset="-120"/>
              </a:rPr>
              <a:t>Quầy Thu ngân — Hàng đợi đơn hàng PENDING</a:t>
            </a:r>
            <a:endParaRPr lang="en-US" sz="1500" dirty="0"/>
          </a:p>
        </p:txBody>
      </p:sp>
      <p:sp>
        <p:nvSpPr>
          <p:cNvPr id="7" name="Shape 5"/>
          <p:cNvSpPr/>
          <p:nvPr/>
        </p:nvSpPr>
        <p:spPr>
          <a:xfrm>
            <a:off x="182880" y="1234440"/>
            <a:ext cx="2926080" cy="36576"/>
          </a:xfrm>
          <a:prstGeom prst="rect">
            <a:avLst/>
          </a:prstGeom>
          <a:solidFill>
            <a:srgbClr val="2E74B5"/>
          </a:solidFill>
          <a:ln/>
        </p:spPr>
      </p:sp>
      <p:sp>
        <p:nvSpPr>
          <p:cNvPr id="8" name="Text 6"/>
          <p:cNvSpPr/>
          <p:nvPr/>
        </p:nvSpPr>
        <p:spPr>
          <a:xfrm>
            <a:off x="182880" y="1353312"/>
            <a:ext cx="3017520" cy="1371600"/>
          </a:xfrm>
          <a:prstGeom prst="rect">
            <a:avLst/>
          </a:prstGeom>
          <a:noFill/>
          <a:ln/>
        </p:spPr>
        <p:txBody>
          <a:bodyPr wrap="square" rtlCol="0" anchor="t"/>
          <a:lstStyle/>
          <a:p>
            <a:pPr indent="0" marL="0">
              <a:buNone/>
            </a:pPr>
            <a:r>
              <a:rPr lang="en-US" sz="1000" dirty="0">
                <a:solidFill>
                  <a:srgbClr val="1A1A2E"/>
                </a:solidFill>
                <a:latin typeface="Times New Roman" pitchFamily="34" charset="0"/>
                <a:ea typeface="Times New Roman" pitchFamily="34" charset="-122"/>
                <a:cs typeface="Times New Roman" pitchFamily="34" charset="-120"/>
              </a:rPr>
              <a:t>Hàng đợi đơn hàng chờ duyệt: thu ngân xem danh sách PENDING, duyệt (Accept) hoặc từ chối (Reject), chọn thanh toán tiền mặt hoặc số dư tài khoản.</a:t>
            </a:r>
            <a:endParaRPr lang="en-US" sz="1000" dirty="0"/>
          </a:p>
        </p:txBody>
      </p:sp>
      <p:sp>
        <p:nvSpPr>
          <p:cNvPr id="9" name="Shape 7"/>
          <p:cNvSpPr/>
          <p:nvPr/>
        </p:nvSpPr>
        <p:spPr>
          <a:xfrm>
            <a:off x="182880" y="2834640"/>
            <a:ext cx="2926080" cy="320040"/>
          </a:xfrm>
          <a:prstGeom prst="rect">
            <a:avLst/>
          </a:prstGeom>
          <a:solidFill>
            <a:srgbClr val="1F3864"/>
          </a:solidFill>
          <a:ln/>
        </p:spPr>
      </p:sp>
      <p:sp>
        <p:nvSpPr>
          <p:cNvPr id="10" name="Text 8"/>
          <p:cNvSpPr/>
          <p:nvPr/>
        </p:nvSpPr>
        <p:spPr>
          <a:xfrm>
            <a:off x="228600" y="2852928"/>
            <a:ext cx="2834640" cy="274320"/>
          </a:xfrm>
          <a:prstGeom prst="rect">
            <a:avLst/>
          </a:prstGeom>
          <a:noFill/>
          <a:ln/>
        </p:spPr>
        <p:txBody>
          <a:bodyPr wrap="square" rtlCol="0" anchor="ctr"/>
          <a:lstStyle/>
          <a:p>
            <a:pPr indent="0" marL="0">
              <a:buNone/>
            </a:pPr>
            <a:r>
              <a:rPr lang="en-US" sz="850" dirty="0">
                <a:solidFill>
                  <a:srgbClr val="FFFFFF"/>
                </a:solidFill>
                <a:latin typeface="Courier New" pitchFamily="34" charset="0"/>
                <a:ea typeface="Courier New" pitchFamily="34" charset="-122"/>
                <a:cs typeface="Courier New" pitchFamily="34" charset="-120"/>
              </a:rPr>
              <a:t>Đường dẫn: counter-pending-queue.png</a:t>
            </a:r>
            <a:endParaRPr lang="en-US" sz="850" dirty="0"/>
          </a:p>
        </p:txBody>
      </p:sp>
      <p:sp>
        <p:nvSpPr>
          <p:cNvPr id="11" name="Shape 9"/>
          <p:cNvSpPr/>
          <p:nvPr/>
        </p:nvSpPr>
        <p:spPr>
          <a:xfrm>
            <a:off x="3483864" y="557784"/>
            <a:ext cx="5623560" cy="4233672"/>
          </a:xfrm>
          <a:prstGeom prst="rect">
            <a:avLst/>
          </a:prstGeom>
          <a:solidFill>
            <a:srgbClr val="D9D9D9"/>
          </a:solidFill>
          <a:ln/>
          <a:effectLst>
            <a:outerShdw sx="100000" sy="100000" kx="0" ky="0" algn="bl" rotWithShape="0" blurRad="76200" dist="38100" dir="2700000">
              <a:srgbClr val="000000">
                <a:alpha val="25000"/>
              </a:srgbClr>
            </a:outerShdw>
          </a:effectLst>
        </p:spPr>
      </p:sp>
      <p:pic>
        <p:nvPicPr>
          <p:cNvPr id="12" name="Image 0" descr="D:\pet\carteen\tools\screenshots\counter-pending-queue.png">    </p:cNvPr>
          <p:cNvPicPr>
            <a:picLocks noChangeAspect="1"/>
          </p:cNvPicPr>
          <p:nvPr/>
        </p:nvPicPr>
        <p:blipFill>
          <a:blip r:embed="rId1"/>
          <a:srcRect l="0" r="0" t="0" b="0"/>
          <a:stretch/>
        </p:blipFill>
        <p:spPr>
          <a:xfrm>
            <a:off x="3429000" y="521208"/>
            <a:ext cx="5623560" cy="4233672"/>
          </a:xfrm>
          <a:prstGeom prst="rect">
            <a:avLst/>
          </a:prstGeom>
        </p:spPr>
      </p:pic>
      <p:sp>
        <p:nvSpPr>
          <p:cNvPr id="13" name="Shape 10"/>
          <p:cNvSpPr/>
          <p:nvPr/>
        </p:nvSpPr>
        <p:spPr>
          <a:xfrm>
            <a:off x="3429000" y="521208"/>
            <a:ext cx="5623560" cy="4233672"/>
          </a:xfrm>
          <a:prstGeom prst="rect">
            <a:avLst/>
          </a:prstGeom>
          <a:ln w="12700">
            <a:solidFill>
              <a:srgbClr val="D9D9D9"/>
            </a:solidFill>
            <a:prstDash val="solid"/>
          </a:ln>
        </p:spPr>
      </p:sp>
      <p:sp>
        <p:nvSpPr>
          <p:cNvPr id="14" name="Shape 11"/>
          <p:cNvSpPr/>
          <p:nvPr/>
        </p:nvSpPr>
        <p:spPr>
          <a:xfrm>
            <a:off x="0" y="4828032"/>
            <a:ext cx="9144000" cy="320040"/>
          </a:xfrm>
          <a:prstGeom prst="rect">
            <a:avLst/>
          </a:prstGeom>
          <a:solidFill>
            <a:srgbClr val="1F3864"/>
          </a:solidFill>
          <a:ln/>
        </p:spPr>
      </p:sp>
      <p:sp>
        <p:nvSpPr>
          <p:cNvPr id="15" name="Text 12"/>
          <p:cNvSpPr/>
          <p:nvPr/>
        </p:nvSpPr>
        <p:spPr>
          <a:xfrm>
            <a:off x="182880" y="4873752"/>
            <a:ext cx="8778240" cy="237744"/>
          </a:xfrm>
          <a:prstGeom prst="rect">
            <a:avLst/>
          </a:prstGeom>
          <a:noFill/>
          <a:ln/>
        </p:spPr>
        <p:txBody>
          <a:bodyPr wrap="square" rtlCol="0" anchor="ctr"/>
          <a:lstStyle/>
          <a:p>
            <a:pPr algn="ctr" indent="0" marL="0">
              <a:buNone/>
            </a:pPr>
            <a:r>
              <a:rPr lang="en-US" sz="700" dirty="0">
                <a:solidFill>
                  <a:srgbClr val="DEEAF1"/>
                </a:solidFill>
                <a:latin typeface="Times New Roman" pitchFamily="34" charset="0"/>
                <a:ea typeface="Times New Roman" pitchFamily="34" charset="-122"/>
                <a:cs typeface="Times New Roman" pitchFamily="34" charset="-120"/>
              </a:rPr>
              <a:t>Hệ thống Quản lý Căn-teen Trại Giam   |   Quầy Thu ngân — Hàng đợi đơn hàng PENDING</a:t>
            </a:r>
            <a:endParaRPr lang="en-US" sz="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FFFFF"/>
          </a:solidFill>
          <a:ln/>
        </p:spPr>
      </p:sp>
      <p:sp>
        <p:nvSpPr>
          <p:cNvPr id="3" name="Shape 1"/>
          <p:cNvSpPr/>
          <p:nvPr/>
        </p:nvSpPr>
        <p:spPr>
          <a:xfrm>
            <a:off x="0" y="0"/>
            <a:ext cx="9144000" cy="502920"/>
          </a:xfrm>
          <a:prstGeom prst="rect">
            <a:avLst/>
          </a:prstGeom>
          <a:solidFill>
            <a:srgbClr val="1F3864"/>
          </a:solidFill>
          <a:ln/>
        </p:spPr>
      </p:sp>
      <p:sp>
        <p:nvSpPr>
          <p:cNvPr id="4" name="Text 2"/>
          <p:cNvSpPr/>
          <p:nvPr/>
        </p:nvSpPr>
        <p:spPr>
          <a:xfrm>
            <a:off x="228600" y="73152"/>
            <a:ext cx="8686800" cy="347472"/>
          </a:xfrm>
          <a:prstGeom prst="rect">
            <a:avLst/>
          </a:prstGeom>
          <a:noFill/>
          <a:ln/>
        </p:spPr>
        <p:txBody>
          <a:bodyPr wrap="square" rtlCol="0" anchor="ctr"/>
          <a:lstStyle/>
          <a:p>
            <a:pPr indent="0" marL="0">
              <a:buNone/>
            </a:pPr>
            <a:r>
              <a:rPr lang="en-US" sz="900" i="1" dirty="0">
                <a:solidFill>
                  <a:srgbClr val="DEEAF1"/>
                </a:solidFill>
                <a:latin typeface="Times New Roman" pitchFamily="34" charset="0"/>
                <a:ea typeface="Times New Roman" pitchFamily="34" charset="-122"/>
                <a:cs typeface="Times New Roman" pitchFamily="34" charset="-120"/>
              </a:rPr>
              <a:t>Quầy Thu ngân</a:t>
            </a:r>
            <a:endParaRPr lang="en-US" sz="900" dirty="0"/>
          </a:p>
        </p:txBody>
      </p:sp>
      <p:sp>
        <p:nvSpPr>
          <p:cNvPr id="5" name="Shape 3"/>
          <p:cNvSpPr/>
          <p:nvPr/>
        </p:nvSpPr>
        <p:spPr>
          <a:xfrm>
            <a:off x="0" y="502920"/>
            <a:ext cx="3291840" cy="4325112"/>
          </a:xfrm>
          <a:prstGeom prst="rect">
            <a:avLst/>
          </a:prstGeom>
          <a:solidFill>
            <a:srgbClr val="F5F7FA"/>
          </a:solidFill>
          <a:ln/>
        </p:spPr>
      </p:sp>
      <p:sp>
        <p:nvSpPr>
          <p:cNvPr id="6" name="Text 4"/>
          <p:cNvSpPr/>
          <p:nvPr/>
        </p:nvSpPr>
        <p:spPr>
          <a:xfrm>
            <a:off x="182880" y="594360"/>
            <a:ext cx="3017520" cy="640080"/>
          </a:xfrm>
          <a:prstGeom prst="rect">
            <a:avLst/>
          </a:prstGeom>
          <a:noFill/>
          <a:ln/>
        </p:spPr>
        <p:txBody>
          <a:bodyPr wrap="square" rtlCol="0" anchor="ctr"/>
          <a:lstStyle/>
          <a:p>
            <a:pPr indent="0" marL="0">
              <a:buNone/>
            </a:pPr>
            <a:r>
              <a:rPr lang="en-US" sz="1500" b="1" dirty="0">
                <a:solidFill>
                  <a:srgbClr val="1F3864"/>
                </a:solidFill>
                <a:latin typeface="Times New Roman" pitchFamily="34" charset="0"/>
                <a:ea typeface="Times New Roman" pitchFamily="34" charset="-122"/>
                <a:cs typeface="Times New Roman" pitchFamily="34" charset="-120"/>
              </a:rPr>
              <a:t>Quầy Thu ngân — Hồ sơ Phạm nhân</a:t>
            </a:r>
            <a:endParaRPr lang="en-US" sz="1500" dirty="0"/>
          </a:p>
        </p:txBody>
      </p:sp>
      <p:sp>
        <p:nvSpPr>
          <p:cNvPr id="7" name="Shape 5"/>
          <p:cNvSpPr/>
          <p:nvPr/>
        </p:nvSpPr>
        <p:spPr>
          <a:xfrm>
            <a:off x="182880" y="1234440"/>
            <a:ext cx="2926080" cy="36576"/>
          </a:xfrm>
          <a:prstGeom prst="rect">
            <a:avLst/>
          </a:prstGeom>
          <a:solidFill>
            <a:srgbClr val="2E74B5"/>
          </a:solidFill>
          <a:ln/>
        </p:spPr>
      </p:sp>
      <p:sp>
        <p:nvSpPr>
          <p:cNvPr id="8" name="Text 6"/>
          <p:cNvSpPr/>
          <p:nvPr/>
        </p:nvSpPr>
        <p:spPr>
          <a:xfrm>
            <a:off x="182880" y="1353312"/>
            <a:ext cx="3017520" cy="1371600"/>
          </a:xfrm>
          <a:prstGeom prst="rect">
            <a:avLst/>
          </a:prstGeom>
          <a:noFill/>
          <a:ln/>
        </p:spPr>
        <p:txBody>
          <a:bodyPr wrap="square" rtlCol="0" anchor="t"/>
          <a:lstStyle/>
          <a:p>
            <a:pPr indent="0" marL="0">
              <a:buNone/>
            </a:pPr>
            <a:r>
              <a:rPr lang="en-US" sz="1000" dirty="0">
                <a:solidFill>
                  <a:srgbClr val="1A1A2E"/>
                </a:solidFill>
                <a:latin typeface="Times New Roman" pitchFamily="34" charset="0"/>
                <a:ea typeface="Times New Roman" pitchFamily="34" charset="-122"/>
                <a:cs typeface="Times New Roman" pitchFamily="34" charset="-120"/>
              </a:rPr>
              <a:t>Tra cứu mã lưu ký 100023: hiển thị hồ sơ, số dư tài khoản, lịch sử giao dịch, form nạp tiền tài khoản và form đặt hàng thay mặt phạm nhân.</a:t>
            </a:r>
            <a:endParaRPr lang="en-US" sz="1000" dirty="0"/>
          </a:p>
        </p:txBody>
      </p:sp>
      <p:sp>
        <p:nvSpPr>
          <p:cNvPr id="9" name="Shape 7"/>
          <p:cNvSpPr/>
          <p:nvPr/>
        </p:nvSpPr>
        <p:spPr>
          <a:xfrm>
            <a:off x="182880" y="2834640"/>
            <a:ext cx="2926080" cy="320040"/>
          </a:xfrm>
          <a:prstGeom prst="rect">
            <a:avLst/>
          </a:prstGeom>
          <a:solidFill>
            <a:srgbClr val="1F3864"/>
          </a:solidFill>
          <a:ln/>
        </p:spPr>
      </p:sp>
      <p:sp>
        <p:nvSpPr>
          <p:cNvPr id="10" name="Text 8"/>
          <p:cNvSpPr/>
          <p:nvPr/>
        </p:nvSpPr>
        <p:spPr>
          <a:xfrm>
            <a:off x="228600" y="2852928"/>
            <a:ext cx="2834640" cy="274320"/>
          </a:xfrm>
          <a:prstGeom prst="rect">
            <a:avLst/>
          </a:prstGeom>
          <a:noFill/>
          <a:ln/>
        </p:spPr>
        <p:txBody>
          <a:bodyPr wrap="square" rtlCol="0" anchor="ctr"/>
          <a:lstStyle/>
          <a:p>
            <a:pPr indent="0" marL="0">
              <a:buNone/>
            </a:pPr>
            <a:r>
              <a:rPr lang="en-US" sz="850" dirty="0">
                <a:solidFill>
                  <a:srgbClr val="FFFFFF"/>
                </a:solidFill>
                <a:latin typeface="Courier New" pitchFamily="34" charset="0"/>
                <a:ea typeface="Courier New" pitchFamily="34" charset="-122"/>
                <a:cs typeface="Courier New" pitchFamily="34" charset="-120"/>
              </a:rPr>
              <a:t>Đường dẫn: counter-prisoner-loaded.png</a:t>
            </a:r>
            <a:endParaRPr lang="en-US" sz="850" dirty="0"/>
          </a:p>
        </p:txBody>
      </p:sp>
      <p:sp>
        <p:nvSpPr>
          <p:cNvPr id="11" name="Shape 9"/>
          <p:cNvSpPr/>
          <p:nvPr/>
        </p:nvSpPr>
        <p:spPr>
          <a:xfrm>
            <a:off x="3483864" y="557784"/>
            <a:ext cx="5623560" cy="4233672"/>
          </a:xfrm>
          <a:prstGeom prst="rect">
            <a:avLst/>
          </a:prstGeom>
          <a:solidFill>
            <a:srgbClr val="D9D9D9"/>
          </a:solidFill>
          <a:ln/>
          <a:effectLst>
            <a:outerShdw sx="100000" sy="100000" kx="0" ky="0" algn="bl" rotWithShape="0" blurRad="76200" dist="38100" dir="2700000">
              <a:srgbClr val="000000">
                <a:alpha val="25000"/>
              </a:srgbClr>
            </a:outerShdw>
          </a:effectLst>
        </p:spPr>
      </p:sp>
      <p:pic>
        <p:nvPicPr>
          <p:cNvPr id="12" name="Image 0" descr="D:\pet\carteen\tools\screenshots\counter-prisoner-loaded.png">    </p:cNvPr>
          <p:cNvPicPr>
            <a:picLocks noChangeAspect="1"/>
          </p:cNvPicPr>
          <p:nvPr/>
        </p:nvPicPr>
        <p:blipFill>
          <a:blip r:embed="rId1"/>
          <a:srcRect l="0" r="0" t="0" b="0"/>
          <a:stretch/>
        </p:blipFill>
        <p:spPr>
          <a:xfrm>
            <a:off x="3429000" y="521208"/>
            <a:ext cx="5623560" cy="4233672"/>
          </a:xfrm>
          <a:prstGeom prst="rect">
            <a:avLst/>
          </a:prstGeom>
        </p:spPr>
      </p:pic>
      <p:sp>
        <p:nvSpPr>
          <p:cNvPr id="13" name="Shape 10"/>
          <p:cNvSpPr/>
          <p:nvPr/>
        </p:nvSpPr>
        <p:spPr>
          <a:xfrm>
            <a:off x="3429000" y="521208"/>
            <a:ext cx="5623560" cy="4233672"/>
          </a:xfrm>
          <a:prstGeom prst="rect">
            <a:avLst/>
          </a:prstGeom>
          <a:ln w="12700">
            <a:solidFill>
              <a:srgbClr val="D9D9D9"/>
            </a:solidFill>
            <a:prstDash val="solid"/>
          </a:ln>
        </p:spPr>
      </p:sp>
      <p:sp>
        <p:nvSpPr>
          <p:cNvPr id="14" name="Shape 11"/>
          <p:cNvSpPr/>
          <p:nvPr/>
        </p:nvSpPr>
        <p:spPr>
          <a:xfrm>
            <a:off x="0" y="4828032"/>
            <a:ext cx="9144000" cy="320040"/>
          </a:xfrm>
          <a:prstGeom prst="rect">
            <a:avLst/>
          </a:prstGeom>
          <a:solidFill>
            <a:srgbClr val="1F3864"/>
          </a:solidFill>
          <a:ln/>
        </p:spPr>
      </p:sp>
      <p:sp>
        <p:nvSpPr>
          <p:cNvPr id="15" name="Text 12"/>
          <p:cNvSpPr/>
          <p:nvPr/>
        </p:nvSpPr>
        <p:spPr>
          <a:xfrm>
            <a:off x="182880" y="4873752"/>
            <a:ext cx="8778240" cy="237744"/>
          </a:xfrm>
          <a:prstGeom prst="rect">
            <a:avLst/>
          </a:prstGeom>
          <a:noFill/>
          <a:ln/>
        </p:spPr>
        <p:txBody>
          <a:bodyPr wrap="square" rtlCol="0" anchor="ctr"/>
          <a:lstStyle/>
          <a:p>
            <a:pPr algn="ctr" indent="0" marL="0">
              <a:buNone/>
            </a:pPr>
            <a:r>
              <a:rPr lang="en-US" sz="700" dirty="0">
                <a:solidFill>
                  <a:srgbClr val="DEEAF1"/>
                </a:solidFill>
                <a:latin typeface="Times New Roman" pitchFamily="34" charset="0"/>
                <a:ea typeface="Times New Roman" pitchFamily="34" charset="-122"/>
                <a:cs typeface="Times New Roman" pitchFamily="34" charset="-120"/>
              </a:rPr>
              <a:t>Hệ thống Quản lý Căn-teen Trại Giam   |   Quầy Thu ngân — Hồ sơ Phạm nhân</a:t>
            </a:r>
            <a:endParaRPr lang="en-US" sz="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2E74B5"/>
          </a:solidFill>
          <a:ln/>
        </p:spPr>
      </p:sp>
      <p:sp>
        <p:nvSpPr>
          <p:cNvPr id="3" name="Text 1"/>
          <p:cNvSpPr/>
          <p:nvPr/>
        </p:nvSpPr>
        <p:spPr>
          <a:xfrm>
            <a:off x="457200" y="548640"/>
            <a:ext cx="1828800" cy="1828800"/>
          </a:xfrm>
          <a:prstGeom prst="rect">
            <a:avLst/>
          </a:prstGeom>
          <a:noFill/>
          <a:ln/>
        </p:spPr>
        <p:txBody>
          <a:bodyPr wrap="square" rtlCol="0" anchor="ctr"/>
          <a:lstStyle/>
          <a:p>
            <a:pPr indent="0" marL="0">
              <a:buNone/>
            </a:pPr>
            <a:r>
              <a:rPr lang="en-US" sz="9000" b="1" dirty="0">
                <a:solidFill>
                  <a:srgbClr val="FFFFFF">
                    <a:alpha val="30000"/>
                  </a:srgbClr>
                </a:solidFill>
                <a:latin typeface="Times New Roman" pitchFamily="34" charset="0"/>
                <a:ea typeface="Times New Roman" pitchFamily="34" charset="-122"/>
                <a:cs typeface="Times New Roman" pitchFamily="34" charset="-120"/>
              </a:rPr>
              <a:t>04</a:t>
            </a:r>
            <a:endParaRPr lang="en-US" sz="9000" dirty="0"/>
          </a:p>
        </p:txBody>
      </p:sp>
      <p:sp>
        <p:nvSpPr>
          <p:cNvPr id="4" name="Shape 2"/>
          <p:cNvSpPr/>
          <p:nvPr/>
        </p:nvSpPr>
        <p:spPr>
          <a:xfrm>
            <a:off x="0" y="1828800"/>
            <a:ext cx="91440" cy="1645920"/>
          </a:xfrm>
          <a:prstGeom prst="rect">
            <a:avLst/>
          </a:prstGeom>
          <a:solidFill>
            <a:srgbClr val="C00000"/>
          </a:solidFill>
          <a:ln/>
        </p:spPr>
      </p:sp>
      <p:sp>
        <p:nvSpPr>
          <p:cNvPr id="5" name="Text 3"/>
          <p:cNvSpPr/>
          <p:nvPr/>
        </p:nvSpPr>
        <p:spPr>
          <a:xfrm>
            <a:off x="365760" y="1828800"/>
            <a:ext cx="8229600" cy="365760"/>
          </a:xfrm>
          <a:prstGeom prst="rect">
            <a:avLst/>
          </a:prstGeom>
          <a:noFill/>
          <a:ln/>
        </p:spPr>
        <p:txBody>
          <a:bodyPr wrap="square" rtlCol="0" anchor="ctr"/>
          <a:lstStyle/>
          <a:p>
            <a:pPr indent="0" marL="0">
              <a:buNone/>
            </a:pPr>
            <a:r>
              <a:rPr lang="en-US" sz="1100" i="1" dirty="0">
                <a:solidFill>
                  <a:srgbClr val="DEEAF1"/>
                </a:solidFill>
                <a:latin typeface="Times New Roman" pitchFamily="34" charset="0"/>
                <a:ea typeface="Times New Roman" pitchFamily="34" charset="-122"/>
                <a:cs typeface="Times New Roman" pitchFamily="34" charset="-120"/>
              </a:rPr>
              <a:t>Nhóm chức năng</a:t>
            </a:r>
            <a:endParaRPr lang="en-US" sz="1100" dirty="0"/>
          </a:p>
        </p:txBody>
      </p:sp>
      <p:sp>
        <p:nvSpPr>
          <p:cNvPr id="6" name="Text 4"/>
          <p:cNvSpPr/>
          <p:nvPr/>
        </p:nvSpPr>
        <p:spPr>
          <a:xfrm>
            <a:off x="365760" y="2194560"/>
            <a:ext cx="8229600" cy="1097280"/>
          </a:xfrm>
          <a:prstGeom prst="rect">
            <a:avLst/>
          </a:prstGeom>
          <a:noFill/>
          <a:ln/>
        </p:spPr>
        <p:txBody>
          <a:bodyPr wrap="square" rtlCol="0" anchor="ctr"/>
          <a:lstStyle/>
          <a:p>
            <a:pPr indent="0" marL="0">
              <a:buNone/>
            </a:pPr>
            <a:r>
              <a:rPr lang="en-US" sz="3000" b="1" dirty="0">
                <a:solidFill>
                  <a:srgbClr val="FFFFFF"/>
                </a:solidFill>
                <a:latin typeface="Times New Roman" pitchFamily="34" charset="0"/>
                <a:ea typeface="Times New Roman" pitchFamily="34" charset="-122"/>
                <a:cs typeface="Times New Roman" pitchFamily="34" charset="-120"/>
              </a:rPr>
              <a:t>Cài đặt</a:t>
            </a:r>
            <a:endParaRPr lang="en-US" sz="3000" dirty="0"/>
          </a:p>
        </p:txBody>
      </p:sp>
      <p:sp>
        <p:nvSpPr>
          <p:cNvPr id="7" name="Text 5"/>
          <p:cNvSpPr/>
          <p:nvPr/>
        </p:nvSpPr>
        <p:spPr>
          <a:xfrm>
            <a:off x="7772400" y="4507992"/>
            <a:ext cx="1097280" cy="320040"/>
          </a:xfrm>
          <a:prstGeom prst="rect">
            <a:avLst/>
          </a:prstGeom>
          <a:noFill/>
          <a:ln/>
        </p:spPr>
        <p:txBody>
          <a:bodyPr wrap="square" rtlCol="0" anchor="ctr"/>
          <a:lstStyle/>
          <a:p>
            <a:pPr algn="r" indent="0" marL="0">
              <a:buNone/>
            </a:pPr>
            <a:r>
              <a:rPr lang="en-US" sz="900" dirty="0">
                <a:solidFill>
                  <a:srgbClr val="DEEAF1"/>
                </a:solidFill>
                <a:latin typeface="Times New Roman" pitchFamily="34" charset="0"/>
                <a:ea typeface="Times New Roman" pitchFamily="34" charset="-122"/>
                <a:cs typeface="Times New Roman" pitchFamily="34" charset="-120"/>
              </a:rPr>
              <a:t>4 / 6</a:t>
            </a:r>
            <a:endParaRPr lang="en-US" sz="900" dirty="0"/>
          </a:p>
        </p:txBody>
      </p:sp>
      <p:sp>
        <p:nvSpPr>
          <p:cNvPr id="8" name="Shape 6"/>
          <p:cNvSpPr/>
          <p:nvPr/>
        </p:nvSpPr>
        <p:spPr>
          <a:xfrm>
            <a:off x="0" y="4828032"/>
            <a:ext cx="9144000" cy="320040"/>
          </a:xfrm>
          <a:prstGeom prst="rect">
            <a:avLst/>
          </a:prstGeom>
          <a:solidFill>
            <a:srgbClr val="1F3864"/>
          </a:solidFill>
          <a:ln/>
        </p:spPr>
      </p:sp>
      <p:sp>
        <p:nvSpPr>
          <p:cNvPr id="9" name="Text 7"/>
          <p:cNvSpPr/>
          <p:nvPr/>
        </p:nvSpPr>
        <p:spPr>
          <a:xfrm>
            <a:off x="182880" y="4873752"/>
            <a:ext cx="8778240" cy="237744"/>
          </a:xfrm>
          <a:prstGeom prst="rect">
            <a:avLst/>
          </a:prstGeom>
          <a:noFill/>
          <a:ln/>
        </p:spPr>
        <p:txBody>
          <a:bodyPr wrap="square" rtlCol="0" anchor="ctr"/>
          <a:lstStyle/>
          <a:p>
            <a:pPr algn="ctr" indent="0" marL="0">
              <a:buNone/>
            </a:pPr>
            <a:r>
              <a:rPr lang="en-US" sz="700" dirty="0">
                <a:solidFill>
                  <a:srgbClr val="DEEAF1"/>
                </a:solidFill>
                <a:latin typeface="Times New Roman" pitchFamily="34" charset="0"/>
                <a:ea typeface="Times New Roman" pitchFamily="34" charset="-122"/>
                <a:cs typeface="Times New Roman" pitchFamily="34" charset="-120"/>
              </a:rPr>
              <a:t>Hệ thống Quản lý Căn-teen Trại Giam</a:t>
            </a:r>
            <a:endParaRPr lang="en-US" sz="7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FFFFF"/>
          </a:solidFill>
          <a:ln/>
        </p:spPr>
      </p:sp>
      <p:sp>
        <p:nvSpPr>
          <p:cNvPr id="3" name="Shape 1"/>
          <p:cNvSpPr/>
          <p:nvPr/>
        </p:nvSpPr>
        <p:spPr>
          <a:xfrm>
            <a:off x="0" y="0"/>
            <a:ext cx="9144000" cy="502920"/>
          </a:xfrm>
          <a:prstGeom prst="rect">
            <a:avLst/>
          </a:prstGeom>
          <a:solidFill>
            <a:srgbClr val="1F3864"/>
          </a:solidFill>
          <a:ln/>
        </p:spPr>
      </p:sp>
      <p:sp>
        <p:nvSpPr>
          <p:cNvPr id="4" name="Text 2"/>
          <p:cNvSpPr/>
          <p:nvPr/>
        </p:nvSpPr>
        <p:spPr>
          <a:xfrm>
            <a:off x="228600" y="73152"/>
            <a:ext cx="8686800" cy="347472"/>
          </a:xfrm>
          <a:prstGeom prst="rect">
            <a:avLst/>
          </a:prstGeom>
          <a:noFill/>
          <a:ln/>
        </p:spPr>
        <p:txBody>
          <a:bodyPr wrap="square" rtlCol="0" anchor="ctr"/>
          <a:lstStyle/>
          <a:p>
            <a:pPr indent="0" marL="0">
              <a:buNone/>
            </a:pPr>
            <a:r>
              <a:rPr lang="en-US" sz="900" i="1" dirty="0">
                <a:solidFill>
                  <a:srgbClr val="DEEAF1"/>
                </a:solidFill>
                <a:latin typeface="Times New Roman" pitchFamily="34" charset="0"/>
                <a:ea typeface="Times New Roman" pitchFamily="34" charset="-122"/>
                <a:cs typeface="Times New Roman" pitchFamily="34" charset="-120"/>
              </a:rPr>
              <a:t>Cài đặt</a:t>
            </a:r>
            <a:endParaRPr lang="en-US" sz="900" dirty="0"/>
          </a:p>
        </p:txBody>
      </p:sp>
      <p:sp>
        <p:nvSpPr>
          <p:cNvPr id="5" name="Shape 3"/>
          <p:cNvSpPr/>
          <p:nvPr/>
        </p:nvSpPr>
        <p:spPr>
          <a:xfrm>
            <a:off x="0" y="502920"/>
            <a:ext cx="3291840" cy="4325112"/>
          </a:xfrm>
          <a:prstGeom prst="rect">
            <a:avLst/>
          </a:prstGeom>
          <a:solidFill>
            <a:srgbClr val="F5F7FA"/>
          </a:solidFill>
          <a:ln/>
        </p:spPr>
      </p:sp>
      <p:sp>
        <p:nvSpPr>
          <p:cNvPr id="6" name="Text 4"/>
          <p:cNvSpPr/>
          <p:nvPr/>
        </p:nvSpPr>
        <p:spPr>
          <a:xfrm>
            <a:off x="182880" y="594360"/>
            <a:ext cx="3017520" cy="640080"/>
          </a:xfrm>
          <a:prstGeom prst="rect">
            <a:avLst/>
          </a:prstGeom>
          <a:noFill/>
          <a:ln/>
        </p:spPr>
        <p:txBody>
          <a:bodyPr wrap="square" rtlCol="0" anchor="ctr"/>
          <a:lstStyle/>
          <a:p>
            <a:pPr indent="0" marL="0">
              <a:buNone/>
            </a:pPr>
            <a:r>
              <a:rPr lang="en-US" sz="1500" b="1" dirty="0">
                <a:solidFill>
                  <a:srgbClr val="1F3864"/>
                </a:solidFill>
                <a:latin typeface="Times New Roman" pitchFamily="34" charset="0"/>
                <a:ea typeface="Times New Roman" pitchFamily="34" charset="-122"/>
                <a:cs typeface="Times New Roman" pitchFamily="34" charset="-120"/>
              </a:rPr>
              <a:t>Quản lý Danh mục Hàng hóa</a:t>
            </a:r>
            <a:endParaRPr lang="en-US" sz="1500" dirty="0"/>
          </a:p>
        </p:txBody>
      </p:sp>
      <p:sp>
        <p:nvSpPr>
          <p:cNvPr id="7" name="Shape 5"/>
          <p:cNvSpPr/>
          <p:nvPr/>
        </p:nvSpPr>
        <p:spPr>
          <a:xfrm>
            <a:off x="182880" y="1234440"/>
            <a:ext cx="2926080" cy="36576"/>
          </a:xfrm>
          <a:prstGeom prst="rect">
            <a:avLst/>
          </a:prstGeom>
          <a:solidFill>
            <a:srgbClr val="2E74B5"/>
          </a:solidFill>
          <a:ln/>
        </p:spPr>
      </p:sp>
      <p:sp>
        <p:nvSpPr>
          <p:cNvPr id="8" name="Text 6"/>
          <p:cNvSpPr/>
          <p:nvPr/>
        </p:nvSpPr>
        <p:spPr>
          <a:xfrm>
            <a:off x="182880" y="1353312"/>
            <a:ext cx="3017520" cy="1371600"/>
          </a:xfrm>
          <a:prstGeom prst="rect">
            <a:avLst/>
          </a:prstGeom>
          <a:noFill/>
          <a:ln/>
        </p:spPr>
        <p:txBody>
          <a:bodyPr wrap="square" rtlCol="0" anchor="t"/>
          <a:lstStyle/>
          <a:p>
            <a:pPr indent="0" marL="0">
              <a:buNone/>
            </a:pPr>
            <a:r>
              <a:rPr lang="en-US" sz="1000" dirty="0">
                <a:solidFill>
                  <a:srgbClr val="1A1A2E"/>
                </a:solidFill>
                <a:latin typeface="Times New Roman" pitchFamily="34" charset="0"/>
                <a:ea typeface="Times New Roman" pitchFamily="34" charset="-122"/>
                <a:cs typeface="Times New Roman" pitchFamily="34" charset="-120"/>
              </a:rPr>
              <a:t>CRUD mặt hàng: tên, giá, mã hàng, trạng thái (đang bán / ngừng bán). Phiên bản danh mục ký SHA-256 đồng bộ với máy quét OCR.</a:t>
            </a:r>
            <a:endParaRPr lang="en-US" sz="1000" dirty="0"/>
          </a:p>
        </p:txBody>
      </p:sp>
      <p:sp>
        <p:nvSpPr>
          <p:cNvPr id="9" name="Shape 7"/>
          <p:cNvSpPr/>
          <p:nvPr/>
        </p:nvSpPr>
        <p:spPr>
          <a:xfrm>
            <a:off x="182880" y="2834640"/>
            <a:ext cx="2926080" cy="320040"/>
          </a:xfrm>
          <a:prstGeom prst="rect">
            <a:avLst/>
          </a:prstGeom>
          <a:solidFill>
            <a:srgbClr val="1F3864"/>
          </a:solidFill>
          <a:ln/>
        </p:spPr>
      </p:sp>
      <p:sp>
        <p:nvSpPr>
          <p:cNvPr id="10" name="Text 8"/>
          <p:cNvSpPr/>
          <p:nvPr/>
        </p:nvSpPr>
        <p:spPr>
          <a:xfrm>
            <a:off x="228600" y="2852928"/>
            <a:ext cx="2834640" cy="274320"/>
          </a:xfrm>
          <a:prstGeom prst="rect">
            <a:avLst/>
          </a:prstGeom>
          <a:noFill/>
          <a:ln/>
        </p:spPr>
        <p:txBody>
          <a:bodyPr wrap="square" rtlCol="0" anchor="ctr"/>
          <a:lstStyle/>
          <a:p>
            <a:pPr indent="0" marL="0">
              <a:buNone/>
            </a:pPr>
            <a:r>
              <a:rPr lang="en-US" sz="850" dirty="0">
                <a:solidFill>
                  <a:srgbClr val="FFFFFF"/>
                </a:solidFill>
                <a:latin typeface="Courier New" pitchFamily="34" charset="0"/>
                <a:ea typeface="Courier New" pitchFamily="34" charset="-122"/>
                <a:cs typeface="Courier New" pitchFamily="34" charset="-120"/>
              </a:rPr>
              <a:t>Đường dẫn: menu-config.png</a:t>
            </a:r>
            <a:endParaRPr lang="en-US" sz="850" dirty="0"/>
          </a:p>
        </p:txBody>
      </p:sp>
      <p:sp>
        <p:nvSpPr>
          <p:cNvPr id="11" name="Text 9"/>
          <p:cNvSpPr/>
          <p:nvPr/>
        </p:nvSpPr>
        <p:spPr>
          <a:xfrm>
            <a:off x="182880" y="3273552"/>
            <a:ext cx="3017520" cy="237744"/>
          </a:xfrm>
          <a:prstGeom prst="rect">
            <a:avLst/>
          </a:prstGeom>
          <a:noFill/>
          <a:ln/>
        </p:spPr>
        <p:txBody>
          <a:bodyPr wrap="square" rtlCol="0" anchor="ctr"/>
          <a:lstStyle/>
          <a:p>
            <a:pPr indent="0" marL="0">
              <a:buNone/>
            </a:pPr>
            <a:r>
              <a:rPr lang="en-US" sz="800" dirty="0">
                <a:solidFill>
                  <a:srgbClr val="595959"/>
                </a:solidFill>
                <a:latin typeface="Times New Roman" pitchFamily="34" charset="0"/>
                <a:ea typeface="Times New Roman" pitchFamily="34" charset="-122"/>
                <a:cs typeface="Times New Roman" pitchFamily="34" charset="-120"/>
              </a:rPr>
              <a:t>• CRUD hàng hóa: tên, giá, mã, trạng thái</a:t>
            </a:r>
            <a:endParaRPr lang="en-US" sz="800" dirty="0"/>
          </a:p>
        </p:txBody>
      </p:sp>
      <p:sp>
        <p:nvSpPr>
          <p:cNvPr id="12" name="Text 10"/>
          <p:cNvSpPr/>
          <p:nvPr/>
        </p:nvSpPr>
        <p:spPr>
          <a:xfrm>
            <a:off x="182880" y="3529584"/>
            <a:ext cx="3017520" cy="237744"/>
          </a:xfrm>
          <a:prstGeom prst="rect">
            <a:avLst/>
          </a:prstGeom>
          <a:noFill/>
          <a:ln/>
        </p:spPr>
        <p:txBody>
          <a:bodyPr wrap="square" rtlCol="0" anchor="ctr"/>
          <a:lstStyle/>
          <a:p>
            <a:pPr indent="0" marL="0">
              <a:buNone/>
            </a:pPr>
            <a:r>
              <a:rPr lang="en-US" sz="800" dirty="0">
                <a:solidFill>
                  <a:srgbClr val="595959"/>
                </a:solidFill>
                <a:latin typeface="Times New Roman" pitchFamily="34" charset="0"/>
                <a:ea typeface="Times New Roman" pitchFamily="34" charset="-122"/>
                <a:cs typeface="Times New Roman" pitchFamily="34" charset="-120"/>
              </a:rPr>
              <a:t>• Phiên bản danh mục ký SHA-256</a:t>
            </a:r>
            <a:endParaRPr lang="en-US" sz="800" dirty="0"/>
          </a:p>
        </p:txBody>
      </p:sp>
      <p:sp>
        <p:nvSpPr>
          <p:cNvPr id="13" name="Text 11"/>
          <p:cNvSpPr/>
          <p:nvPr/>
        </p:nvSpPr>
        <p:spPr>
          <a:xfrm>
            <a:off x="182880" y="3785616"/>
            <a:ext cx="3017520" cy="237744"/>
          </a:xfrm>
          <a:prstGeom prst="rect">
            <a:avLst/>
          </a:prstGeom>
          <a:noFill/>
          <a:ln/>
        </p:spPr>
        <p:txBody>
          <a:bodyPr wrap="square" rtlCol="0" anchor="ctr"/>
          <a:lstStyle/>
          <a:p>
            <a:pPr indent="0" marL="0">
              <a:buNone/>
            </a:pPr>
            <a:r>
              <a:rPr lang="en-US" sz="800" dirty="0">
                <a:solidFill>
                  <a:srgbClr val="595959"/>
                </a:solidFill>
                <a:latin typeface="Times New Roman" pitchFamily="34" charset="0"/>
                <a:ea typeface="Times New Roman" pitchFamily="34" charset="-122"/>
                <a:cs typeface="Times New Roman" pitchFamily="34" charset="-120"/>
              </a:rPr>
              <a:t>• Đồng bộ với máy quét OMR</a:t>
            </a:r>
            <a:endParaRPr lang="en-US" sz="800" dirty="0"/>
          </a:p>
        </p:txBody>
      </p:sp>
      <p:sp>
        <p:nvSpPr>
          <p:cNvPr id="14" name="Shape 12"/>
          <p:cNvSpPr/>
          <p:nvPr/>
        </p:nvSpPr>
        <p:spPr>
          <a:xfrm>
            <a:off x="3483864" y="557784"/>
            <a:ext cx="5623560" cy="4233672"/>
          </a:xfrm>
          <a:prstGeom prst="rect">
            <a:avLst/>
          </a:prstGeom>
          <a:solidFill>
            <a:srgbClr val="D9D9D9"/>
          </a:solidFill>
          <a:ln/>
          <a:effectLst>
            <a:outerShdw sx="100000" sy="100000" kx="0" ky="0" algn="bl" rotWithShape="0" blurRad="76200" dist="38100" dir="2700000">
              <a:srgbClr val="000000">
                <a:alpha val="25000"/>
              </a:srgbClr>
            </a:outerShdw>
          </a:effectLst>
        </p:spPr>
      </p:sp>
      <p:pic>
        <p:nvPicPr>
          <p:cNvPr id="15" name="Image 0" descr="D:\pet\carteen\tools\screenshots\menu-config.png">    </p:cNvPr>
          <p:cNvPicPr>
            <a:picLocks noChangeAspect="1"/>
          </p:cNvPicPr>
          <p:nvPr/>
        </p:nvPicPr>
        <p:blipFill>
          <a:blip r:embed="rId1"/>
          <a:srcRect l="0" r="0" t="0" b="0"/>
          <a:stretch/>
        </p:blipFill>
        <p:spPr>
          <a:xfrm>
            <a:off x="3429000" y="521208"/>
            <a:ext cx="5623560" cy="4233672"/>
          </a:xfrm>
          <a:prstGeom prst="rect">
            <a:avLst/>
          </a:prstGeom>
        </p:spPr>
      </p:pic>
      <p:sp>
        <p:nvSpPr>
          <p:cNvPr id="16" name="Shape 13"/>
          <p:cNvSpPr/>
          <p:nvPr/>
        </p:nvSpPr>
        <p:spPr>
          <a:xfrm>
            <a:off x="3429000" y="521208"/>
            <a:ext cx="5623560" cy="4233672"/>
          </a:xfrm>
          <a:prstGeom prst="rect">
            <a:avLst/>
          </a:prstGeom>
          <a:ln w="12700">
            <a:solidFill>
              <a:srgbClr val="D9D9D9"/>
            </a:solidFill>
            <a:prstDash val="solid"/>
          </a:ln>
        </p:spPr>
      </p:sp>
      <p:sp>
        <p:nvSpPr>
          <p:cNvPr id="17" name="Shape 14"/>
          <p:cNvSpPr/>
          <p:nvPr/>
        </p:nvSpPr>
        <p:spPr>
          <a:xfrm>
            <a:off x="0" y="4828032"/>
            <a:ext cx="9144000" cy="320040"/>
          </a:xfrm>
          <a:prstGeom prst="rect">
            <a:avLst/>
          </a:prstGeom>
          <a:solidFill>
            <a:srgbClr val="1F3864"/>
          </a:solidFill>
          <a:ln/>
        </p:spPr>
      </p:sp>
      <p:sp>
        <p:nvSpPr>
          <p:cNvPr id="18" name="Text 15"/>
          <p:cNvSpPr/>
          <p:nvPr/>
        </p:nvSpPr>
        <p:spPr>
          <a:xfrm>
            <a:off x="182880" y="4873752"/>
            <a:ext cx="8778240" cy="237744"/>
          </a:xfrm>
          <a:prstGeom prst="rect">
            <a:avLst/>
          </a:prstGeom>
          <a:noFill/>
          <a:ln/>
        </p:spPr>
        <p:txBody>
          <a:bodyPr wrap="square" rtlCol="0" anchor="ctr"/>
          <a:lstStyle/>
          <a:p>
            <a:pPr algn="ctr" indent="0" marL="0">
              <a:buNone/>
            </a:pPr>
            <a:r>
              <a:rPr lang="en-US" sz="700" dirty="0">
                <a:solidFill>
                  <a:srgbClr val="DEEAF1"/>
                </a:solidFill>
                <a:latin typeface="Times New Roman" pitchFamily="34" charset="0"/>
                <a:ea typeface="Times New Roman" pitchFamily="34" charset="-122"/>
                <a:cs typeface="Times New Roman" pitchFamily="34" charset="-120"/>
              </a:rPr>
              <a:t>Hệ thống Quản lý Căn-teen Trại Giam   |   Quản lý Danh mục Hàng hóa</a:t>
            </a:r>
            <a:endParaRPr lang="en-US" sz="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FFFFF"/>
          </a:solidFill>
          <a:ln/>
        </p:spPr>
      </p:sp>
      <p:sp>
        <p:nvSpPr>
          <p:cNvPr id="3" name="Shape 1"/>
          <p:cNvSpPr/>
          <p:nvPr/>
        </p:nvSpPr>
        <p:spPr>
          <a:xfrm>
            <a:off x="0" y="0"/>
            <a:ext cx="9144000" cy="502920"/>
          </a:xfrm>
          <a:prstGeom prst="rect">
            <a:avLst/>
          </a:prstGeom>
          <a:solidFill>
            <a:srgbClr val="1F3864"/>
          </a:solidFill>
          <a:ln/>
        </p:spPr>
      </p:sp>
      <p:sp>
        <p:nvSpPr>
          <p:cNvPr id="4" name="Text 2"/>
          <p:cNvSpPr/>
          <p:nvPr/>
        </p:nvSpPr>
        <p:spPr>
          <a:xfrm>
            <a:off x="228600" y="73152"/>
            <a:ext cx="8686800" cy="347472"/>
          </a:xfrm>
          <a:prstGeom prst="rect">
            <a:avLst/>
          </a:prstGeom>
          <a:noFill/>
          <a:ln/>
        </p:spPr>
        <p:txBody>
          <a:bodyPr wrap="square" rtlCol="0" anchor="ctr"/>
          <a:lstStyle/>
          <a:p>
            <a:pPr indent="0" marL="0">
              <a:buNone/>
            </a:pPr>
            <a:r>
              <a:rPr lang="en-US" sz="900" i="1" dirty="0">
                <a:solidFill>
                  <a:srgbClr val="DEEAF1"/>
                </a:solidFill>
                <a:latin typeface="Times New Roman" pitchFamily="34" charset="0"/>
                <a:ea typeface="Times New Roman" pitchFamily="34" charset="-122"/>
                <a:cs typeface="Times New Roman" pitchFamily="34" charset="-120"/>
              </a:rPr>
              <a:t>Cài đặt</a:t>
            </a:r>
            <a:endParaRPr lang="en-US" sz="900" dirty="0"/>
          </a:p>
        </p:txBody>
      </p:sp>
      <p:sp>
        <p:nvSpPr>
          <p:cNvPr id="5" name="Shape 3"/>
          <p:cNvSpPr/>
          <p:nvPr/>
        </p:nvSpPr>
        <p:spPr>
          <a:xfrm>
            <a:off x="0" y="502920"/>
            <a:ext cx="3291840" cy="4325112"/>
          </a:xfrm>
          <a:prstGeom prst="rect">
            <a:avLst/>
          </a:prstGeom>
          <a:solidFill>
            <a:srgbClr val="F5F7FA"/>
          </a:solidFill>
          <a:ln/>
        </p:spPr>
      </p:sp>
      <p:sp>
        <p:nvSpPr>
          <p:cNvPr id="6" name="Text 4"/>
          <p:cNvSpPr/>
          <p:nvPr/>
        </p:nvSpPr>
        <p:spPr>
          <a:xfrm>
            <a:off x="182880" y="594360"/>
            <a:ext cx="3017520" cy="640080"/>
          </a:xfrm>
          <a:prstGeom prst="rect">
            <a:avLst/>
          </a:prstGeom>
          <a:noFill/>
          <a:ln/>
        </p:spPr>
        <p:txBody>
          <a:bodyPr wrap="square" rtlCol="0" anchor="ctr"/>
          <a:lstStyle/>
          <a:p>
            <a:pPr indent="0" marL="0">
              <a:buNone/>
            </a:pPr>
            <a:r>
              <a:rPr lang="en-US" sz="1500" b="1" dirty="0">
                <a:solidFill>
                  <a:srgbClr val="1F3864"/>
                </a:solidFill>
                <a:latin typeface="Times New Roman" pitchFamily="34" charset="0"/>
                <a:ea typeface="Times New Roman" pitchFamily="34" charset="-122"/>
                <a:cs typeface="Times New Roman" pitchFamily="34" charset="-120"/>
              </a:rPr>
              <a:t>Kiểm toán Số dư Tài khoản</a:t>
            </a:r>
            <a:endParaRPr lang="en-US" sz="1500" dirty="0"/>
          </a:p>
        </p:txBody>
      </p:sp>
      <p:sp>
        <p:nvSpPr>
          <p:cNvPr id="7" name="Shape 5"/>
          <p:cNvSpPr/>
          <p:nvPr/>
        </p:nvSpPr>
        <p:spPr>
          <a:xfrm>
            <a:off x="182880" y="1234440"/>
            <a:ext cx="2926080" cy="36576"/>
          </a:xfrm>
          <a:prstGeom prst="rect">
            <a:avLst/>
          </a:prstGeom>
          <a:solidFill>
            <a:srgbClr val="2E74B5"/>
          </a:solidFill>
          <a:ln/>
        </p:spPr>
      </p:sp>
      <p:sp>
        <p:nvSpPr>
          <p:cNvPr id="8" name="Text 6"/>
          <p:cNvSpPr/>
          <p:nvPr/>
        </p:nvSpPr>
        <p:spPr>
          <a:xfrm>
            <a:off x="182880" y="1353312"/>
            <a:ext cx="3017520" cy="1371600"/>
          </a:xfrm>
          <a:prstGeom prst="rect">
            <a:avLst/>
          </a:prstGeom>
          <a:noFill/>
          <a:ln/>
        </p:spPr>
        <p:txBody>
          <a:bodyPr wrap="square" rtlCol="0" anchor="t"/>
          <a:lstStyle/>
          <a:p>
            <a:pPr indent="0" marL="0">
              <a:buNone/>
            </a:pPr>
            <a:r>
              <a:rPr lang="en-US" sz="1000" dirty="0">
                <a:solidFill>
                  <a:srgbClr val="1A1A2E"/>
                </a:solidFill>
                <a:latin typeface="Times New Roman" pitchFamily="34" charset="0"/>
                <a:ea typeface="Times New Roman" pitchFamily="34" charset="-122"/>
                <a:cs typeface="Times New Roman" pitchFamily="34" charset="-120"/>
              </a:rPr>
              <a:t>Sổ cái giao dịch bất biến (insert-only): tra cứu lịch sử nạp/trừ tiền của từng phạm nhân. Không thể sửa hay xóa dòng giao dịch.</a:t>
            </a:r>
            <a:endParaRPr lang="en-US" sz="1000" dirty="0"/>
          </a:p>
        </p:txBody>
      </p:sp>
      <p:sp>
        <p:nvSpPr>
          <p:cNvPr id="9" name="Shape 7"/>
          <p:cNvSpPr/>
          <p:nvPr/>
        </p:nvSpPr>
        <p:spPr>
          <a:xfrm>
            <a:off x="182880" y="2834640"/>
            <a:ext cx="2926080" cy="320040"/>
          </a:xfrm>
          <a:prstGeom prst="rect">
            <a:avLst/>
          </a:prstGeom>
          <a:solidFill>
            <a:srgbClr val="1F3864"/>
          </a:solidFill>
          <a:ln/>
        </p:spPr>
      </p:sp>
      <p:sp>
        <p:nvSpPr>
          <p:cNvPr id="10" name="Text 8"/>
          <p:cNvSpPr/>
          <p:nvPr/>
        </p:nvSpPr>
        <p:spPr>
          <a:xfrm>
            <a:off x="228600" y="2852928"/>
            <a:ext cx="2834640" cy="274320"/>
          </a:xfrm>
          <a:prstGeom prst="rect">
            <a:avLst/>
          </a:prstGeom>
          <a:noFill/>
          <a:ln/>
        </p:spPr>
        <p:txBody>
          <a:bodyPr wrap="square" rtlCol="0" anchor="ctr"/>
          <a:lstStyle/>
          <a:p>
            <a:pPr indent="0" marL="0">
              <a:buNone/>
            </a:pPr>
            <a:r>
              <a:rPr lang="en-US" sz="850" dirty="0">
                <a:solidFill>
                  <a:srgbClr val="FFFFFF"/>
                </a:solidFill>
                <a:latin typeface="Courier New" pitchFamily="34" charset="0"/>
                <a:ea typeface="Courier New" pitchFamily="34" charset="-122"/>
                <a:cs typeface="Courier New" pitchFamily="34" charset="-120"/>
              </a:rPr>
              <a:t>Đường dẫn: audit.png</a:t>
            </a:r>
            <a:endParaRPr lang="en-US" sz="850" dirty="0"/>
          </a:p>
        </p:txBody>
      </p:sp>
      <p:sp>
        <p:nvSpPr>
          <p:cNvPr id="11" name="Text 9"/>
          <p:cNvSpPr/>
          <p:nvPr/>
        </p:nvSpPr>
        <p:spPr>
          <a:xfrm>
            <a:off x="182880" y="3273552"/>
            <a:ext cx="3017520" cy="237744"/>
          </a:xfrm>
          <a:prstGeom prst="rect">
            <a:avLst/>
          </a:prstGeom>
          <a:noFill/>
          <a:ln/>
        </p:spPr>
        <p:txBody>
          <a:bodyPr wrap="square" rtlCol="0" anchor="ctr"/>
          <a:lstStyle/>
          <a:p>
            <a:pPr indent="0" marL="0">
              <a:buNone/>
            </a:pPr>
            <a:r>
              <a:rPr lang="en-US" sz="800" dirty="0">
                <a:solidFill>
                  <a:srgbClr val="595959"/>
                </a:solidFill>
                <a:latin typeface="Times New Roman" pitchFamily="34" charset="0"/>
                <a:ea typeface="Times New Roman" pitchFamily="34" charset="-122"/>
                <a:cs typeface="Times New Roman" pitchFamily="34" charset="-120"/>
              </a:rPr>
              <a:t>• Sổ cái bất biến (insert-only)</a:t>
            </a:r>
            <a:endParaRPr lang="en-US" sz="800" dirty="0"/>
          </a:p>
        </p:txBody>
      </p:sp>
      <p:sp>
        <p:nvSpPr>
          <p:cNvPr id="12" name="Text 10"/>
          <p:cNvSpPr/>
          <p:nvPr/>
        </p:nvSpPr>
        <p:spPr>
          <a:xfrm>
            <a:off x="182880" y="3529584"/>
            <a:ext cx="3017520" cy="237744"/>
          </a:xfrm>
          <a:prstGeom prst="rect">
            <a:avLst/>
          </a:prstGeom>
          <a:noFill/>
          <a:ln/>
        </p:spPr>
        <p:txBody>
          <a:bodyPr wrap="square" rtlCol="0" anchor="ctr"/>
          <a:lstStyle/>
          <a:p>
            <a:pPr indent="0" marL="0">
              <a:buNone/>
            </a:pPr>
            <a:r>
              <a:rPr lang="en-US" sz="800" dirty="0">
                <a:solidFill>
                  <a:srgbClr val="595959"/>
                </a:solidFill>
                <a:latin typeface="Times New Roman" pitchFamily="34" charset="0"/>
                <a:ea typeface="Times New Roman" pitchFamily="34" charset="-122"/>
                <a:cs typeface="Times New Roman" pitchFamily="34" charset="-120"/>
              </a:rPr>
              <a:t>• Lịch sử đầy đủ debit/credit</a:t>
            </a:r>
            <a:endParaRPr lang="en-US" sz="800" dirty="0"/>
          </a:p>
        </p:txBody>
      </p:sp>
      <p:sp>
        <p:nvSpPr>
          <p:cNvPr id="13" name="Text 11"/>
          <p:cNvSpPr/>
          <p:nvPr/>
        </p:nvSpPr>
        <p:spPr>
          <a:xfrm>
            <a:off x="182880" y="3785616"/>
            <a:ext cx="3017520" cy="237744"/>
          </a:xfrm>
          <a:prstGeom prst="rect">
            <a:avLst/>
          </a:prstGeom>
          <a:noFill/>
          <a:ln/>
        </p:spPr>
        <p:txBody>
          <a:bodyPr wrap="square" rtlCol="0" anchor="ctr"/>
          <a:lstStyle/>
          <a:p>
            <a:pPr indent="0" marL="0">
              <a:buNone/>
            </a:pPr>
            <a:r>
              <a:rPr lang="en-US" sz="800" dirty="0">
                <a:solidFill>
                  <a:srgbClr val="595959"/>
                </a:solidFill>
                <a:latin typeface="Times New Roman" pitchFamily="34" charset="0"/>
                <a:ea typeface="Times New Roman" pitchFamily="34" charset="-122"/>
                <a:cs typeface="Times New Roman" pitchFamily="34" charset="-120"/>
              </a:rPr>
              <a:t>• Tra cứu theo phạm nhân / ngày</a:t>
            </a:r>
            <a:endParaRPr lang="en-US" sz="800" dirty="0"/>
          </a:p>
        </p:txBody>
      </p:sp>
      <p:sp>
        <p:nvSpPr>
          <p:cNvPr id="14" name="Shape 12"/>
          <p:cNvSpPr/>
          <p:nvPr/>
        </p:nvSpPr>
        <p:spPr>
          <a:xfrm>
            <a:off x="3483864" y="557784"/>
            <a:ext cx="5623560" cy="4233672"/>
          </a:xfrm>
          <a:prstGeom prst="rect">
            <a:avLst/>
          </a:prstGeom>
          <a:solidFill>
            <a:srgbClr val="D9D9D9"/>
          </a:solidFill>
          <a:ln/>
          <a:effectLst>
            <a:outerShdw sx="100000" sy="100000" kx="0" ky="0" algn="bl" rotWithShape="0" blurRad="76200" dist="38100" dir="2700000">
              <a:srgbClr val="000000">
                <a:alpha val="25000"/>
              </a:srgbClr>
            </a:outerShdw>
          </a:effectLst>
        </p:spPr>
      </p:sp>
      <p:pic>
        <p:nvPicPr>
          <p:cNvPr id="15" name="Image 0" descr="D:\pet\carteen\tools\screenshots\audit.png">    </p:cNvPr>
          <p:cNvPicPr>
            <a:picLocks noChangeAspect="1"/>
          </p:cNvPicPr>
          <p:nvPr/>
        </p:nvPicPr>
        <p:blipFill>
          <a:blip r:embed="rId1"/>
          <a:srcRect l="0" r="0" t="0" b="0"/>
          <a:stretch/>
        </p:blipFill>
        <p:spPr>
          <a:xfrm>
            <a:off x="3429000" y="521208"/>
            <a:ext cx="5623560" cy="4233672"/>
          </a:xfrm>
          <a:prstGeom prst="rect">
            <a:avLst/>
          </a:prstGeom>
        </p:spPr>
      </p:pic>
      <p:sp>
        <p:nvSpPr>
          <p:cNvPr id="16" name="Shape 13"/>
          <p:cNvSpPr/>
          <p:nvPr/>
        </p:nvSpPr>
        <p:spPr>
          <a:xfrm>
            <a:off x="3429000" y="521208"/>
            <a:ext cx="5623560" cy="4233672"/>
          </a:xfrm>
          <a:prstGeom prst="rect">
            <a:avLst/>
          </a:prstGeom>
          <a:ln w="12700">
            <a:solidFill>
              <a:srgbClr val="D9D9D9"/>
            </a:solidFill>
            <a:prstDash val="solid"/>
          </a:ln>
        </p:spPr>
      </p:sp>
      <p:sp>
        <p:nvSpPr>
          <p:cNvPr id="17" name="Shape 14"/>
          <p:cNvSpPr/>
          <p:nvPr/>
        </p:nvSpPr>
        <p:spPr>
          <a:xfrm>
            <a:off x="0" y="4828032"/>
            <a:ext cx="9144000" cy="320040"/>
          </a:xfrm>
          <a:prstGeom prst="rect">
            <a:avLst/>
          </a:prstGeom>
          <a:solidFill>
            <a:srgbClr val="1F3864"/>
          </a:solidFill>
          <a:ln/>
        </p:spPr>
      </p:sp>
      <p:sp>
        <p:nvSpPr>
          <p:cNvPr id="18" name="Text 15"/>
          <p:cNvSpPr/>
          <p:nvPr/>
        </p:nvSpPr>
        <p:spPr>
          <a:xfrm>
            <a:off x="182880" y="4873752"/>
            <a:ext cx="8778240" cy="237744"/>
          </a:xfrm>
          <a:prstGeom prst="rect">
            <a:avLst/>
          </a:prstGeom>
          <a:noFill/>
          <a:ln/>
        </p:spPr>
        <p:txBody>
          <a:bodyPr wrap="square" rtlCol="0" anchor="ctr"/>
          <a:lstStyle/>
          <a:p>
            <a:pPr algn="ctr" indent="0" marL="0">
              <a:buNone/>
            </a:pPr>
            <a:r>
              <a:rPr lang="en-US" sz="700" dirty="0">
                <a:solidFill>
                  <a:srgbClr val="DEEAF1"/>
                </a:solidFill>
                <a:latin typeface="Times New Roman" pitchFamily="34" charset="0"/>
                <a:ea typeface="Times New Roman" pitchFamily="34" charset="-122"/>
                <a:cs typeface="Times New Roman" pitchFamily="34" charset="-120"/>
              </a:rPr>
              <a:t>Hệ thống Quản lý Căn-teen Trại Giam   |   Kiểm toán Số dư Tài khoản</a:t>
            </a:r>
            <a:endParaRPr lang="en-US" sz="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FFFFF"/>
          </a:solidFill>
          <a:ln/>
        </p:spPr>
      </p:sp>
      <p:sp>
        <p:nvSpPr>
          <p:cNvPr id="3" name="Shape 1"/>
          <p:cNvSpPr/>
          <p:nvPr/>
        </p:nvSpPr>
        <p:spPr>
          <a:xfrm>
            <a:off x="0" y="0"/>
            <a:ext cx="9144000" cy="502920"/>
          </a:xfrm>
          <a:prstGeom prst="rect">
            <a:avLst/>
          </a:prstGeom>
          <a:solidFill>
            <a:srgbClr val="1F3864"/>
          </a:solidFill>
          <a:ln/>
        </p:spPr>
      </p:sp>
      <p:sp>
        <p:nvSpPr>
          <p:cNvPr id="4" name="Text 2"/>
          <p:cNvSpPr/>
          <p:nvPr/>
        </p:nvSpPr>
        <p:spPr>
          <a:xfrm>
            <a:off x="228600" y="73152"/>
            <a:ext cx="8686800" cy="347472"/>
          </a:xfrm>
          <a:prstGeom prst="rect">
            <a:avLst/>
          </a:prstGeom>
          <a:noFill/>
          <a:ln/>
        </p:spPr>
        <p:txBody>
          <a:bodyPr wrap="square" rtlCol="0" anchor="ctr"/>
          <a:lstStyle/>
          <a:p>
            <a:pPr indent="0" marL="0">
              <a:buNone/>
            </a:pPr>
            <a:r>
              <a:rPr lang="en-US" sz="900" i="1" dirty="0">
                <a:solidFill>
                  <a:srgbClr val="DEEAF1"/>
                </a:solidFill>
                <a:latin typeface="Times New Roman" pitchFamily="34" charset="0"/>
                <a:ea typeface="Times New Roman" pitchFamily="34" charset="-122"/>
                <a:cs typeface="Times New Roman" pitchFamily="34" charset="-120"/>
              </a:rPr>
              <a:t>Cài đặt</a:t>
            </a:r>
            <a:endParaRPr lang="en-US" sz="900" dirty="0"/>
          </a:p>
        </p:txBody>
      </p:sp>
      <p:sp>
        <p:nvSpPr>
          <p:cNvPr id="5" name="Shape 3"/>
          <p:cNvSpPr/>
          <p:nvPr/>
        </p:nvSpPr>
        <p:spPr>
          <a:xfrm>
            <a:off x="0" y="502920"/>
            <a:ext cx="3291840" cy="4325112"/>
          </a:xfrm>
          <a:prstGeom prst="rect">
            <a:avLst/>
          </a:prstGeom>
          <a:solidFill>
            <a:srgbClr val="F5F7FA"/>
          </a:solidFill>
          <a:ln/>
        </p:spPr>
      </p:sp>
      <p:sp>
        <p:nvSpPr>
          <p:cNvPr id="6" name="Text 4"/>
          <p:cNvSpPr/>
          <p:nvPr/>
        </p:nvSpPr>
        <p:spPr>
          <a:xfrm>
            <a:off x="182880" y="594360"/>
            <a:ext cx="3017520" cy="640080"/>
          </a:xfrm>
          <a:prstGeom prst="rect">
            <a:avLst/>
          </a:prstGeom>
          <a:noFill/>
          <a:ln/>
        </p:spPr>
        <p:txBody>
          <a:bodyPr wrap="square" rtlCol="0" anchor="ctr"/>
          <a:lstStyle/>
          <a:p>
            <a:pPr indent="0" marL="0">
              <a:buNone/>
            </a:pPr>
            <a:r>
              <a:rPr lang="en-US" sz="1500" b="1" dirty="0">
                <a:solidFill>
                  <a:srgbClr val="1F3864"/>
                </a:solidFill>
                <a:latin typeface="Times New Roman" pitchFamily="34" charset="0"/>
                <a:ea typeface="Times New Roman" pitchFamily="34" charset="-122"/>
                <a:cs typeface="Times New Roman" pitchFamily="34" charset="-120"/>
              </a:rPr>
              <a:t>Cấu hình Thanh toán</a:t>
            </a:r>
            <a:endParaRPr lang="en-US" sz="1500" dirty="0"/>
          </a:p>
        </p:txBody>
      </p:sp>
      <p:sp>
        <p:nvSpPr>
          <p:cNvPr id="7" name="Shape 5"/>
          <p:cNvSpPr/>
          <p:nvPr/>
        </p:nvSpPr>
        <p:spPr>
          <a:xfrm>
            <a:off x="182880" y="1234440"/>
            <a:ext cx="2926080" cy="36576"/>
          </a:xfrm>
          <a:prstGeom prst="rect">
            <a:avLst/>
          </a:prstGeom>
          <a:solidFill>
            <a:srgbClr val="2E74B5"/>
          </a:solidFill>
          <a:ln/>
        </p:spPr>
      </p:sp>
      <p:sp>
        <p:nvSpPr>
          <p:cNvPr id="8" name="Text 6"/>
          <p:cNvSpPr/>
          <p:nvPr/>
        </p:nvSpPr>
        <p:spPr>
          <a:xfrm>
            <a:off x="182880" y="1353312"/>
            <a:ext cx="3017520" cy="1371600"/>
          </a:xfrm>
          <a:prstGeom prst="rect">
            <a:avLst/>
          </a:prstGeom>
          <a:noFill/>
          <a:ln/>
        </p:spPr>
        <p:txBody>
          <a:bodyPr wrap="square" rtlCol="0" anchor="t"/>
          <a:lstStyle/>
          <a:p>
            <a:pPr indent="0" marL="0">
              <a:buNone/>
            </a:pPr>
            <a:r>
              <a:rPr lang="en-US" sz="1000" dirty="0">
                <a:solidFill>
                  <a:srgbClr val="1A1A2E"/>
                </a:solidFill>
                <a:latin typeface="Times New Roman" pitchFamily="34" charset="0"/>
                <a:ea typeface="Times New Roman" pitchFamily="34" charset="-122"/>
                <a:cs typeface="Times New Roman" pitchFamily="34" charset="-120"/>
              </a:rPr>
              <a:t>Quản trị viên bật/tắt phương thức chuyển khoản ngân hàng. Thanh toán tiền mặt luôn hoạt động. Cấu hình tài khoản ngân hàng căng-tin.</a:t>
            </a:r>
            <a:endParaRPr lang="en-US" sz="1000" dirty="0"/>
          </a:p>
        </p:txBody>
      </p:sp>
      <p:sp>
        <p:nvSpPr>
          <p:cNvPr id="9" name="Shape 7"/>
          <p:cNvSpPr/>
          <p:nvPr/>
        </p:nvSpPr>
        <p:spPr>
          <a:xfrm>
            <a:off x="182880" y="2834640"/>
            <a:ext cx="2926080" cy="320040"/>
          </a:xfrm>
          <a:prstGeom prst="rect">
            <a:avLst/>
          </a:prstGeom>
          <a:solidFill>
            <a:srgbClr val="1F3864"/>
          </a:solidFill>
          <a:ln/>
        </p:spPr>
      </p:sp>
      <p:sp>
        <p:nvSpPr>
          <p:cNvPr id="10" name="Text 8"/>
          <p:cNvSpPr/>
          <p:nvPr/>
        </p:nvSpPr>
        <p:spPr>
          <a:xfrm>
            <a:off x="228600" y="2852928"/>
            <a:ext cx="2834640" cy="274320"/>
          </a:xfrm>
          <a:prstGeom prst="rect">
            <a:avLst/>
          </a:prstGeom>
          <a:noFill/>
          <a:ln/>
        </p:spPr>
        <p:txBody>
          <a:bodyPr wrap="square" rtlCol="0" anchor="ctr"/>
          <a:lstStyle/>
          <a:p>
            <a:pPr indent="0" marL="0">
              <a:buNone/>
            </a:pPr>
            <a:r>
              <a:rPr lang="en-US" sz="850" dirty="0">
                <a:solidFill>
                  <a:srgbClr val="FFFFFF"/>
                </a:solidFill>
                <a:latin typeface="Courier New" pitchFamily="34" charset="0"/>
                <a:ea typeface="Courier New" pitchFamily="34" charset="-122"/>
                <a:cs typeface="Courier New" pitchFamily="34" charset="-120"/>
              </a:rPr>
              <a:t>Đường dẫn: payment-config.png</a:t>
            </a:r>
            <a:endParaRPr lang="en-US" sz="850" dirty="0"/>
          </a:p>
        </p:txBody>
      </p:sp>
      <p:sp>
        <p:nvSpPr>
          <p:cNvPr id="11" name="Text 9"/>
          <p:cNvSpPr/>
          <p:nvPr/>
        </p:nvSpPr>
        <p:spPr>
          <a:xfrm>
            <a:off x="182880" y="3273552"/>
            <a:ext cx="3017520" cy="237744"/>
          </a:xfrm>
          <a:prstGeom prst="rect">
            <a:avLst/>
          </a:prstGeom>
          <a:noFill/>
          <a:ln/>
        </p:spPr>
        <p:txBody>
          <a:bodyPr wrap="square" rtlCol="0" anchor="ctr"/>
          <a:lstStyle/>
          <a:p>
            <a:pPr indent="0" marL="0">
              <a:buNone/>
            </a:pPr>
            <a:r>
              <a:rPr lang="en-US" sz="800" dirty="0">
                <a:solidFill>
                  <a:srgbClr val="595959"/>
                </a:solidFill>
                <a:latin typeface="Times New Roman" pitchFamily="34" charset="0"/>
                <a:ea typeface="Times New Roman" pitchFamily="34" charset="-122"/>
                <a:cs typeface="Times New Roman" pitchFamily="34" charset="-120"/>
              </a:rPr>
              <a:t>• Bật/tắt thanh toán ngân hàng</a:t>
            </a:r>
            <a:endParaRPr lang="en-US" sz="800" dirty="0"/>
          </a:p>
        </p:txBody>
      </p:sp>
      <p:sp>
        <p:nvSpPr>
          <p:cNvPr id="12" name="Text 10"/>
          <p:cNvSpPr/>
          <p:nvPr/>
        </p:nvSpPr>
        <p:spPr>
          <a:xfrm>
            <a:off x="182880" y="3529584"/>
            <a:ext cx="3017520" cy="237744"/>
          </a:xfrm>
          <a:prstGeom prst="rect">
            <a:avLst/>
          </a:prstGeom>
          <a:noFill/>
          <a:ln/>
        </p:spPr>
        <p:txBody>
          <a:bodyPr wrap="square" rtlCol="0" anchor="ctr"/>
          <a:lstStyle/>
          <a:p>
            <a:pPr indent="0" marL="0">
              <a:buNone/>
            </a:pPr>
            <a:r>
              <a:rPr lang="en-US" sz="800" dirty="0">
                <a:solidFill>
                  <a:srgbClr val="595959"/>
                </a:solidFill>
                <a:latin typeface="Times New Roman" pitchFamily="34" charset="0"/>
                <a:ea typeface="Times New Roman" pitchFamily="34" charset="-122"/>
                <a:cs typeface="Times New Roman" pitchFamily="34" charset="-120"/>
              </a:rPr>
              <a:t>• Thanh toán tiền mặt luôn bật</a:t>
            </a:r>
            <a:endParaRPr lang="en-US" sz="800" dirty="0"/>
          </a:p>
        </p:txBody>
      </p:sp>
      <p:sp>
        <p:nvSpPr>
          <p:cNvPr id="13" name="Shape 11"/>
          <p:cNvSpPr/>
          <p:nvPr/>
        </p:nvSpPr>
        <p:spPr>
          <a:xfrm>
            <a:off x="3483864" y="557784"/>
            <a:ext cx="5623560" cy="4233672"/>
          </a:xfrm>
          <a:prstGeom prst="rect">
            <a:avLst/>
          </a:prstGeom>
          <a:solidFill>
            <a:srgbClr val="D9D9D9"/>
          </a:solidFill>
          <a:ln/>
          <a:effectLst>
            <a:outerShdw sx="100000" sy="100000" kx="0" ky="0" algn="bl" rotWithShape="0" blurRad="76200" dist="38100" dir="2700000">
              <a:srgbClr val="000000">
                <a:alpha val="25000"/>
              </a:srgbClr>
            </a:outerShdw>
          </a:effectLst>
        </p:spPr>
      </p:sp>
      <p:pic>
        <p:nvPicPr>
          <p:cNvPr id="14" name="Image 0" descr="D:\pet\carteen\tools\screenshots\payment-config.png">    </p:cNvPr>
          <p:cNvPicPr>
            <a:picLocks noChangeAspect="1"/>
          </p:cNvPicPr>
          <p:nvPr/>
        </p:nvPicPr>
        <p:blipFill>
          <a:blip r:embed="rId1"/>
          <a:srcRect l="0" r="0" t="0" b="0"/>
          <a:stretch/>
        </p:blipFill>
        <p:spPr>
          <a:xfrm>
            <a:off x="3429000" y="521208"/>
            <a:ext cx="5623560" cy="4233672"/>
          </a:xfrm>
          <a:prstGeom prst="rect">
            <a:avLst/>
          </a:prstGeom>
        </p:spPr>
      </p:pic>
      <p:sp>
        <p:nvSpPr>
          <p:cNvPr id="15" name="Shape 12"/>
          <p:cNvSpPr/>
          <p:nvPr/>
        </p:nvSpPr>
        <p:spPr>
          <a:xfrm>
            <a:off x="3429000" y="521208"/>
            <a:ext cx="5623560" cy="4233672"/>
          </a:xfrm>
          <a:prstGeom prst="rect">
            <a:avLst/>
          </a:prstGeom>
          <a:ln w="12700">
            <a:solidFill>
              <a:srgbClr val="D9D9D9"/>
            </a:solidFill>
            <a:prstDash val="solid"/>
          </a:ln>
        </p:spPr>
      </p:sp>
      <p:sp>
        <p:nvSpPr>
          <p:cNvPr id="16" name="Shape 13"/>
          <p:cNvSpPr/>
          <p:nvPr/>
        </p:nvSpPr>
        <p:spPr>
          <a:xfrm>
            <a:off x="0" y="4828032"/>
            <a:ext cx="9144000" cy="320040"/>
          </a:xfrm>
          <a:prstGeom prst="rect">
            <a:avLst/>
          </a:prstGeom>
          <a:solidFill>
            <a:srgbClr val="1F3864"/>
          </a:solidFill>
          <a:ln/>
        </p:spPr>
      </p:sp>
      <p:sp>
        <p:nvSpPr>
          <p:cNvPr id="17" name="Text 14"/>
          <p:cNvSpPr/>
          <p:nvPr/>
        </p:nvSpPr>
        <p:spPr>
          <a:xfrm>
            <a:off x="182880" y="4873752"/>
            <a:ext cx="8778240" cy="237744"/>
          </a:xfrm>
          <a:prstGeom prst="rect">
            <a:avLst/>
          </a:prstGeom>
          <a:noFill/>
          <a:ln/>
        </p:spPr>
        <p:txBody>
          <a:bodyPr wrap="square" rtlCol="0" anchor="ctr"/>
          <a:lstStyle/>
          <a:p>
            <a:pPr algn="ctr" indent="0" marL="0">
              <a:buNone/>
            </a:pPr>
            <a:r>
              <a:rPr lang="en-US" sz="700" dirty="0">
                <a:solidFill>
                  <a:srgbClr val="DEEAF1"/>
                </a:solidFill>
                <a:latin typeface="Times New Roman" pitchFamily="34" charset="0"/>
                <a:ea typeface="Times New Roman" pitchFamily="34" charset="-122"/>
                <a:cs typeface="Times New Roman" pitchFamily="34" charset="-120"/>
              </a:rPr>
              <a:t>Hệ thống Quản lý Căn-teen Trại Giam   |   Cấu hình Thanh toán</a:t>
            </a:r>
            <a:endParaRPr lang="en-US" sz="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FFFFF"/>
          </a:solidFill>
          <a:ln/>
        </p:spPr>
      </p:sp>
      <p:sp>
        <p:nvSpPr>
          <p:cNvPr id="3" name="Shape 1"/>
          <p:cNvSpPr/>
          <p:nvPr/>
        </p:nvSpPr>
        <p:spPr>
          <a:xfrm>
            <a:off x="0" y="0"/>
            <a:ext cx="9144000" cy="502920"/>
          </a:xfrm>
          <a:prstGeom prst="rect">
            <a:avLst/>
          </a:prstGeom>
          <a:solidFill>
            <a:srgbClr val="1F3864"/>
          </a:solidFill>
          <a:ln/>
        </p:spPr>
      </p:sp>
      <p:sp>
        <p:nvSpPr>
          <p:cNvPr id="4" name="Text 2"/>
          <p:cNvSpPr/>
          <p:nvPr/>
        </p:nvSpPr>
        <p:spPr>
          <a:xfrm>
            <a:off x="228600" y="73152"/>
            <a:ext cx="8686800" cy="347472"/>
          </a:xfrm>
          <a:prstGeom prst="rect">
            <a:avLst/>
          </a:prstGeom>
          <a:noFill/>
          <a:ln/>
        </p:spPr>
        <p:txBody>
          <a:bodyPr wrap="square" rtlCol="0" anchor="ctr"/>
          <a:lstStyle/>
          <a:p>
            <a:pPr indent="0" marL="0">
              <a:buNone/>
            </a:pPr>
            <a:r>
              <a:rPr lang="en-US" sz="900" i="1" dirty="0">
                <a:solidFill>
                  <a:srgbClr val="DEEAF1"/>
                </a:solidFill>
                <a:latin typeface="Times New Roman" pitchFamily="34" charset="0"/>
                <a:ea typeface="Times New Roman" pitchFamily="34" charset="-122"/>
                <a:cs typeface="Times New Roman" pitchFamily="34" charset="-120"/>
              </a:rPr>
              <a:t>Cài đặt</a:t>
            </a:r>
            <a:endParaRPr lang="en-US" sz="900" dirty="0"/>
          </a:p>
        </p:txBody>
      </p:sp>
      <p:sp>
        <p:nvSpPr>
          <p:cNvPr id="5" name="Shape 3"/>
          <p:cNvSpPr/>
          <p:nvPr/>
        </p:nvSpPr>
        <p:spPr>
          <a:xfrm>
            <a:off x="0" y="502920"/>
            <a:ext cx="3291840" cy="4325112"/>
          </a:xfrm>
          <a:prstGeom prst="rect">
            <a:avLst/>
          </a:prstGeom>
          <a:solidFill>
            <a:srgbClr val="F5F7FA"/>
          </a:solidFill>
          <a:ln/>
        </p:spPr>
      </p:sp>
      <p:sp>
        <p:nvSpPr>
          <p:cNvPr id="6" name="Text 4"/>
          <p:cNvSpPr/>
          <p:nvPr/>
        </p:nvSpPr>
        <p:spPr>
          <a:xfrm>
            <a:off x="182880" y="594360"/>
            <a:ext cx="3017520" cy="640080"/>
          </a:xfrm>
          <a:prstGeom prst="rect">
            <a:avLst/>
          </a:prstGeom>
          <a:noFill/>
          <a:ln/>
        </p:spPr>
        <p:txBody>
          <a:bodyPr wrap="square" rtlCol="0" anchor="ctr"/>
          <a:lstStyle/>
          <a:p>
            <a:pPr indent="0" marL="0">
              <a:buNone/>
            </a:pPr>
            <a:r>
              <a:rPr lang="en-US" sz="1500" b="1" dirty="0">
                <a:solidFill>
                  <a:srgbClr val="1F3864"/>
                </a:solidFill>
                <a:latin typeface="Times New Roman" pitchFamily="34" charset="0"/>
                <a:ea typeface="Times New Roman" pitchFamily="34" charset="-122"/>
                <a:cs typeface="Times New Roman" pitchFamily="34" charset="-120"/>
              </a:rPr>
              <a:t>Phiếu Giao hàng (Vouchers)</a:t>
            </a:r>
            <a:endParaRPr lang="en-US" sz="1500" dirty="0"/>
          </a:p>
        </p:txBody>
      </p:sp>
      <p:sp>
        <p:nvSpPr>
          <p:cNvPr id="7" name="Shape 5"/>
          <p:cNvSpPr/>
          <p:nvPr/>
        </p:nvSpPr>
        <p:spPr>
          <a:xfrm>
            <a:off x="182880" y="1234440"/>
            <a:ext cx="2926080" cy="36576"/>
          </a:xfrm>
          <a:prstGeom prst="rect">
            <a:avLst/>
          </a:prstGeom>
          <a:solidFill>
            <a:srgbClr val="2E74B5"/>
          </a:solidFill>
          <a:ln/>
        </p:spPr>
      </p:sp>
      <p:sp>
        <p:nvSpPr>
          <p:cNvPr id="8" name="Text 6"/>
          <p:cNvSpPr/>
          <p:nvPr/>
        </p:nvSpPr>
        <p:spPr>
          <a:xfrm>
            <a:off x="182880" y="1353312"/>
            <a:ext cx="3017520" cy="1371600"/>
          </a:xfrm>
          <a:prstGeom prst="rect">
            <a:avLst/>
          </a:prstGeom>
          <a:noFill/>
          <a:ln/>
        </p:spPr>
        <p:txBody>
          <a:bodyPr wrap="square" rtlCol="0" anchor="t"/>
          <a:lstStyle/>
          <a:p>
            <a:pPr indent="0" marL="0">
              <a:buNone/>
            </a:pPr>
            <a:r>
              <a:rPr lang="en-US" sz="1000" dirty="0">
                <a:solidFill>
                  <a:srgbClr val="1A1A2E"/>
                </a:solidFill>
                <a:latin typeface="Times New Roman" pitchFamily="34" charset="0"/>
                <a:ea typeface="Times New Roman" pitchFamily="34" charset="-122"/>
                <a:cs typeface="Times New Roman" pitchFamily="34" charset="-120"/>
              </a:rPr>
              <a:t>Tổng hợp đơn hàng đã thanh toán theo ngày lĩnh hàng. Mỗi voucher ghi nhận danh sách phạm nhân, mặt hàng, tổng tiền và ảnh chụp số dư.</a:t>
            </a:r>
            <a:endParaRPr lang="en-US" sz="1000" dirty="0"/>
          </a:p>
        </p:txBody>
      </p:sp>
      <p:sp>
        <p:nvSpPr>
          <p:cNvPr id="9" name="Shape 7"/>
          <p:cNvSpPr/>
          <p:nvPr/>
        </p:nvSpPr>
        <p:spPr>
          <a:xfrm>
            <a:off x="182880" y="2834640"/>
            <a:ext cx="2926080" cy="320040"/>
          </a:xfrm>
          <a:prstGeom prst="rect">
            <a:avLst/>
          </a:prstGeom>
          <a:solidFill>
            <a:srgbClr val="1F3864"/>
          </a:solidFill>
          <a:ln/>
        </p:spPr>
      </p:sp>
      <p:sp>
        <p:nvSpPr>
          <p:cNvPr id="10" name="Text 8"/>
          <p:cNvSpPr/>
          <p:nvPr/>
        </p:nvSpPr>
        <p:spPr>
          <a:xfrm>
            <a:off x="228600" y="2852928"/>
            <a:ext cx="2834640" cy="274320"/>
          </a:xfrm>
          <a:prstGeom prst="rect">
            <a:avLst/>
          </a:prstGeom>
          <a:noFill/>
          <a:ln/>
        </p:spPr>
        <p:txBody>
          <a:bodyPr wrap="square" rtlCol="0" anchor="ctr"/>
          <a:lstStyle/>
          <a:p>
            <a:pPr indent="0" marL="0">
              <a:buNone/>
            </a:pPr>
            <a:r>
              <a:rPr lang="en-US" sz="850" dirty="0">
                <a:solidFill>
                  <a:srgbClr val="FFFFFF"/>
                </a:solidFill>
                <a:latin typeface="Courier New" pitchFamily="34" charset="0"/>
                <a:ea typeface="Courier New" pitchFamily="34" charset="-122"/>
                <a:cs typeface="Courier New" pitchFamily="34" charset="-120"/>
              </a:rPr>
              <a:t>Đường dẫn: vouchers.png</a:t>
            </a:r>
            <a:endParaRPr lang="en-US" sz="850" dirty="0"/>
          </a:p>
        </p:txBody>
      </p:sp>
      <p:sp>
        <p:nvSpPr>
          <p:cNvPr id="11" name="Text 9"/>
          <p:cNvSpPr/>
          <p:nvPr/>
        </p:nvSpPr>
        <p:spPr>
          <a:xfrm>
            <a:off x="182880" y="3273552"/>
            <a:ext cx="3017520" cy="237744"/>
          </a:xfrm>
          <a:prstGeom prst="rect">
            <a:avLst/>
          </a:prstGeom>
          <a:noFill/>
          <a:ln/>
        </p:spPr>
        <p:txBody>
          <a:bodyPr wrap="square" rtlCol="0" anchor="ctr"/>
          <a:lstStyle/>
          <a:p>
            <a:pPr indent="0" marL="0">
              <a:buNone/>
            </a:pPr>
            <a:r>
              <a:rPr lang="en-US" sz="800" dirty="0">
                <a:solidFill>
                  <a:srgbClr val="595959"/>
                </a:solidFill>
                <a:latin typeface="Times New Roman" pitchFamily="34" charset="0"/>
                <a:ea typeface="Times New Roman" pitchFamily="34" charset="-122"/>
                <a:cs typeface="Times New Roman" pitchFamily="34" charset="-120"/>
              </a:rPr>
              <a:t>• Tổng hợp đơn đã thanh toán</a:t>
            </a:r>
            <a:endParaRPr lang="en-US" sz="800" dirty="0"/>
          </a:p>
        </p:txBody>
      </p:sp>
      <p:sp>
        <p:nvSpPr>
          <p:cNvPr id="12" name="Text 10"/>
          <p:cNvSpPr/>
          <p:nvPr/>
        </p:nvSpPr>
        <p:spPr>
          <a:xfrm>
            <a:off x="182880" y="3529584"/>
            <a:ext cx="3017520" cy="237744"/>
          </a:xfrm>
          <a:prstGeom prst="rect">
            <a:avLst/>
          </a:prstGeom>
          <a:noFill/>
          <a:ln/>
        </p:spPr>
        <p:txBody>
          <a:bodyPr wrap="square" rtlCol="0" anchor="ctr"/>
          <a:lstStyle/>
          <a:p>
            <a:pPr indent="0" marL="0">
              <a:buNone/>
            </a:pPr>
            <a:r>
              <a:rPr lang="en-US" sz="800" dirty="0">
                <a:solidFill>
                  <a:srgbClr val="595959"/>
                </a:solidFill>
                <a:latin typeface="Times New Roman" pitchFamily="34" charset="0"/>
                <a:ea typeface="Times New Roman" pitchFamily="34" charset="-122"/>
                <a:cs typeface="Times New Roman" pitchFamily="34" charset="-120"/>
              </a:rPr>
              <a:t>• Ảnh chụp số dư tại thời điểm tạo</a:t>
            </a:r>
            <a:endParaRPr lang="en-US" sz="800" dirty="0"/>
          </a:p>
        </p:txBody>
      </p:sp>
      <p:sp>
        <p:nvSpPr>
          <p:cNvPr id="13" name="Text 11"/>
          <p:cNvSpPr/>
          <p:nvPr/>
        </p:nvSpPr>
        <p:spPr>
          <a:xfrm>
            <a:off x="182880" y="3785616"/>
            <a:ext cx="3017520" cy="237744"/>
          </a:xfrm>
          <a:prstGeom prst="rect">
            <a:avLst/>
          </a:prstGeom>
          <a:noFill/>
          <a:ln/>
        </p:spPr>
        <p:txBody>
          <a:bodyPr wrap="square" rtlCol="0" anchor="ctr"/>
          <a:lstStyle/>
          <a:p>
            <a:pPr indent="0" marL="0">
              <a:buNone/>
            </a:pPr>
            <a:r>
              <a:rPr lang="en-US" sz="800" dirty="0">
                <a:solidFill>
                  <a:srgbClr val="595959"/>
                </a:solidFill>
                <a:latin typeface="Times New Roman" pitchFamily="34" charset="0"/>
                <a:ea typeface="Times New Roman" pitchFamily="34" charset="-122"/>
                <a:cs typeface="Times New Roman" pitchFamily="34" charset="-120"/>
              </a:rPr>
              <a:t>• In phiếu giao hàng chuẩn</a:t>
            </a:r>
            <a:endParaRPr lang="en-US" sz="800" dirty="0"/>
          </a:p>
        </p:txBody>
      </p:sp>
      <p:sp>
        <p:nvSpPr>
          <p:cNvPr id="14" name="Shape 12"/>
          <p:cNvSpPr/>
          <p:nvPr/>
        </p:nvSpPr>
        <p:spPr>
          <a:xfrm>
            <a:off x="3483864" y="557784"/>
            <a:ext cx="5623560" cy="4233672"/>
          </a:xfrm>
          <a:prstGeom prst="rect">
            <a:avLst/>
          </a:prstGeom>
          <a:solidFill>
            <a:srgbClr val="D9D9D9"/>
          </a:solidFill>
          <a:ln/>
          <a:effectLst>
            <a:outerShdw sx="100000" sy="100000" kx="0" ky="0" algn="bl" rotWithShape="0" blurRad="76200" dist="38100" dir="2700000">
              <a:srgbClr val="000000">
                <a:alpha val="25000"/>
              </a:srgbClr>
            </a:outerShdw>
          </a:effectLst>
        </p:spPr>
      </p:sp>
      <p:pic>
        <p:nvPicPr>
          <p:cNvPr id="15" name="Image 0" descr="D:\pet\carteen\tools\screenshots\vouchers.png">    </p:cNvPr>
          <p:cNvPicPr>
            <a:picLocks noChangeAspect="1"/>
          </p:cNvPicPr>
          <p:nvPr/>
        </p:nvPicPr>
        <p:blipFill>
          <a:blip r:embed="rId1"/>
          <a:srcRect l="0" r="0" t="0" b="0"/>
          <a:stretch/>
        </p:blipFill>
        <p:spPr>
          <a:xfrm>
            <a:off x="3429000" y="521208"/>
            <a:ext cx="5623560" cy="4233672"/>
          </a:xfrm>
          <a:prstGeom prst="rect">
            <a:avLst/>
          </a:prstGeom>
        </p:spPr>
      </p:pic>
      <p:sp>
        <p:nvSpPr>
          <p:cNvPr id="16" name="Shape 13"/>
          <p:cNvSpPr/>
          <p:nvPr/>
        </p:nvSpPr>
        <p:spPr>
          <a:xfrm>
            <a:off x="3429000" y="521208"/>
            <a:ext cx="5623560" cy="4233672"/>
          </a:xfrm>
          <a:prstGeom prst="rect">
            <a:avLst/>
          </a:prstGeom>
          <a:ln w="12700">
            <a:solidFill>
              <a:srgbClr val="D9D9D9"/>
            </a:solidFill>
            <a:prstDash val="solid"/>
          </a:ln>
        </p:spPr>
      </p:sp>
      <p:sp>
        <p:nvSpPr>
          <p:cNvPr id="17" name="Shape 14"/>
          <p:cNvSpPr/>
          <p:nvPr/>
        </p:nvSpPr>
        <p:spPr>
          <a:xfrm>
            <a:off x="0" y="4828032"/>
            <a:ext cx="9144000" cy="320040"/>
          </a:xfrm>
          <a:prstGeom prst="rect">
            <a:avLst/>
          </a:prstGeom>
          <a:solidFill>
            <a:srgbClr val="1F3864"/>
          </a:solidFill>
          <a:ln/>
        </p:spPr>
      </p:sp>
      <p:sp>
        <p:nvSpPr>
          <p:cNvPr id="18" name="Text 15"/>
          <p:cNvSpPr/>
          <p:nvPr/>
        </p:nvSpPr>
        <p:spPr>
          <a:xfrm>
            <a:off x="182880" y="4873752"/>
            <a:ext cx="8778240" cy="237744"/>
          </a:xfrm>
          <a:prstGeom prst="rect">
            <a:avLst/>
          </a:prstGeom>
          <a:noFill/>
          <a:ln/>
        </p:spPr>
        <p:txBody>
          <a:bodyPr wrap="square" rtlCol="0" anchor="ctr"/>
          <a:lstStyle/>
          <a:p>
            <a:pPr algn="ctr" indent="0" marL="0">
              <a:buNone/>
            </a:pPr>
            <a:r>
              <a:rPr lang="en-US" sz="700" dirty="0">
                <a:solidFill>
                  <a:srgbClr val="DEEAF1"/>
                </a:solidFill>
                <a:latin typeface="Times New Roman" pitchFamily="34" charset="0"/>
                <a:ea typeface="Times New Roman" pitchFamily="34" charset="-122"/>
                <a:cs typeface="Times New Roman" pitchFamily="34" charset="-120"/>
              </a:rPr>
              <a:t>Hệ thống Quản lý Căn-teen Trại Giam   |   Phiếu Giao hàng (Vouchers)</a:t>
            </a:r>
            <a:endParaRPr lang="en-US" sz="7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FFFFF"/>
          </a:solidFill>
          <a:ln/>
        </p:spPr>
      </p:sp>
      <p:sp>
        <p:nvSpPr>
          <p:cNvPr id="3" name="Shape 1"/>
          <p:cNvSpPr/>
          <p:nvPr/>
        </p:nvSpPr>
        <p:spPr>
          <a:xfrm>
            <a:off x="0" y="0"/>
            <a:ext cx="9144000" cy="502920"/>
          </a:xfrm>
          <a:prstGeom prst="rect">
            <a:avLst/>
          </a:prstGeom>
          <a:solidFill>
            <a:srgbClr val="1F3864"/>
          </a:solidFill>
          <a:ln/>
        </p:spPr>
      </p:sp>
      <p:sp>
        <p:nvSpPr>
          <p:cNvPr id="4" name="Text 2"/>
          <p:cNvSpPr/>
          <p:nvPr/>
        </p:nvSpPr>
        <p:spPr>
          <a:xfrm>
            <a:off x="228600" y="73152"/>
            <a:ext cx="8686800" cy="347472"/>
          </a:xfrm>
          <a:prstGeom prst="rect">
            <a:avLst/>
          </a:prstGeom>
          <a:noFill/>
          <a:ln/>
        </p:spPr>
        <p:txBody>
          <a:bodyPr wrap="square" rtlCol="0" anchor="ctr"/>
          <a:lstStyle/>
          <a:p>
            <a:pPr indent="0" marL="0">
              <a:buNone/>
            </a:pPr>
            <a:r>
              <a:rPr lang="en-US" sz="900" i="1" dirty="0">
                <a:solidFill>
                  <a:srgbClr val="DEEAF1"/>
                </a:solidFill>
                <a:latin typeface="Times New Roman" pitchFamily="34" charset="0"/>
                <a:ea typeface="Times New Roman" pitchFamily="34" charset="-122"/>
                <a:cs typeface="Times New Roman" pitchFamily="34" charset="-120"/>
              </a:rPr>
              <a:t>Cài đặt</a:t>
            </a:r>
            <a:endParaRPr lang="en-US" sz="900" dirty="0"/>
          </a:p>
        </p:txBody>
      </p:sp>
      <p:sp>
        <p:nvSpPr>
          <p:cNvPr id="5" name="Shape 3"/>
          <p:cNvSpPr/>
          <p:nvPr/>
        </p:nvSpPr>
        <p:spPr>
          <a:xfrm>
            <a:off x="0" y="502920"/>
            <a:ext cx="3291840" cy="4325112"/>
          </a:xfrm>
          <a:prstGeom prst="rect">
            <a:avLst/>
          </a:prstGeom>
          <a:solidFill>
            <a:srgbClr val="F5F7FA"/>
          </a:solidFill>
          <a:ln/>
        </p:spPr>
      </p:sp>
      <p:sp>
        <p:nvSpPr>
          <p:cNvPr id="6" name="Text 4"/>
          <p:cNvSpPr/>
          <p:nvPr/>
        </p:nvSpPr>
        <p:spPr>
          <a:xfrm>
            <a:off x="182880" y="594360"/>
            <a:ext cx="3017520" cy="640080"/>
          </a:xfrm>
          <a:prstGeom prst="rect">
            <a:avLst/>
          </a:prstGeom>
          <a:noFill/>
          <a:ln/>
        </p:spPr>
        <p:txBody>
          <a:bodyPr wrap="square" rtlCol="0" anchor="ctr"/>
          <a:lstStyle/>
          <a:p>
            <a:pPr indent="0" marL="0">
              <a:buNone/>
            </a:pPr>
            <a:r>
              <a:rPr lang="en-US" sz="1500" b="1" dirty="0">
                <a:solidFill>
                  <a:srgbClr val="1F3864"/>
                </a:solidFill>
                <a:latin typeface="Times New Roman" pitchFamily="34" charset="0"/>
                <a:ea typeface="Times New Roman" pitchFamily="34" charset="-122"/>
                <a:cs typeface="Times New Roman" pitchFamily="34" charset="-120"/>
              </a:rPr>
              <a:t>Quản lý Cán bộ</a:t>
            </a:r>
            <a:endParaRPr lang="en-US" sz="1500" dirty="0"/>
          </a:p>
        </p:txBody>
      </p:sp>
      <p:sp>
        <p:nvSpPr>
          <p:cNvPr id="7" name="Shape 5"/>
          <p:cNvSpPr/>
          <p:nvPr/>
        </p:nvSpPr>
        <p:spPr>
          <a:xfrm>
            <a:off x="182880" y="1234440"/>
            <a:ext cx="2926080" cy="36576"/>
          </a:xfrm>
          <a:prstGeom prst="rect">
            <a:avLst/>
          </a:prstGeom>
          <a:solidFill>
            <a:srgbClr val="2E74B5"/>
          </a:solidFill>
          <a:ln/>
        </p:spPr>
      </p:sp>
      <p:sp>
        <p:nvSpPr>
          <p:cNvPr id="8" name="Text 6"/>
          <p:cNvSpPr/>
          <p:nvPr/>
        </p:nvSpPr>
        <p:spPr>
          <a:xfrm>
            <a:off x="182880" y="1353312"/>
            <a:ext cx="3017520" cy="1371600"/>
          </a:xfrm>
          <a:prstGeom prst="rect">
            <a:avLst/>
          </a:prstGeom>
          <a:noFill/>
          <a:ln/>
        </p:spPr>
        <p:txBody>
          <a:bodyPr wrap="square" rtlCol="0" anchor="t"/>
          <a:lstStyle/>
          <a:p>
            <a:pPr indent="0" marL="0">
              <a:buNone/>
            </a:pPr>
            <a:r>
              <a:rPr lang="en-US" sz="1000" dirty="0">
                <a:solidFill>
                  <a:srgbClr val="1A1A2E"/>
                </a:solidFill>
                <a:latin typeface="Times New Roman" pitchFamily="34" charset="0"/>
                <a:ea typeface="Times New Roman" pitchFamily="34" charset="-122"/>
                <a:cs typeface="Times New Roman" pitchFamily="34" charset="-120"/>
              </a:rPr>
              <a:t>CRUD tài khoản cán bộ: gán vai trò ADMIN/OPERATOR/CASHIER, phân khu vực phụ trách. Ghi nhận nhật ký thao tác đầy đủ.</a:t>
            </a:r>
            <a:endParaRPr lang="en-US" sz="1000" dirty="0"/>
          </a:p>
        </p:txBody>
      </p:sp>
      <p:sp>
        <p:nvSpPr>
          <p:cNvPr id="9" name="Shape 7"/>
          <p:cNvSpPr/>
          <p:nvPr/>
        </p:nvSpPr>
        <p:spPr>
          <a:xfrm>
            <a:off x="182880" y="2834640"/>
            <a:ext cx="2926080" cy="320040"/>
          </a:xfrm>
          <a:prstGeom prst="rect">
            <a:avLst/>
          </a:prstGeom>
          <a:solidFill>
            <a:srgbClr val="1F3864"/>
          </a:solidFill>
          <a:ln/>
        </p:spPr>
      </p:sp>
      <p:sp>
        <p:nvSpPr>
          <p:cNvPr id="10" name="Text 8"/>
          <p:cNvSpPr/>
          <p:nvPr/>
        </p:nvSpPr>
        <p:spPr>
          <a:xfrm>
            <a:off x="228600" y="2852928"/>
            <a:ext cx="2834640" cy="274320"/>
          </a:xfrm>
          <a:prstGeom prst="rect">
            <a:avLst/>
          </a:prstGeom>
          <a:noFill/>
          <a:ln/>
        </p:spPr>
        <p:txBody>
          <a:bodyPr wrap="square" rtlCol="0" anchor="ctr"/>
          <a:lstStyle/>
          <a:p>
            <a:pPr indent="0" marL="0">
              <a:buNone/>
            </a:pPr>
            <a:r>
              <a:rPr lang="en-US" sz="850" dirty="0">
                <a:solidFill>
                  <a:srgbClr val="FFFFFF"/>
                </a:solidFill>
                <a:latin typeface="Courier New" pitchFamily="34" charset="0"/>
                <a:ea typeface="Courier New" pitchFamily="34" charset="-122"/>
                <a:cs typeface="Courier New" pitchFamily="34" charset="-120"/>
              </a:rPr>
              <a:t>Đường dẫn: operators.png</a:t>
            </a:r>
            <a:endParaRPr lang="en-US" sz="850" dirty="0"/>
          </a:p>
        </p:txBody>
      </p:sp>
      <p:sp>
        <p:nvSpPr>
          <p:cNvPr id="11" name="Text 9"/>
          <p:cNvSpPr/>
          <p:nvPr/>
        </p:nvSpPr>
        <p:spPr>
          <a:xfrm>
            <a:off x="182880" y="3273552"/>
            <a:ext cx="3017520" cy="237744"/>
          </a:xfrm>
          <a:prstGeom prst="rect">
            <a:avLst/>
          </a:prstGeom>
          <a:noFill/>
          <a:ln/>
        </p:spPr>
        <p:txBody>
          <a:bodyPr wrap="square" rtlCol="0" anchor="ctr"/>
          <a:lstStyle/>
          <a:p>
            <a:pPr indent="0" marL="0">
              <a:buNone/>
            </a:pPr>
            <a:r>
              <a:rPr lang="en-US" sz="800" dirty="0">
                <a:solidFill>
                  <a:srgbClr val="595959"/>
                </a:solidFill>
                <a:latin typeface="Times New Roman" pitchFamily="34" charset="0"/>
                <a:ea typeface="Times New Roman" pitchFamily="34" charset="-122"/>
                <a:cs typeface="Times New Roman" pitchFamily="34" charset="-120"/>
              </a:rPr>
              <a:t>• CRUD tài khoản cán bộ</a:t>
            </a:r>
            <a:endParaRPr lang="en-US" sz="800" dirty="0"/>
          </a:p>
        </p:txBody>
      </p:sp>
      <p:sp>
        <p:nvSpPr>
          <p:cNvPr id="12" name="Text 10"/>
          <p:cNvSpPr/>
          <p:nvPr/>
        </p:nvSpPr>
        <p:spPr>
          <a:xfrm>
            <a:off x="182880" y="3529584"/>
            <a:ext cx="3017520" cy="237744"/>
          </a:xfrm>
          <a:prstGeom prst="rect">
            <a:avLst/>
          </a:prstGeom>
          <a:noFill/>
          <a:ln/>
        </p:spPr>
        <p:txBody>
          <a:bodyPr wrap="square" rtlCol="0" anchor="ctr"/>
          <a:lstStyle/>
          <a:p>
            <a:pPr indent="0" marL="0">
              <a:buNone/>
            </a:pPr>
            <a:r>
              <a:rPr lang="en-US" sz="800" dirty="0">
                <a:solidFill>
                  <a:srgbClr val="595959"/>
                </a:solidFill>
                <a:latin typeface="Times New Roman" pitchFamily="34" charset="0"/>
                <a:ea typeface="Times New Roman" pitchFamily="34" charset="-122"/>
                <a:cs typeface="Times New Roman" pitchFamily="34" charset="-120"/>
              </a:rPr>
              <a:t>• Gán vai trò ADMIN/OPERATOR/CASHIER</a:t>
            </a:r>
            <a:endParaRPr lang="en-US" sz="800" dirty="0"/>
          </a:p>
        </p:txBody>
      </p:sp>
      <p:sp>
        <p:nvSpPr>
          <p:cNvPr id="13" name="Text 11"/>
          <p:cNvSpPr/>
          <p:nvPr/>
        </p:nvSpPr>
        <p:spPr>
          <a:xfrm>
            <a:off x="182880" y="3785616"/>
            <a:ext cx="3017520" cy="237744"/>
          </a:xfrm>
          <a:prstGeom prst="rect">
            <a:avLst/>
          </a:prstGeom>
          <a:noFill/>
          <a:ln/>
        </p:spPr>
        <p:txBody>
          <a:bodyPr wrap="square" rtlCol="0" anchor="ctr"/>
          <a:lstStyle/>
          <a:p>
            <a:pPr indent="0" marL="0">
              <a:buNone/>
            </a:pPr>
            <a:r>
              <a:rPr lang="en-US" sz="800" dirty="0">
                <a:solidFill>
                  <a:srgbClr val="595959"/>
                </a:solidFill>
                <a:latin typeface="Times New Roman" pitchFamily="34" charset="0"/>
                <a:ea typeface="Times New Roman" pitchFamily="34" charset="-122"/>
                <a:cs typeface="Times New Roman" pitchFamily="34" charset="-120"/>
              </a:rPr>
              <a:t>• Phân khu vực phụ trách</a:t>
            </a:r>
            <a:endParaRPr lang="en-US" sz="800" dirty="0"/>
          </a:p>
        </p:txBody>
      </p:sp>
      <p:sp>
        <p:nvSpPr>
          <p:cNvPr id="14" name="Shape 12"/>
          <p:cNvSpPr/>
          <p:nvPr/>
        </p:nvSpPr>
        <p:spPr>
          <a:xfrm>
            <a:off x="3483864" y="557784"/>
            <a:ext cx="5623560" cy="4233672"/>
          </a:xfrm>
          <a:prstGeom prst="rect">
            <a:avLst/>
          </a:prstGeom>
          <a:solidFill>
            <a:srgbClr val="D9D9D9"/>
          </a:solidFill>
          <a:ln/>
          <a:effectLst>
            <a:outerShdw sx="100000" sy="100000" kx="0" ky="0" algn="bl" rotWithShape="0" blurRad="76200" dist="38100" dir="2700000">
              <a:srgbClr val="000000">
                <a:alpha val="25000"/>
              </a:srgbClr>
            </a:outerShdw>
          </a:effectLst>
        </p:spPr>
      </p:sp>
      <p:pic>
        <p:nvPicPr>
          <p:cNvPr id="15" name="Image 0" descr="D:\pet\carteen\tools\screenshots\operators.png">    </p:cNvPr>
          <p:cNvPicPr>
            <a:picLocks noChangeAspect="1"/>
          </p:cNvPicPr>
          <p:nvPr/>
        </p:nvPicPr>
        <p:blipFill>
          <a:blip r:embed="rId1"/>
          <a:srcRect l="0" r="0" t="0" b="0"/>
          <a:stretch/>
        </p:blipFill>
        <p:spPr>
          <a:xfrm>
            <a:off x="3429000" y="521208"/>
            <a:ext cx="5623560" cy="4233672"/>
          </a:xfrm>
          <a:prstGeom prst="rect">
            <a:avLst/>
          </a:prstGeom>
        </p:spPr>
      </p:pic>
      <p:sp>
        <p:nvSpPr>
          <p:cNvPr id="16" name="Shape 13"/>
          <p:cNvSpPr/>
          <p:nvPr/>
        </p:nvSpPr>
        <p:spPr>
          <a:xfrm>
            <a:off x="3429000" y="521208"/>
            <a:ext cx="5623560" cy="4233672"/>
          </a:xfrm>
          <a:prstGeom prst="rect">
            <a:avLst/>
          </a:prstGeom>
          <a:ln w="12700">
            <a:solidFill>
              <a:srgbClr val="D9D9D9"/>
            </a:solidFill>
            <a:prstDash val="solid"/>
          </a:ln>
        </p:spPr>
      </p:sp>
      <p:sp>
        <p:nvSpPr>
          <p:cNvPr id="17" name="Shape 14"/>
          <p:cNvSpPr/>
          <p:nvPr/>
        </p:nvSpPr>
        <p:spPr>
          <a:xfrm>
            <a:off x="0" y="4828032"/>
            <a:ext cx="9144000" cy="320040"/>
          </a:xfrm>
          <a:prstGeom prst="rect">
            <a:avLst/>
          </a:prstGeom>
          <a:solidFill>
            <a:srgbClr val="1F3864"/>
          </a:solidFill>
          <a:ln/>
        </p:spPr>
      </p:sp>
      <p:sp>
        <p:nvSpPr>
          <p:cNvPr id="18" name="Text 15"/>
          <p:cNvSpPr/>
          <p:nvPr/>
        </p:nvSpPr>
        <p:spPr>
          <a:xfrm>
            <a:off x="182880" y="4873752"/>
            <a:ext cx="8778240" cy="237744"/>
          </a:xfrm>
          <a:prstGeom prst="rect">
            <a:avLst/>
          </a:prstGeom>
          <a:noFill/>
          <a:ln/>
        </p:spPr>
        <p:txBody>
          <a:bodyPr wrap="square" rtlCol="0" anchor="ctr"/>
          <a:lstStyle/>
          <a:p>
            <a:pPr algn="ctr" indent="0" marL="0">
              <a:buNone/>
            </a:pPr>
            <a:r>
              <a:rPr lang="en-US" sz="700" dirty="0">
                <a:solidFill>
                  <a:srgbClr val="DEEAF1"/>
                </a:solidFill>
                <a:latin typeface="Times New Roman" pitchFamily="34" charset="0"/>
                <a:ea typeface="Times New Roman" pitchFamily="34" charset="-122"/>
                <a:cs typeface="Times New Roman" pitchFamily="34" charset="-120"/>
              </a:rPr>
              <a:t>Hệ thống Quản lý Căn-teen Trại Giam   |   Quản lý Cán bộ</a:t>
            </a:r>
            <a:endParaRPr lang="en-US" sz="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FFFFF"/>
          </a:solidFill>
          <a:ln/>
        </p:spPr>
      </p:sp>
      <p:sp>
        <p:nvSpPr>
          <p:cNvPr id="3" name="Shape 1"/>
          <p:cNvSpPr/>
          <p:nvPr/>
        </p:nvSpPr>
        <p:spPr>
          <a:xfrm>
            <a:off x="0" y="0"/>
            <a:ext cx="9144000" cy="502920"/>
          </a:xfrm>
          <a:prstGeom prst="rect">
            <a:avLst/>
          </a:prstGeom>
          <a:solidFill>
            <a:srgbClr val="1F3864"/>
          </a:solidFill>
          <a:ln/>
        </p:spPr>
      </p:sp>
      <p:sp>
        <p:nvSpPr>
          <p:cNvPr id="4" name="Text 2"/>
          <p:cNvSpPr/>
          <p:nvPr/>
        </p:nvSpPr>
        <p:spPr>
          <a:xfrm>
            <a:off x="228600" y="73152"/>
            <a:ext cx="8686800" cy="347472"/>
          </a:xfrm>
          <a:prstGeom prst="rect">
            <a:avLst/>
          </a:prstGeom>
          <a:noFill/>
          <a:ln/>
        </p:spPr>
        <p:txBody>
          <a:bodyPr wrap="square" rtlCol="0" anchor="ctr"/>
          <a:lstStyle/>
          <a:p>
            <a:pPr indent="0" marL="0">
              <a:buNone/>
            </a:pPr>
            <a:r>
              <a:rPr lang="en-US" sz="900" i="1" dirty="0">
                <a:solidFill>
                  <a:srgbClr val="DEEAF1"/>
                </a:solidFill>
                <a:latin typeface="Times New Roman" pitchFamily="34" charset="0"/>
                <a:ea typeface="Times New Roman" pitchFamily="34" charset="-122"/>
                <a:cs typeface="Times New Roman" pitchFamily="34" charset="-120"/>
              </a:rPr>
              <a:t>Cài đặt</a:t>
            </a:r>
            <a:endParaRPr lang="en-US" sz="900" dirty="0"/>
          </a:p>
        </p:txBody>
      </p:sp>
      <p:sp>
        <p:nvSpPr>
          <p:cNvPr id="5" name="Shape 3"/>
          <p:cNvSpPr/>
          <p:nvPr/>
        </p:nvSpPr>
        <p:spPr>
          <a:xfrm>
            <a:off x="0" y="502920"/>
            <a:ext cx="3291840" cy="4325112"/>
          </a:xfrm>
          <a:prstGeom prst="rect">
            <a:avLst/>
          </a:prstGeom>
          <a:solidFill>
            <a:srgbClr val="F5F7FA"/>
          </a:solidFill>
          <a:ln/>
        </p:spPr>
      </p:sp>
      <p:sp>
        <p:nvSpPr>
          <p:cNvPr id="6" name="Text 4"/>
          <p:cNvSpPr/>
          <p:nvPr/>
        </p:nvSpPr>
        <p:spPr>
          <a:xfrm>
            <a:off x="182880" y="594360"/>
            <a:ext cx="3017520" cy="640080"/>
          </a:xfrm>
          <a:prstGeom prst="rect">
            <a:avLst/>
          </a:prstGeom>
          <a:noFill/>
          <a:ln/>
        </p:spPr>
        <p:txBody>
          <a:bodyPr wrap="square" rtlCol="0" anchor="ctr"/>
          <a:lstStyle/>
          <a:p>
            <a:pPr indent="0" marL="0">
              <a:buNone/>
            </a:pPr>
            <a:r>
              <a:rPr lang="en-US" sz="1500" b="1" dirty="0">
                <a:solidFill>
                  <a:srgbClr val="1F3864"/>
                </a:solidFill>
                <a:latin typeface="Times New Roman" pitchFamily="34" charset="0"/>
                <a:ea typeface="Times New Roman" pitchFamily="34" charset="-122"/>
                <a:cs typeface="Times New Roman" pitchFamily="34" charset="-120"/>
              </a:rPr>
              <a:t>Danh sách Phạm nhân</a:t>
            </a:r>
            <a:endParaRPr lang="en-US" sz="1500" dirty="0"/>
          </a:p>
        </p:txBody>
      </p:sp>
      <p:sp>
        <p:nvSpPr>
          <p:cNvPr id="7" name="Shape 5"/>
          <p:cNvSpPr/>
          <p:nvPr/>
        </p:nvSpPr>
        <p:spPr>
          <a:xfrm>
            <a:off x="182880" y="1234440"/>
            <a:ext cx="2926080" cy="36576"/>
          </a:xfrm>
          <a:prstGeom prst="rect">
            <a:avLst/>
          </a:prstGeom>
          <a:solidFill>
            <a:srgbClr val="2E74B5"/>
          </a:solidFill>
          <a:ln/>
        </p:spPr>
      </p:sp>
      <p:sp>
        <p:nvSpPr>
          <p:cNvPr id="8" name="Text 6"/>
          <p:cNvSpPr/>
          <p:nvPr/>
        </p:nvSpPr>
        <p:spPr>
          <a:xfrm>
            <a:off x="182880" y="1353312"/>
            <a:ext cx="3017520" cy="1371600"/>
          </a:xfrm>
          <a:prstGeom prst="rect">
            <a:avLst/>
          </a:prstGeom>
          <a:noFill/>
          <a:ln/>
        </p:spPr>
        <p:txBody>
          <a:bodyPr wrap="square" rtlCol="0" anchor="t"/>
          <a:lstStyle/>
          <a:p>
            <a:pPr indent="0" marL="0">
              <a:buNone/>
            </a:pPr>
            <a:r>
              <a:rPr lang="en-US" sz="1000" dirty="0">
                <a:solidFill>
                  <a:srgbClr val="1A1A2E"/>
                </a:solidFill>
                <a:latin typeface="Times New Roman" pitchFamily="34" charset="0"/>
                <a:ea typeface="Times New Roman" pitchFamily="34" charset="-122"/>
                <a:cs typeface="Times New Roman" pitchFamily="34" charset="-120"/>
              </a:rPr>
              <a:t>Tra cứu hồ sơ phạm nhân theo mã lưu ký hoặc buồng giam. Hiển thị thông tin cá nhân, khu vực, tình trạng giam giữ, đồng bộ từ SQL Server 2005.</a:t>
            </a:r>
            <a:endParaRPr lang="en-US" sz="1000" dirty="0"/>
          </a:p>
        </p:txBody>
      </p:sp>
      <p:sp>
        <p:nvSpPr>
          <p:cNvPr id="9" name="Shape 7"/>
          <p:cNvSpPr/>
          <p:nvPr/>
        </p:nvSpPr>
        <p:spPr>
          <a:xfrm>
            <a:off x="182880" y="2834640"/>
            <a:ext cx="2926080" cy="320040"/>
          </a:xfrm>
          <a:prstGeom prst="rect">
            <a:avLst/>
          </a:prstGeom>
          <a:solidFill>
            <a:srgbClr val="1F3864"/>
          </a:solidFill>
          <a:ln/>
        </p:spPr>
      </p:sp>
      <p:sp>
        <p:nvSpPr>
          <p:cNvPr id="10" name="Text 8"/>
          <p:cNvSpPr/>
          <p:nvPr/>
        </p:nvSpPr>
        <p:spPr>
          <a:xfrm>
            <a:off x="228600" y="2852928"/>
            <a:ext cx="2834640" cy="274320"/>
          </a:xfrm>
          <a:prstGeom prst="rect">
            <a:avLst/>
          </a:prstGeom>
          <a:noFill/>
          <a:ln/>
        </p:spPr>
        <p:txBody>
          <a:bodyPr wrap="square" rtlCol="0" anchor="ctr"/>
          <a:lstStyle/>
          <a:p>
            <a:pPr indent="0" marL="0">
              <a:buNone/>
            </a:pPr>
            <a:r>
              <a:rPr lang="en-US" sz="850" dirty="0">
                <a:solidFill>
                  <a:srgbClr val="FFFFFF"/>
                </a:solidFill>
                <a:latin typeface="Courier New" pitchFamily="34" charset="0"/>
                <a:ea typeface="Courier New" pitchFamily="34" charset="-122"/>
                <a:cs typeface="Courier New" pitchFamily="34" charset="-120"/>
              </a:rPr>
              <a:t>Đường dẫn: prisoner-list.png</a:t>
            </a:r>
            <a:endParaRPr lang="en-US" sz="850" dirty="0"/>
          </a:p>
        </p:txBody>
      </p:sp>
      <p:sp>
        <p:nvSpPr>
          <p:cNvPr id="11" name="Shape 9"/>
          <p:cNvSpPr/>
          <p:nvPr/>
        </p:nvSpPr>
        <p:spPr>
          <a:xfrm>
            <a:off x="3483864" y="557784"/>
            <a:ext cx="5623560" cy="4233672"/>
          </a:xfrm>
          <a:prstGeom prst="rect">
            <a:avLst/>
          </a:prstGeom>
          <a:solidFill>
            <a:srgbClr val="D9D9D9"/>
          </a:solidFill>
          <a:ln/>
          <a:effectLst>
            <a:outerShdw sx="100000" sy="100000" kx="0" ky="0" algn="bl" rotWithShape="0" blurRad="76200" dist="38100" dir="2700000">
              <a:srgbClr val="000000">
                <a:alpha val="25000"/>
              </a:srgbClr>
            </a:outerShdw>
          </a:effectLst>
        </p:spPr>
      </p:sp>
      <p:pic>
        <p:nvPicPr>
          <p:cNvPr id="12" name="Image 0" descr="D:\pet\carteen\tools\screenshots\prisoner-list.png">    </p:cNvPr>
          <p:cNvPicPr>
            <a:picLocks noChangeAspect="1"/>
          </p:cNvPicPr>
          <p:nvPr/>
        </p:nvPicPr>
        <p:blipFill>
          <a:blip r:embed="rId1"/>
          <a:srcRect l="0" r="0" t="0" b="0"/>
          <a:stretch/>
        </p:blipFill>
        <p:spPr>
          <a:xfrm>
            <a:off x="3429000" y="521208"/>
            <a:ext cx="5623560" cy="4233672"/>
          </a:xfrm>
          <a:prstGeom prst="rect">
            <a:avLst/>
          </a:prstGeom>
        </p:spPr>
      </p:pic>
      <p:sp>
        <p:nvSpPr>
          <p:cNvPr id="13" name="Shape 10"/>
          <p:cNvSpPr/>
          <p:nvPr/>
        </p:nvSpPr>
        <p:spPr>
          <a:xfrm>
            <a:off x="3429000" y="521208"/>
            <a:ext cx="5623560" cy="4233672"/>
          </a:xfrm>
          <a:prstGeom prst="rect">
            <a:avLst/>
          </a:prstGeom>
          <a:ln w="12700">
            <a:solidFill>
              <a:srgbClr val="D9D9D9"/>
            </a:solidFill>
            <a:prstDash val="solid"/>
          </a:ln>
        </p:spPr>
      </p:sp>
      <p:sp>
        <p:nvSpPr>
          <p:cNvPr id="14" name="Shape 11"/>
          <p:cNvSpPr/>
          <p:nvPr/>
        </p:nvSpPr>
        <p:spPr>
          <a:xfrm>
            <a:off x="0" y="4828032"/>
            <a:ext cx="9144000" cy="320040"/>
          </a:xfrm>
          <a:prstGeom prst="rect">
            <a:avLst/>
          </a:prstGeom>
          <a:solidFill>
            <a:srgbClr val="1F3864"/>
          </a:solidFill>
          <a:ln/>
        </p:spPr>
      </p:sp>
      <p:sp>
        <p:nvSpPr>
          <p:cNvPr id="15" name="Text 12"/>
          <p:cNvSpPr/>
          <p:nvPr/>
        </p:nvSpPr>
        <p:spPr>
          <a:xfrm>
            <a:off x="182880" y="4873752"/>
            <a:ext cx="8778240" cy="237744"/>
          </a:xfrm>
          <a:prstGeom prst="rect">
            <a:avLst/>
          </a:prstGeom>
          <a:noFill/>
          <a:ln/>
        </p:spPr>
        <p:txBody>
          <a:bodyPr wrap="square" rtlCol="0" anchor="ctr"/>
          <a:lstStyle/>
          <a:p>
            <a:pPr algn="ctr" indent="0" marL="0">
              <a:buNone/>
            </a:pPr>
            <a:r>
              <a:rPr lang="en-US" sz="700" dirty="0">
                <a:solidFill>
                  <a:srgbClr val="DEEAF1"/>
                </a:solidFill>
                <a:latin typeface="Times New Roman" pitchFamily="34" charset="0"/>
                <a:ea typeface="Times New Roman" pitchFamily="34" charset="-122"/>
                <a:cs typeface="Times New Roman" pitchFamily="34" charset="-120"/>
              </a:rPr>
              <a:t>Hệ thống Quản lý Căn-teen Trại Giam   |   Danh sách Phạm nhân</a:t>
            </a:r>
            <a:endParaRPr lang="en-US" sz="7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2E74B5"/>
          </a:solidFill>
          <a:ln/>
        </p:spPr>
      </p:sp>
      <p:sp>
        <p:nvSpPr>
          <p:cNvPr id="3" name="Text 1"/>
          <p:cNvSpPr/>
          <p:nvPr/>
        </p:nvSpPr>
        <p:spPr>
          <a:xfrm>
            <a:off x="457200" y="548640"/>
            <a:ext cx="1828800" cy="1828800"/>
          </a:xfrm>
          <a:prstGeom prst="rect">
            <a:avLst/>
          </a:prstGeom>
          <a:noFill/>
          <a:ln/>
        </p:spPr>
        <p:txBody>
          <a:bodyPr wrap="square" rtlCol="0" anchor="ctr"/>
          <a:lstStyle/>
          <a:p>
            <a:pPr indent="0" marL="0">
              <a:buNone/>
            </a:pPr>
            <a:r>
              <a:rPr lang="en-US" sz="9000" b="1" dirty="0">
                <a:solidFill>
                  <a:srgbClr val="FFFFFF">
                    <a:alpha val="30000"/>
                  </a:srgbClr>
                </a:solidFill>
                <a:latin typeface="Times New Roman" pitchFamily="34" charset="0"/>
                <a:ea typeface="Times New Roman" pitchFamily="34" charset="-122"/>
                <a:cs typeface="Times New Roman" pitchFamily="34" charset="-120"/>
              </a:rPr>
              <a:t>05</a:t>
            </a:r>
            <a:endParaRPr lang="en-US" sz="9000" dirty="0"/>
          </a:p>
        </p:txBody>
      </p:sp>
      <p:sp>
        <p:nvSpPr>
          <p:cNvPr id="4" name="Shape 2"/>
          <p:cNvSpPr/>
          <p:nvPr/>
        </p:nvSpPr>
        <p:spPr>
          <a:xfrm>
            <a:off x="0" y="1828800"/>
            <a:ext cx="91440" cy="1645920"/>
          </a:xfrm>
          <a:prstGeom prst="rect">
            <a:avLst/>
          </a:prstGeom>
          <a:solidFill>
            <a:srgbClr val="C00000"/>
          </a:solidFill>
          <a:ln/>
        </p:spPr>
      </p:sp>
      <p:sp>
        <p:nvSpPr>
          <p:cNvPr id="5" name="Text 3"/>
          <p:cNvSpPr/>
          <p:nvPr/>
        </p:nvSpPr>
        <p:spPr>
          <a:xfrm>
            <a:off x="365760" y="1828800"/>
            <a:ext cx="8229600" cy="365760"/>
          </a:xfrm>
          <a:prstGeom prst="rect">
            <a:avLst/>
          </a:prstGeom>
          <a:noFill/>
          <a:ln/>
        </p:spPr>
        <p:txBody>
          <a:bodyPr wrap="square" rtlCol="0" anchor="ctr"/>
          <a:lstStyle/>
          <a:p>
            <a:pPr indent="0" marL="0">
              <a:buNone/>
            </a:pPr>
            <a:r>
              <a:rPr lang="en-US" sz="1100" i="1" dirty="0">
                <a:solidFill>
                  <a:srgbClr val="DEEAF1"/>
                </a:solidFill>
                <a:latin typeface="Times New Roman" pitchFamily="34" charset="0"/>
                <a:ea typeface="Times New Roman" pitchFamily="34" charset="-122"/>
                <a:cs typeface="Times New Roman" pitchFamily="34" charset="-120"/>
              </a:rPr>
              <a:t>Nhóm chức năng</a:t>
            </a:r>
            <a:endParaRPr lang="en-US" sz="1100" dirty="0"/>
          </a:p>
        </p:txBody>
      </p:sp>
      <p:sp>
        <p:nvSpPr>
          <p:cNvPr id="6" name="Text 4"/>
          <p:cNvSpPr/>
          <p:nvPr/>
        </p:nvSpPr>
        <p:spPr>
          <a:xfrm>
            <a:off x="365760" y="2194560"/>
            <a:ext cx="8229600" cy="1097280"/>
          </a:xfrm>
          <a:prstGeom prst="rect">
            <a:avLst/>
          </a:prstGeom>
          <a:noFill/>
          <a:ln/>
        </p:spPr>
        <p:txBody>
          <a:bodyPr wrap="square" rtlCol="0" anchor="ctr"/>
          <a:lstStyle/>
          <a:p>
            <a:pPr indent="0" marL="0">
              <a:buNone/>
            </a:pPr>
            <a:r>
              <a:rPr lang="en-US" sz="3000" b="1" dirty="0">
                <a:solidFill>
                  <a:srgbClr val="FFFFFF"/>
                </a:solidFill>
                <a:latin typeface="Times New Roman" pitchFamily="34" charset="0"/>
                <a:ea typeface="Times New Roman" pitchFamily="34" charset="-122"/>
                <a:cs typeface="Times New Roman" pitchFamily="34" charset="-120"/>
              </a:rPr>
              <a:t>Đặt hàng Kiosk</a:t>
            </a:r>
            <a:endParaRPr lang="en-US" sz="3000" dirty="0"/>
          </a:p>
        </p:txBody>
      </p:sp>
      <p:sp>
        <p:nvSpPr>
          <p:cNvPr id="7" name="Text 5"/>
          <p:cNvSpPr/>
          <p:nvPr/>
        </p:nvSpPr>
        <p:spPr>
          <a:xfrm>
            <a:off x="7772400" y="4507992"/>
            <a:ext cx="1097280" cy="320040"/>
          </a:xfrm>
          <a:prstGeom prst="rect">
            <a:avLst/>
          </a:prstGeom>
          <a:noFill/>
          <a:ln/>
        </p:spPr>
        <p:txBody>
          <a:bodyPr wrap="square" rtlCol="0" anchor="ctr"/>
          <a:lstStyle/>
          <a:p>
            <a:pPr algn="r" indent="0" marL="0">
              <a:buNone/>
            </a:pPr>
            <a:r>
              <a:rPr lang="en-US" sz="900" dirty="0">
                <a:solidFill>
                  <a:srgbClr val="DEEAF1"/>
                </a:solidFill>
                <a:latin typeface="Times New Roman" pitchFamily="34" charset="0"/>
                <a:ea typeface="Times New Roman" pitchFamily="34" charset="-122"/>
                <a:cs typeface="Times New Roman" pitchFamily="34" charset="-120"/>
              </a:rPr>
              <a:t>5 / 6</a:t>
            </a:r>
            <a:endParaRPr lang="en-US" sz="900" dirty="0"/>
          </a:p>
        </p:txBody>
      </p:sp>
      <p:sp>
        <p:nvSpPr>
          <p:cNvPr id="8" name="Shape 6"/>
          <p:cNvSpPr/>
          <p:nvPr/>
        </p:nvSpPr>
        <p:spPr>
          <a:xfrm>
            <a:off x="0" y="4828032"/>
            <a:ext cx="9144000" cy="320040"/>
          </a:xfrm>
          <a:prstGeom prst="rect">
            <a:avLst/>
          </a:prstGeom>
          <a:solidFill>
            <a:srgbClr val="1F3864"/>
          </a:solidFill>
          <a:ln/>
        </p:spPr>
      </p:sp>
      <p:sp>
        <p:nvSpPr>
          <p:cNvPr id="9" name="Text 7"/>
          <p:cNvSpPr/>
          <p:nvPr/>
        </p:nvSpPr>
        <p:spPr>
          <a:xfrm>
            <a:off x="182880" y="4873752"/>
            <a:ext cx="8778240" cy="237744"/>
          </a:xfrm>
          <a:prstGeom prst="rect">
            <a:avLst/>
          </a:prstGeom>
          <a:noFill/>
          <a:ln/>
        </p:spPr>
        <p:txBody>
          <a:bodyPr wrap="square" rtlCol="0" anchor="ctr"/>
          <a:lstStyle/>
          <a:p>
            <a:pPr algn="ctr" indent="0" marL="0">
              <a:buNone/>
            </a:pPr>
            <a:r>
              <a:rPr lang="en-US" sz="700" dirty="0">
                <a:solidFill>
                  <a:srgbClr val="DEEAF1"/>
                </a:solidFill>
                <a:latin typeface="Times New Roman" pitchFamily="34" charset="0"/>
                <a:ea typeface="Times New Roman" pitchFamily="34" charset="-122"/>
                <a:cs typeface="Times New Roman" pitchFamily="34" charset="-120"/>
              </a:rPr>
              <a:t>Hệ thống Quản lý Căn-teen Trại Giam</a:t>
            </a:r>
            <a:endParaRPr lang="en-US" sz="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FFFFF"/>
          </a:solidFill>
          <a:ln/>
        </p:spPr>
      </p:sp>
      <p:sp>
        <p:nvSpPr>
          <p:cNvPr id="3" name="Shape 1"/>
          <p:cNvSpPr/>
          <p:nvPr/>
        </p:nvSpPr>
        <p:spPr>
          <a:xfrm>
            <a:off x="0" y="0"/>
            <a:ext cx="9144000" cy="502920"/>
          </a:xfrm>
          <a:prstGeom prst="rect">
            <a:avLst/>
          </a:prstGeom>
          <a:solidFill>
            <a:srgbClr val="1F3864"/>
          </a:solidFill>
          <a:ln/>
        </p:spPr>
      </p:sp>
      <p:sp>
        <p:nvSpPr>
          <p:cNvPr id="4" name="Text 2"/>
          <p:cNvSpPr/>
          <p:nvPr/>
        </p:nvSpPr>
        <p:spPr>
          <a:xfrm>
            <a:off x="228600" y="73152"/>
            <a:ext cx="8686800" cy="347472"/>
          </a:xfrm>
          <a:prstGeom prst="rect">
            <a:avLst/>
          </a:prstGeom>
          <a:noFill/>
          <a:ln/>
        </p:spPr>
        <p:txBody>
          <a:bodyPr wrap="square" rtlCol="0" anchor="ctr"/>
          <a:lstStyle/>
          <a:p>
            <a:pPr indent="0" marL="0">
              <a:buNone/>
            </a:pPr>
            <a:r>
              <a:rPr lang="en-US" sz="900" i="1" dirty="0">
                <a:solidFill>
                  <a:srgbClr val="DEEAF1"/>
                </a:solidFill>
                <a:latin typeface="Times New Roman" pitchFamily="34" charset="0"/>
                <a:ea typeface="Times New Roman" pitchFamily="34" charset="-122"/>
                <a:cs typeface="Times New Roman" pitchFamily="34" charset="-120"/>
              </a:rPr>
              <a:t>Đặt hàng Kiosk</a:t>
            </a:r>
            <a:endParaRPr lang="en-US" sz="900" dirty="0"/>
          </a:p>
        </p:txBody>
      </p:sp>
      <p:sp>
        <p:nvSpPr>
          <p:cNvPr id="5" name="Shape 3"/>
          <p:cNvSpPr/>
          <p:nvPr/>
        </p:nvSpPr>
        <p:spPr>
          <a:xfrm>
            <a:off x="0" y="502920"/>
            <a:ext cx="3291840" cy="4325112"/>
          </a:xfrm>
          <a:prstGeom prst="rect">
            <a:avLst/>
          </a:prstGeom>
          <a:solidFill>
            <a:srgbClr val="F5F7FA"/>
          </a:solidFill>
          <a:ln/>
        </p:spPr>
      </p:sp>
      <p:sp>
        <p:nvSpPr>
          <p:cNvPr id="6" name="Text 4"/>
          <p:cNvSpPr/>
          <p:nvPr/>
        </p:nvSpPr>
        <p:spPr>
          <a:xfrm>
            <a:off x="182880" y="594360"/>
            <a:ext cx="3017520" cy="640080"/>
          </a:xfrm>
          <a:prstGeom prst="rect">
            <a:avLst/>
          </a:prstGeom>
          <a:noFill/>
          <a:ln/>
        </p:spPr>
        <p:txBody>
          <a:bodyPr wrap="square" rtlCol="0" anchor="ctr"/>
          <a:lstStyle/>
          <a:p>
            <a:pPr indent="0" marL="0">
              <a:buNone/>
            </a:pPr>
            <a:r>
              <a:rPr lang="en-US" sz="1500" b="1" dirty="0">
                <a:solidFill>
                  <a:srgbClr val="1F3864"/>
                </a:solidFill>
                <a:latin typeface="Times New Roman" pitchFamily="34" charset="0"/>
                <a:ea typeface="Times New Roman" pitchFamily="34" charset="-122"/>
                <a:cs typeface="Times New Roman" pitchFamily="34" charset="-120"/>
              </a:rPr>
              <a:t>Kiosk — Nhập Mã Lưu Ký</a:t>
            </a:r>
            <a:endParaRPr lang="en-US" sz="1500" dirty="0"/>
          </a:p>
        </p:txBody>
      </p:sp>
      <p:sp>
        <p:nvSpPr>
          <p:cNvPr id="7" name="Shape 5"/>
          <p:cNvSpPr/>
          <p:nvPr/>
        </p:nvSpPr>
        <p:spPr>
          <a:xfrm>
            <a:off x="182880" y="1234440"/>
            <a:ext cx="2926080" cy="36576"/>
          </a:xfrm>
          <a:prstGeom prst="rect">
            <a:avLst/>
          </a:prstGeom>
          <a:solidFill>
            <a:srgbClr val="2E74B5"/>
          </a:solidFill>
          <a:ln/>
        </p:spPr>
      </p:sp>
      <p:sp>
        <p:nvSpPr>
          <p:cNvPr id="8" name="Text 6"/>
          <p:cNvSpPr/>
          <p:nvPr/>
        </p:nvSpPr>
        <p:spPr>
          <a:xfrm>
            <a:off x="182880" y="1353312"/>
            <a:ext cx="3017520" cy="1371600"/>
          </a:xfrm>
          <a:prstGeom prst="rect">
            <a:avLst/>
          </a:prstGeom>
          <a:noFill/>
          <a:ln/>
        </p:spPr>
        <p:txBody>
          <a:bodyPr wrap="square" rtlCol="0" anchor="t"/>
          <a:lstStyle/>
          <a:p>
            <a:pPr indent="0" marL="0">
              <a:buNone/>
            </a:pPr>
            <a:r>
              <a:rPr lang="en-US" sz="1000" dirty="0">
                <a:solidFill>
                  <a:srgbClr val="1A1A2E"/>
                </a:solidFill>
                <a:latin typeface="Times New Roman" pitchFamily="34" charset="0"/>
                <a:ea typeface="Times New Roman" pitchFamily="34" charset="-122"/>
                <a:cs typeface="Times New Roman" pitchFamily="34" charset="-120"/>
              </a:rPr>
              <a:t>Màn hình kiosk công cộng: thân nhân nhập mã lưu ký của phạm nhân qua bàn phím số. Không yêu cầu đăng nhập. Tự reset sau 60 giây không hoạt động.</a:t>
            </a:r>
            <a:endParaRPr lang="en-US" sz="1000" dirty="0"/>
          </a:p>
        </p:txBody>
      </p:sp>
      <p:sp>
        <p:nvSpPr>
          <p:cNvPr id="9" name="Shape 7"/>
          <p:cNvSpPr/>
          <p:nvPr/>
        </p:nvSpPr>
        <p:spPr>
          <a:xfrm>
            <a:off x="182880" y="2834640"/>
            <a:ext cx="2926080" cy="320040"/>
          </a:xfrm>
          <a:prstGeom prst="rect">
            <a:avLst/>
          </a:prstGeom>
          <a:solidFill>
            <a:srgbClr val="1F3864"/>
          </a:solidFill>
          <a:ln/>
        </p:spPr>
      </p:sp>
      <p:sp>
        <p:nvSpPr>
          <p:cNvPr id="10" name="Text 8"/>
          <p:cNvSpPr/>
          <p:nvPr/>
        </p:nvSpPr>
        <p:spPr>
          <a:xfrm>
            <a:off x="228600" y="2852928"/>
            <a:ext cx="2834640" cy="274320"/>
          </a:xfrm>
          <a:prstGeom prst="rect">
            <a:avLst/>
          </a:prstGeom>
          <a:noFill/>
          <a:ln/>
        </p:spPr>
        <p:txBody>
          <a:bodyPr wrap="square" rtlCol="0" anchor="ctr"/>
          <a:lstStyle/>
          <a:p>
            <a:pPr indent="0" marL="0">
              <a:buNone/>
            </a:pPr>
            <a:r>
              <a:rPr lang="en-US" sz="850" dirty="0">
                <a:solidFill>
                  <a:srgbClr val="FFFFFF"/>
                </a:solidFill>
                <a:latin typeface="Courier New" pitchFamily="34" charset="0"/>
                <a:ea typeface="Courier New" pitchFamily="34" charset="-122"/>
                <a:cs typeface="Courier New" pitchFamily="34" charset="-120"/>
              </a:rPr>
              <a:t>Đường dẫn: kiosk-entry.png</a:t>
            </a:r>
            <a:endParaRPr lang="en-US" sz="850" dirty="0"/>
          </a:p>
        </p:txBody>
      </p:sp>
      <p:sp>
        <p:nvSpPr>
          <p:cNvPr id="11" name="Shape 9"/>
          <p:cNvSpPr/>
          <p:nvPr/>
        </p:nvSpPr>
        <p:spPr>
          <a:xfrm>
            <a:off x="3483864" y="557784"/>
            <a:ext cx="5623560" cy="4233672"/>
          </a:xfrm>
          <a:prstGeom prst="rect">
            <a:avLst/>
          </a:prstGeom>
          <a:solidFill>
            <a:srgbClr val="D9D9D9"/>
          </a:solidFill>
          <a:ln/>
          <a:effectLst>
            <a:outerShdw sx="100000" sy="100000" kx="0" ky="0" algn="bl" rotWithShape="0" blurRad="76200" dist="38100" dir="2700000">
              <a:srgbClr val="000000">
                <a:alpha val="25000"/>
              </a:srgbClr>
            </a:outerShdw>
          </a:effectLst>
        </p:spPr>
      </p:sp>
      <p:pic>
        <p:nvPicPr>
          <p:cNvPr id="12" name="Image 0" descr="D:\pet\carteen\tools\screenshots\kiosk-entry.png">    </p:cNvPr>
          <p:cNvPicPr>
            <a:picLocks noChangeAspect="1"/>
          </p:cNvPicPr>
          <p:nvPr/>
        </p:nvPicPr>
        <p:blipFill>
          <a:blip r:embed="rId1"/>
          <a:srcRect l="0" r="0" t="0" b="0"/>
          <a:stretch/>
        </p:blipFill>
        <p:spPr>
          <a:xfrm>
            <a:off x="3429000" y="521208"/>
            <a:ext cx="5623560" cy="4233672"/>
          </a:xfrm>
          <a:prstGeom prst="rect">
            <a:avLst/>
          </a:prstGeom>
        </p:spPr>
      </p:pic>
      <p:sp>
        <p:nvSpPr>
          <p:cNvPr id="13" name="Shape 10"/>
          <p:cNvSpPr/>
          <p:nvPr/>
        </p:nvSpPr>
        <p:spPr>
          <a:xfrm>
            <a:off x="3429000" y="521208"/>
            <a:ext cx="5623560" cy="4233672"/>
          </a:xfrm>
          <a:prstGeom prst="rect">
            <a:avLst/>
          </a:prstGeom>
          <a:ln w="12700">
            <a:solidFill>
              <a:srgbClr val="D9D9D9"/>
            </a:solidFill>
            <a:prstDash val="solid"/>
          </a:ln>
        </p:spPr>
      </p:sp>
      <p:sp>
        <p:nvSpPr>
          <p:cNvPr id="14" name="Shape 11"/>
          <p:cNvSpPr/>
          <p:nvPr/>
        </p:nvSpPr>
        <p:spPr>
          <a:xfrm>
            <a:off x="0" y="4828032"/>
            <a:ext cx="9144000" cy="320040"/>
          </a:xfrm>
          <a:prstGeom prst="rect">
            <a:avLst/>
          </a:prstGeom>
          <a:solidFill>
            <a:srgbClr val="1F3864"/>
          </a:solidFill>
          <a:ln/>
        </p:spPr>
      </p:sp>
      <p:sp>
        <p:nvSpPr>
          <p:cNvPr id="15" name="Text 12"/>
          <p:cNvSpPr/>
          <p:nvPr/>
        </p:nvSpPr>
        <p:spPr>
          <a:xfrm>
            <a:off x="182880" y="4873752"/>
            <a:ext cx="8778240" cy="237744"/>
          </a:xfrm>
          <a:prstGeom prst="rect">
            <a:avLst/>
          </a:prstGeom>
          <a:noFill/>
          <a:ln/>
        </p:spPr>
        <p:txBody>
          <a:bodyPr wrap="square" rtlCol="0" anchor="ctr"/>
          <a:lstStyle/>
          <a:p>
            <a:pPr algn="ctr" indent="0" marL="0">
              <a:buNone/>
            </a:pPr>
            <a:r>
              <a:rPr lang="en-US" sz="700" dirty="0">
                <a:solidFill>
                  <a:srgbClr val="DEEAF1"/>
                </a:solidFill>
                <a:latin typeface="Times New Roman" pitchFamily="34" charset="0"/>
                <a:ea typeface="Times New Roman" pitchFamily="34" charset="-122"/>
                <a:cs typeface="Times New Roman" pitchFamily="34" charset="-120"/>
              </a:rPr>
              <a:t>Hệ thống Quản lý Căn-teen Trại Giam   |   Kiosk — Nhập Mã Lưu Ký</a:t>
            </a:r>
            <a:endParaRPr lang="en-US" sz="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FFFFF"/>
          </a:solidFill>
          <a:ln/>
        </p:spPr>
      </p:sp>
      <p:sp>
        <p:nvSpPr>
          <p:cNvPr id="3" name="Shape 1"/>
          <p:cNvSpPr/>
          <p:nvPr/>
        </p:nvSpPr>
        <p:spPr>
          <a:xfrm>
            <a:off x="0" y="0"/>
            <a:ext cx="9144000" cy="502920"/>
          </a:xfrm>
          <a:prstGeom prst="rect">
            <a:avLst/>
          </a:prstGeom>
          <a:solidFill>
            <a:srgbClr val="1F3864"/>
          </a:solidFill>
          <a:ln/>
        </p:spPr>
      </p:sp>
      <p:sp>
        <p:nvSpPr>
          <p:cNvPr id="4" name="Text 2"/>
          <p:cNvSpPr/>
          <p:nvPr/>
        </p:nvSpPr>
        <p:spPr>
          <a:xfrm>
            <a:off x="228600" y="73152"/>
            <a:ext cx="8686800" cy="347472"/>
          </a:xfrm>
          <a:prstGeom prst="rect">
            <a:avLst/>
          </a:prstGeom>
          <a:noFill/>
          <a:ln/>
        </p:spPr>
        <p:txBody>
          <a:bodyPr wrap="square" rtlCol="0" anchor="ctr"/>
          <a:lstStyle/>
          <a:p>
            <a:pPr indent="0" marL="0">
              <a:buNone/>
            </a:pPr>
            <a:r>
              <a:rPr lang="en-US" sz="900" i="1" dirty="0">
                <a:solidFill>
                  <a:srgbClr val="DEEAF1"/>
                </a:solidFill>
                <a:latin typeface="Times New Roman" pitchFamily="34" charset="0"/>
                <a:ea typeface="Times New Roman" pitchFamily="34" charset="-122"/>
                <a:cs typeface="Times New Roman" pitchFamily="34" charset="-120"/>
              </a:rPr>
              <a:t>Đặt hàng Kiosk</a:t>
            </a:r>
            <a:endParaRPr lang="en-US" sz="900" dirty="0"/>
          </a:p>
        </p:txBody>
      </p:sp>
      <p:sp>
        <p:nvSpPr>
          <p:cNvPr id="5" name="Shape 3"/>
          <p:cNvSpPr/>
          <p:nvPr/>
        </p:nvSpPr>
        <p:spPr>
          <a:xfrm>
            <a:off x="0" y="502920"/>
            <a:ext cx="3291840" cy="4325112"/>
          </a:xfrm>
          <a:prstGeom prst="rect">
            <a:avLst/>
          </a:prstGeom>
          <a:solidFill>
            <a:srgbClr val="F5F7FA"/>
          </a:solidFill>
          <a:ln/>
        </p:spPr>
      </p:sp>
      <p:sp>
        <p:nvSpPr>
          <p:cNvPr id="6" name="Text 4"/>
          <p:cNvSpPr/>
          <p:nvPr/>
        </p:nvSpPr>
        <p:spPr>
          <a:xfrm>
            <a:off x="182880" y="594360"/>
            <a:ext cx="3017520" cy="640080"/>
          </a:xfrm>
          <a:prstGeom prst="rect">
            <a:avLst/>
          </a:prstGeom>
          <a:noFill/>
          <a:ln/>
        </p:spPr>
        <p:txBody>
          <a:bodyPr wrap="square" rtlCol="0" anchor="ctr"/>
          <a:lstStyle/>
          <a:p>
            <a:pPr indent="0" marL="0">
              <a:buNone/>
            </a:pPr>
            <a:r>
              <a:rPr lang="en-US" sz="1500" b="1" dirty="0">
                <a:solidFill>
                  <a:srgbClr val="1F3864"/>
                </a:solidFill>
                <a:latin typeface="Times New Roman" pitchFamily="34" charset="0"/>
                <a:ea typeface="Times New Roman" pitchFamily="34" charset="-122"/>
                <a:cs typeface="Times New Roman" pitchFamily="34" charset="-120"/>
              </a:rPr>
              <a:t>Kiosk — Đã nhập mã lưu ký</a:t>
            </a:r>
            <a:endParaRPr lang="en-US" sz="1500" dirty="0"/>
          </a:p>
        </p:txBody>
      </p:sp>
      <p:sp>
        <p:nvSpPr>
          <p:cNvPr id="7" name="Shape 5"/>
          <p:cNvSpPr/>
          <p:nvPr/>
        </p:nvSpPr>
        <p:spPr>
          <a:xfrm>
            <a:off x="182880" y="1234440"/>
            <a:ext cx="2926080" cy="36576"/>
          </a:xfrm>
          <a:prstGeom prst="rect">
            <a:avLst/>
          </a:prstGeom>
          <a:solidFill>
            <a:srgbClr val="2E74B5"/>
          </a:solidFill>
          <a:ln/>
        </p:spPr>
      </p:sp>
      <p:sp>
        <p:nvSpPr>
          <p:cNvPr id="8" name="Text 6"/>
          <p:cNvSpPr/>
          <p:nvPr/>
        </p:nvSpPr>
        <p:spPr>
          <a:xfrm>
            <a:off x="182880" y="1353312"/>
            <a:ext cx="3017520" cy="1371600"/>
          </a:xfrm>
          <a:prstGeom prst="rect">
            <a:avLst/>
          </a:prstGeom>
          <a:noFill/>
          <a:ln/>
        </p:spPr>
        <p:txBody>
          <a:bodyPr wrap="square" rtlCol="0" anchor="t"/>
          <a:lstStyle/>
          <a:p>
            <a:pPr indent="0" marL="0">
              <a:buNone/>
            </a:pPr>
            <a:r>
              <a:rPr lang="en-US" sz="1000" dirty="0">
                <a:solidFill>
                  <a:srgbClr val="1A1A2E"/>
                </a:solidFill>
                <a:latin typeface="Times New Roman" pitchFamily="34" charset="0"/>
                <a:ea typeface="Times New Roman" pitchFamily="34" charset="-122"/>
                <a:cs typeface="Times New Roman" pitchFamily="34" charset="-120"/>
              </a:rPr>
              <a:t>Thân nhân nhập xong 6 chữ số mã lưu ký "100023". Bàn phím hiển thị mã đã nhập; nhấn nút xác nhận để tra cứu phạm nhân.</a:t>
            </a:r>
            <a:endParaRPr lang="en-US" sz="1000" dirty="0"/>
          </a:p>
        </p:txBody>
      </p:sp>
      <p:sp>
        <p:nvSpPr>
          <p:cNvPr id="9" name="Shape 7"/>
          <p:cNvSpPr/>
          <p:nvPr/>
        </p:nvSpPr>
        <p:spPr>
          <a:xfrm>
            <a:off x="182880" y="2834640"/>
            <a:ext cx="2926080" cy="320040"/>
          </a:xfrm>
          <a:prstGeom prst="rect">
            <a:avLst/>
          </a:prstGeom>
          <a:solidFill>
            <a:srgbClr val="1F3864"/>
          </a:solidFill>
          <a:ln/>
        </p:spPr>
      </p:sp>
      <p:sp>
        <p:nvSpPr>
          <p:cNvPr id="10" name="Text 8"/>
          <p:cNvSpPr/>
          <p:nvPr/>
        </p:nvSpPr>
        <p:spPr>
          <a:xfrm>
            <a:off x="228600" y="2852928"/>
            <a:ext cx="2834640" cy="274320"/>
          </a:xfrm>
          <a:prstGeom prst="rect">
            <a:avLst/>
          </a:prstGeom>
          <a:noFill/>
          <a:ln/>
        </p:spPr>
        <p:txBody>
          <a:bodyPr wrap="square" rtlCol="0" anchor="ctr"/>
          <a:lstStyle/>
          <a:p>
            <a:pPr indent="0" marL="0">
              <a:buNone/>
            </a:pPr>
            <a:r>
              <a:rPr lang="en-US" sz="850" dirty="0">
                <a:solidFill>
                  <a:srgbClr val="FFFFFF"/>
                </a:solidFill>
                <a:latin typeface="Courier New" pitchFamily="34" charset="0"/>
                <a:ea typeface="Courier New" pitchFamily="34" charset="-122"/>
                <a:cs typeface="Courier New" pitchFamily="34" charset="-120"/>
              </a:rPr>
              <a:t>Đường dẫn: kiosk-keypad-filled.png</a:t>
            </a:r>
            <a:endParaRPr lang="en-US" sz="850" dirty="0"/>
          </a:p>
        </p:txBody>
      </p:sp>
      <p:sp>
        <p:nvSpPr>
          <p:cNvPr id="11" name="Shape 9"/>
          <p:cNvSpPr/>
          <p:nvPr/>
        </p:nvSpPr>
        <p:spPr>
          <a:xfrm>
            <a:off x="3483864" y="557784"/>
            <a:ext cx="5623560" cy="4233672"/>
          </a:xfrm>
          <a:prstGeom prst="rect">
            <a:avLst/>
          </a:prstGeom>
          <a:solidFill>
            <a:srgbClr val="D9D9D9"/>
          </a:solidFill>
          <a:ln/>
          <a:effectLst>
            <a:outerShdw sx="100000" sy="100000" kx="0" ky="0" algn="bl" rotWithShape="0" blurRad="76200" dist="38100" dir="2700000">
              <a:srgbClr val="000000">
                <a:alpha val="25000"/>
              </a:srgbClr>
            </a:outerShdw>
          </a:effectLst>
        </p:spPr>
      </p:sp>
      <p:pic>
        <p:nvPicPr>
          <p:cNvPr id="12" name="Image 0" descr="D:\pet\carteen\tools\screenshots\kiosk-keypad-filled.png">    </p:cNvPr>
          <p:cNvPicPr>
            <a:picLocks noChangeAspect="1"/>
          </p:cNvPicPr>
          <p:nvPr/>
        </p:nvPicPr>
        <p:blipFill>
          <a:blip r:embed="rId1"/>
          <a:srcRect l="0" r="0" t="0" b="0"/>
          <a:stretch/>
        </p:blipFill>
        <p:spPr>
          <a:xfrm>
            <a:off x="3429000" y="521208"/>
            <a:ext cx="5623560" cy="4233672"/>
          </a:xfrm>
          <a:prstGeom prst="rect">
            <a:avLst/>
          </a:prstGeom>
        </p:spPr>
      </p:pic>
      <p:sp>
        <p:nvSpPr>
          <p:cNvPr id="13" name="Shape 10"/>
          <p:cNvSpPr/>
          <p:nvPr/>
        </p:nvSpPr>
        <p:spPr>
          <a:xfrm>
            <a:off x="3429000" y="521208"/>
            <a:ext cx="5623560" cy="4233672"/>
          </a:xfrm>
          <a:prstGeom prst="rect">
            <a:avLst/>
          </a:prstGeom>
          <a:ln w="12700">
            <a:solidFill>
              <a:srgbClr val="D9D9D9"/>
            </a:solidFill>
            <a:prstDash val="solid"/>
          </a:ln>
        </p:spPr>
      </p:sp>
      <p:sp>
        <p:nvSpPr>
          <p:cNvPr id="14" name="Shape 11"/>
          <p:cNvSpPr/>
          <p:nvPr/>
        </p:nvSpPr>
        <p:spPr>
          <a:xfrm>
            <a:off x="0" y="4828032"/>
            <a:ext cx="9144000" cy="320040"/>
          </a:xfrm>
          <a:prstGeom prst="rect">
            <a:avLst/>
          </a:prstGeom>
          <a:solidFill>
            <a:srgbClr val="1F3864"/>
          </a:solidFill>
          <a:ln/>
        </p:spPr>
      </p:sp>
      <p:sp>
        <p:nvSpPr>
          <p:cNvPr id="15" name="Text 12"/>
          <p:cNvSpPr/>
          <p:nvPr/>
        </p:nvSpPr>
        <p:spPr>
          <a:xfrm>
            <a:off x="182880" y="4873752"/>
            <a:ext cx="8778240" cy="237744"/>
          </a:xfrm>
          <a:prstGeom prst="rect">
            <a:avLst/>
          </a:prstGeom>
          <a:noFill/>
          <a:ln/>
        </p:spPr>
        <p:txBody>
          <a:bodyPr wrap="square" rtlCol="0" anchor="ctr"/>
          <a:lstStyle/>
          <a:p>
            <a:pPr algn="ctr" indent="0" marL="0">
              <a:buNone/>
            </a:pPr>
            <a:r>
              <a:rPr lang="en-US" sz="700" dirty="0">
                <a:solidFill>
                  <a:srgbClr val="DEEAF1"/>
                </a:solidFill>
                <a:latin typeface="Times New Roman" pitchFamily="34" charset="0"/>
                <a:ea typeface="Times New Roman" pitchFamily="34" charset="-122"/>
                <a:cs typeface="Times New Roman" pitchFamily="34" charset="-120"/>
              </a:rPr>
              <a:t>Hệ thống Quản lý Căn-teen Trại Giam   |   Kiosk — Đã nhập mã lưu ký</a:t>
            </a:r>
            <a:endParaRPr lang="en-US" sz="7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FFFFF"/>
          </a:solidFill>
          <a:ln/>
        </p:spPr>
      </p:sp>
      <p:sp>
        <p:nvSpPr>
          <p:cNvPr id="3" name="Shape 1"/>
          <p:cNvSpPr/>
          <p:nvPr/>
        </p:nvSpPr>
        <p:spPr>
          <a:xfrm>
            <a:off x="0" y="0"/>
            <a:ext cx="9144000" cy="502920"/>
          </a:xfrm>
          <a:prstGeom prst="rect">
            <a:avLst/>
          </a:prstGeom>
          <a:solidFill>
            <a:srgbClr val="1F3864"/>
          </a:solidFill>
          <a:ln/>
        </p:spPr>
      </p:sp>
      <p:sp>
        <p:nvSpPr>
          <p:cNvPr id="4" name="Text 2"/>
          <p:cNvSpPr/>
          <p:nvPr/>
        </p:nvSpPr>
        <p:spPr>
          <a:xfrm>
            <a:off x="228600" y="73152"/>
            <a:ext cx="8686800" cy="347472"/>
          </a:xfrm>
          <a:prstGeom prst="rect">
            <a:avLst/>
          </a:prstGeom>
          <a:noFill/>
          <a:ln/>
        </p:spPr>
        <p:txBody>
          <a:bodyPr wrap="square" rtlCol="0" anchor="ctr"/>
          <a:lstStyle/>
          <a:p>
            <a:pPr indent="0" marL="0">
              <a:buNone/>
            </a:pPr>
            <a:r>
              <a:rPr lang="en-US" sz="900" i="1" dirty="0">
                <a:solidFill>
                  <a:srgbClr val="DEEAF1"/>
                </a:solidFill>
                <a:latin typeface="Times New Roman" pitchFamily="34" charset="0"/>
                <a:ea typeface="Times New Roman" pitchFamily="34" charset="-122"/>
                <a:cs typeface="Times New Roman" pitchFamily="34" charset="-120"/>
              </a:rPr>
              <a:t>Đặt hàng Kiosk</a:t>
            </a:r>
            <a:endParaRPr lang="en-US" sz="900" dirty="0"/>
          </a:p>
        </p:txBody>
      </p:sp>
      <p:sp>
        <p:nvSpPr>
          <p:cNvPr id="5" name="Shape 3"/>
          <p:cNvSpPr/>
          <p:nvPr/>
        </p:nvSpPr>
        <p:spPr>
          <a:xfrm>
            <a:off x="0" y="502920"/>
            <a:ext cx="3291840" cy="4325112"/>
          </a:xfrm>
          <a:prstGeom prst="rect">
            <a:avLst/>
          </a:prstGeom>
          <a:solidFill>
            <a:srgbClr val="F5F7FA"/>
          </a:solidFill>
          <a:ln/>
        </p:spPr>
      </p:sp>
      <p:sp>
        <p:nvSpPr>
          <p:cNvPr id="6" name="Text 4"/>
          <p:cNvSpPr/>
          <p:nvPr/>
        </p:nvSpPr>
        <p:spPr>
          <a:xfrm>
            <a:off x="182880" y="594360"/>
            <a:ext cx="3017520" cy="640080"/>
          </a:xfrm>
          <a:prstGeom prst="rect">
            <a:avLst/>
          </a:prstGeom>
          <a:noFill/>
          <a:ln/>
        </p:spPr>
        <p:txBody>
          <a:bodyPr wrap="square" rtlCol="0" anchor="ctr"/>
          <a:lstStyle/>
          <a:p>
            <a:pPr indent="0" marL="0">
              <a:buNone/>
            </a:pPr>
            <a:r>
              <a:rPr lang="en-US" sz="1500" b="1" dirty="0">
                <a:solidFill>
                  <a:srgbClr val="1F3864"/>
                </a:solidFill>
                <a:latin typeface="Times New Roman" pitchFamily="34" charset="0"/>
                <a:ea typeface="Times New Roman" pitchFamily="34" charset="-122"/>
                <a:cs typeface="Times New Roman" pitchFamily="34" charset="-120"/>
              </a:rPr>
              <a:t>Kiosk — Chọn Món Đặt hàng</a:t>
            </a:r>
            <a:endParaRPr lang="en-US" sz="1500" dirty="0"/>
          </a:p>
        </p:txBody>
      </p:sp>
      <p:sp>
        <p:nvSpPr>
          <p:cNvPr id="7" name="Shape 5"/>
          <p:cNvSpPr/>
          <p:nvPr/>
        </p:nvSpPr>
        <p:spPr>
          <a:xfrm>
            <a:off x="182880" y="1234440"/>
            <a:ext cx="2926080" cy="36576"/>
          </a:xfrm>
          <a:prstGeom prst="rect">
            <a:avLst/>
          </a:prstGeom>
          <a:solidFill>
            <a:srgbClr val="2E74B5"/>
          </a:solidFill>
          <a:ln/>
        </p:spPr>
      </p:sp>
      <p:sp>
        <p:nvSpPr>
          <p:cNvPr id="8" name="Text 6"/>
          <p:cNvSpPr/>
          <p:nvPr/>
        </p:nvSpPr>
        <p:spPr>
          <a:xfrm>
            <a:off x="182880" y="1353312"/>
            <a:ext cx="3017520" cy="1371600"/>
          </a:xfrm>
          <a:prstGeom prst="rect">
            <a:avLst/>
          </a:prstGeom>
          <a:noFill/>
          <a:ln/>
        </p:spPr>
        <p:txBody>
          <a:bodyPr wrap="square" rtlCol="0" anchor="t"/>
          <a:lstStyle/>
          <a:p>
            <a:pPr indent="0" marL="0">
              <a:buNone/>
            </a:pPr>
            <a:r>
              <a:rPr lang="en-US" sz="1000" dirty="0">
                <a:solidFill>
                  <a:srgbClr val="1A1A2E"/>
                </a:solidFill>
                <a:latin typeface="Times New Roman" pitchFamily="34" charset="0"/>
                <a:ea typeface="Times New Roman" pitchFamily="34" charset="-122"/>
                <a:cs typeface="Times New Roman" pitchFamily="34" charset="-120"/>
              </a:rPr>
              <a:t>Sau khi xác minh thành công: hiển thị tên phạm nhân, buồng giam, số dư tài khoản và danh mục hàng hóa để chọn số lượng.</a:t>
            </a:r>
            <a:endParaRPr lang="en-US" sz="1000" dirty="0"/>
          </a:p>
        </p:txBody>
      </p:sp>
      <p:sp>
        <p:nvSpPr>
          <p:cNvPr id="9" name="Shape 7"/>
          <p:cNvSpPr/>
          <p:nvPr/>
        </p:nvSpPr>
        <p:spPr>
          <a:xfrm>
            <a:off x="182880" y="2834640"/>
            <a:ext cx="2926080" cy="320040"/>
          </a:xfrm>
          <a:prstGeom prst="rect">
            <a:avLst/>
          </a:prstGeom>
          <a:solidFill>
            <a:srgbClr val="1F3864"/>
          </a:solidFill>
          <a:ln/>
        </p:spPr>
      </p:sp>
      <p:sp>
        <p:nvSpPr>
          <p:cNvPr id="10" name="Text 8"/>
          <p:cNvSpPr/>
          <p:nvPr/>
        </p:nvSpPr>
        <p:spPr>
          <a:xfrm>
            <a:off x="228600" y="2852928"/>
            <a:ext cx="2834640" cy="274320"/>
          </a:xfrm>
          <a:prstGeom prst="rect">
            <a:avLst/>
          </a:prstGeom>
          <a:noFill/>
          <a:ln/>
        </p:spPr>
        <p:txBody>
          <a:bodyPr wrap="square" rtlCol="0" anchor="ctr"/>
          <a:lstStyle/>
          <a:p>
            <a:pPr indent="0" marL="0">
              <a:buNone/>
            </a:pPr>
            <a:r>
              <a:rPr lang="en-US" sz="850" dirty="0">
                <a:solidFill>
                  <a:srgbClr val="FFFFFF"/>
                </a:solidFill>
                <a:latin typeface="Courier New" pitchFamily="34" charset="0"/>
                <a:ea typeface="Courier New" pitchFamily="34" charset="-122"/>
                <a:cs typeface="Courier New" pitchFamily="34" charset="-120"/>
              </a:rPr>
              <a:t>Đường dẫn: kiosk-menu.png</a:t>
            </a:r>
            <a:endParaRPr lang="en-US" sz="850" dirty="0"/>
          </a:p>
        </p:txBody>
      </p:sp>
      <p:sp>
        <p:nvSpPr>
          <p:cNvPr id="11" name="Shape 9"/>
          <p:cNvSpPr/>
          <p:nvPr/>
        </p:nvSpPr>
        <p:spPr>
          <a:xfrm>
            <a:off x="3483864" y="557784"/>
            <a:ext cx="5623560" cy="4233672"/>
          </a:xfrm>
          <a:prstGeom prst="rect">
            <a:avLst/>
          </a:prstGeom>
          <a:solidFill>
            <a:srgbClr val="D9D9D9"/>
          </a:solidFill>
          <a:ln/>
          <a:effectLst>
            <a:outerShdw sx="100000" sy="100000" kx="0" ky="0" algn="bl" rotWithShape="0" blurRad="76200" dist="38100" dir="2700000">
              <a:srgbClr val="000000">
                <a:alpha val="25000"/>
              </a:srgbClr>
            </a:outerShdw>
          </a:effectLst>
        </p:spPr>
      </p:sp>
      <p:pic>
        <p:nvPicPr>
          <p:cNvPr id="12" name="Image 0" descr="D:\pet\carteen\tools\screenshots\kiosk-menu.png">    </p:cNvPr>
          <p:cNvPicPr>
            <a:picLocks noChangeAspect="1"/>
          </p:cNvPicPr>
          <p:nvPr/>
        </p:nvPicPr>
        <p:blipFill>
          <a:blip r:embed="rId1"/>
          <a:srcRect l="0" r="0" t="0" b="0"/>
          <a:stretch/>
        </p:blipFill>
        <p:spPr>
          <a:xfrm>
            <a:off x="3429000" y="521208"/>
            <a:ext cx="5623560" cy="4233672"/>
          </a:xfrm>
          <a:prstGeom prst="rect">
            <a:avLst/>
          </a:prstGeom>
        </p:spPr>
      </p:pic>
      <p:sp>
        <p:nvSpPr>
          <p:cNvPr id="13" name="Shape 10"/>
          <p:cNvSpPr/>
          <p:nvPr/>
        </p:nvSpPr>
        <p:spPr>
          <a:xfrm>
            <a:off x="3429000" y="521208"/>
            <a:ext cx="5623560" cy="4233672"/>
          </a:xfrm>
          <a:prstGeom prst="rect">
            <a:avLst/>
          </a:prstGeom>
          <a:ln w="12700">
            <a:solidFill>
              <a:srgbClr val="D9D9D9"/>
            </a:solidFill>
            <a:prstDash val="solid"/>
          </a:ln>
        </p:spPr>
      </p:sp>
      <p:sp>
        <p:nvSpPr>
          <p:cNvPr id="14" name="Shape 11"/>
          <p:cNvSpPr/>
          <p:nvPr/>
        </p:nvSpPr>
        <p:spPr>
          <a:xfrm>
            <a:off x="0" y="4828032"/>
            <a:ext cx="9144000" cy="320040"/>
          </a:xfrm>
          <a:prstGeom prst="rect">
            <a:avLst/>
          </a:prstGeom>
          <a:solidFill>
            <a:srgbClr val="1F3864"/>
          </a:solidFill>
          <a:ln/>
        </p:spPr>
      </p:sp>
      <p:sp>
        <p:nvSpPr>
          <p:cNvPr id="15" name="Text 12"/>
          <p:cNvSpPr/>
          <p:nvPr/>
        </p:nvSpPr>
        <p:spPr>
          <a:xfrm>
            <a:off x="182880" y="4873752"/>
            <a:ext cx="8778240" cy="237744"/>
          </a:xfrm>
          <a:prstGeom prst="rect">
            <a:avLst/>
          </a:prstGeom>
          <a:noFill/>
          <a:ln/>
        </p:spPr>
        <p:txBody>
          <a:bodyPr wrap="square" rtlCol="0" anchor="ctr"/>
          <a:lstStyle/>
          <a:p>
            <a:pPr algn="ctr" indent="0" marL="0">
              <a:buNone/>
            </a:pPr>
            <a:r>
              <a:rPr lang="en-US" sz="700" dirty="0">
                <a:solidFill>
                  <a:srgbClr val="DEEAF1"/>
                </a:solidFill>
                <a:latin typeface="Times New Roman" pitchFamily="34" charset="0"/>
                <a:ea typeface="Times New Roman" pitchFamily="34" charset="-122"/>
                <a:cs typeface="Times New Roman" pitchFamily="34" charset="-120"/>
              </a:rPr>
              <a:t>Hệ thống Quản lý Căn-teen Trại Giam   |   Kiosk — Chọn Món Đặt hàng</a:t>
            </a:r>
            <a:endParaRPr lang="en-US" sz="7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2E74B5"/>
          </a:solidFill>
          <a:ln/>
        </p:spPr>
      </p:sp>
      <p:sp>
        <p:nvSpPr>
          <p:cNvPr id="3" name="Text 1"/>
          <p:cNvSpPr/>
          <p:nvPr/>
        </p:nvSpPr>
        <p:spPr>
          <a:xfrm>
            <a:off x="457200" y="548640"/>
            <a:ext cx="1828800" cy="1828800"/>
          </a:xfrm>
          <a:prstGeom prst="rect">
            <a:avLst/>
          </a:prstGeom>
          <a:noFill/>
          <a:ln/>
        </p:spPr>
        <p:txBody>
          <a:bodyPr wrap="square" rtlCol="0" anchor="ctr"/>
          <a:lstStyle/>
          <a:p>
            <a:pPr indent="0" marL="0">
              <a:buNone/>
            </a:pPr>
            <a:r>
              <a:rPr lang="en-US" sz="9000" b="1" dirty="0">
                <a:solidFill>
                  <a:srgbClr val="FFFFFF">
                    <a:alpha val="30000"/>
                  </a:srgbClr>
                </a:solidFill>
                <a:latin typeface="Times New Roman" pitchFamily="34" charset="0"/>
                <a:ea typeface="Times New Roman" pitchFamily="34" charset="-122"/>
                <a:cs typeface="Times New Roman" pitchFamily="34" charset="-120"/>
              </a:rPr>
              <a:t>06</a:t>
            </a:r>
            <a:endParaRPr lang="en-US" sz="9000" dirty="0"/>
          </a:p>
        </p:txBody>
      </p:sp>
      <p:sp>
        <p:nvSpPr>
          <p:cNvPr id="4" name="Shape 2"/>
          <p:cNvSpPr/>
          <p:nvPr/>
        </p:nvSpPr>
        <p:spPr>
          <a:xfrm>
            <a:off x="0" y="1828800"/>
            <a:ext cx="91440" cy="1645920"/>
          </a:xfrm>
          <a:prstGeom prst="rect">
            <a:avLst/>
          </a:prstGeom>
          <a:solidFill>
            <a:srgbClr val="C00000"/>
          </a:solidFill>
          <a:ln/>
        </p:spPr>
      </p:sp>
      <p:sp>
        <p:nvSpPr>
          <p:cNvPr id="5" name="Text 3"/>
          <p:cNvSpPr/>
          <p:nvPr/>
        </p:nvSpPr>
        <p:spPr>
          <a:xfrm>
            <a:off x="365760" y="1828800"/>
            <a:ext cx="8229600" cy="365760"/>
          </a:xfrm>
          <a:prstGeom prst="rect">
            <a:avLst/>
          </a:prstGeom>
          <a:noFill/>
          <a:ln/>
        </p:spPr>
        <p:txBody>
          <a:bodyPr wrap="square" rtlCol="0" anchor="ctr"/>
          <a:lstStyle/>
          <a:p>
            <a:pPr indent="0" marL="0">
              <a:buNone/>
            </a:pPr>
            <a:r>
              <a:rPr lang="en-US" sz="1100" i="1" dirty="0">
                <a:solidFill>
                  <a:srgbClr val="DEEAF1"/>
                </a:solidFill>
                <a:latin typeface="Times New Roman" pitchFamily="34" charset="0"/>
                <a:ea typeface="Times New Roman" pitchFamily="34" charset="-122"/>
                <a:cs typeface="Times New Roman" pitchFamily="34" charset="-120"/>
              </a:rPr>
              <a:t>Nhóm chức năng</a:t>
            </a:r>
            <a:endParaRPr lang="en-US" sz="1100" dirty="0"/>
          </a:p>
        </p:txBody>
      </p:sp>
      <p:sp>
        <p:nvSpPr>
          <p:cNvPr id="6" name="Text 4"/>
          <p:cNvSpPr/>
          <p:nvPr/>
        </p:nvSpPr>
        <p:spPr>
          <a:xfrm>
            <a:off x="365760" y="2194560"/>
            <a:ext cx="8229600" cy="1097280"/>
          </a:xfrm>
          <a:prstGeom prst="rect">
            <a:avLst/>
          </a:prstGeom>
          <a:noFill/>
          <a:ln/>
        </p:spPr>
        <p:txBody>
          <a:bodyPr wrap="square" rtlCol="0" anchor="ctr"/>
          <a:lstStyle/>
          <a:p>
            <a:pPr indent="0" marL="0">
              <a:buNone/>
            </a:pPr>
            <a:r>
              <a:rPr lang="en-US" sz="3000" b="1" dirty="0">
                <a:solidFill>
                  <a:srgbClr val="FFFFFF"/>
                </a:solidFill>
                <a:latin typeface="Times New Roman" pitchFamily="34" charset="0"/>
                <a:ea typeface="Times New Roman" pitchFamily="34" charset="-122"/>
                <a:cs typeface="Times New Roman" pitchFamily="34" charset="-120"/>
              </a:rPr>
              <a:t>Tổng quan hệ thống</a:t>
            </a:r>
            <a:endParaRPr lang="en-US" sz="3000" dirty="0"/>
          </a:p>
        </p:txBody>
      </p:sp>
      <p:sp>
        <p:nvSpPr>
          <p:cNvPr id="7" name="Text 5"/>
          <p:cNvSpPr/>
          <p:nvPr/>
        </p:nvSpPr>
        <p:spPr>
          <a:xfrm>
            <a:off x="7772400" y="4507992"/>
            <a:ext cx="1097280" cy="320040"/>
          </a:xfrm>
          <a:prstGeom prst="rect">
            <a:avLst/>
          </a:prstGeom>
          <a:noFill/>
          <a:ln/>
        </p:spPr>
        <p:txBody>
          <a:bodyPr wrap="square" rtlCol="0" anchor="ctr"/>
          <a:lstStyle/>
          <a:p>
            <a:pPr algn="r" indent="0" marL="0">
              <a:buNone/>
            </a:pPr>
            <a:r>
              <a:rPr lang="en-US" sz="900" dirty="0">
                <a:solidFill>
                  <a:srgbClr val="DEEAF1"/>
                </a:solidFill>
                <a:latin typeface="Times New Roman" pitchFamily="34" charset="0"/>
                <a:ea typeface="Times New Roman" pitchFamily="34" charset="-122"/>
                <a:cs typeface="Times New Roman" pitchFamily="34" charset="-120"/>
              </a:rPr>
              <a:t>6 / 6</a:t>
            </a:r>
            <a:endParaRPr lang="en-US" sz="900" dirty="0"/>
          </a:p>
        </p:txBody>
      </p:sp>
      <p:sp>
        <p:nvSpPr>
          <p:cNvPr id="8" name="Shape 6"/>
          <p:cNvSpPr/>
          <p:nvPr/>
        </p:nvSpPr>
        <p:spPr>
          <a:xfrm>
            <a:off x="0" y="4828032"/>
            <a:ext cx="9144000" cy="320040"/>
          </a:xfrm>
          <a:prstGeom prst="rect">
            <a:avLst/>
          </a:prstGeom>
          <a:solidFill>
            <a:srgbClr val="1F3864"/>
          </a:solidFill>
          <a:ln/>
        </p:spPr>
      </p:sp>
      <p:sp>
        <p:nvSpPr>
          <p:cNvPr id="9" name="Text 7"/>
          <p:cNvSpPr/>
          <p:nvPr/>
        </p:nvSpPr>
        <p:spPr>
          <a:xfrm>
            <a:off x="182880" y="4873752"/>
            <a:ext cx="8778240" cy="237744"/>
          </a:xfrm>
          <a:prstGeom prst="rect">
            <a:avLst/>
          </a:prstGeom>
          <a:noFill/>
          <a:ln/>
        </p:spPr>
        <p:txBody>
          <a:bodyPr wrap="square" rtlCol="0" anchor="ctr"/>
          <a:lstStyle/>
          <a:p>
            <a:pPr algn="ctr" indent="0" marL="0">
              <a:buNone/>
            </a:pPr>
            <a:r>
              <a:rPr lang="en-US" sz="700" dirty="0">
                <a:solidFill>
                  <a:srgbClr val="DEEAF1"/>
                </a:solidFill>
                <a:latin typeface="Times New Roman" pitchFamily="34" charset="0"/>
                <a:ea typeface="Times New Roman" pitchFamily="34" charset="-122"/>
                <a:cs typeface="Times New Roman" pitchFamily="34" charset="-120"/>
              </a:rPr>
              <a:t>Hệ thống Quản lý Căn-teen Trại Giam</a:t>
            </a:r>
            <a:endParaRPr lang="en-US" sz="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FFFFFF"/>
          </a:solidFill>
          <a:ln/>
        </p:spPr>
      </p:sp>
      <p:sp>
        <p:nvSpPr>
          <p:cNvPr id="3" name="Shape 1"/>
          <p:cNvSpPr/>
          <p:nvPr/>
        </p:nvSpPr>
        <p:spPr>
          <a:xfrm>
            <a:off x="0" y="0"/>
            <a:ext cx="9144000" cy="502920"/>
          </a:xfrm>
          <a:prstGeom prst="rect">
            <a:avLst/>
          </a:prstGeom>
          <a:solidFill>
            <a:srgbClr val="1F3864"/>
          </a:solidFill>
          <a:ln/>
        </p:spPr>
      </p:sp>
      <p:sp>
        <p:nvSpPr>
          <p:cNvPr id="4" name="Text 2"/>
          <p:cNvSpPr/>
          <p:nvPr/>
        </p:nvSpPr>
        <p:spPr>
          <a:xfrm>
            <a:off x="228600" y="73152"/>
            <a:ext cx="8686800" cy="347472"/>
          </a:xfrm>
          <a:prstGeom prst="rect">
            <a:avLst/>
          </a:prstGeom>
          <a:noFill/>
          <a:ln/>
        </p:spPr>
        <p:txBody>
          <a:bodyPr wrap="square" rtlCol="0" anchor="ctr"/>
          <a:lstStyle/>
          <a:p>
            <a:pPr indent="0" marL="0">
              <a:buNone/>
            </a:pPr>
            <a:r>
              <a:rPr lang="en-US" sz="900" i="1" dirty="0">
                <a:solidFill>
                  <a:srgbClr val="DEEAF1"/>
                </a:solidFill>
                <a:latin typeface="Times New Roman" pitchFamily="34" charset="0"/>
                <a:ea typeface="Times New Roman" pitchFamily="34" charset="-122"/>
                <a:cs typeface="Times New Roman" pitchFamily="34" charset="-120"/>
              </a:rPr>
              <a:t>Tổng quan hệ thống</a:t>
            </a:r>
            <a:endParaRPr lang="en-US" sz="900" dirty="0"/>
          </a:p>
        </p:txBody>
      </p:sp>
      <p:sp>
        <p:nvSpPr>
          <p:cNvPr id="5" name="Shape 3"/>
          <p:cNvSpPr/>
          <p:nvPr/>
        </p:nvSpPr>
        <p:spPr>
          <a:xfrm>
            <a:off x="0" y="502920"/>
            <a:ext cx="3291840" cy="4325112"/>
          </a:xfrm>
          <a:prstGeom prst="rect">
            <a:avLst/>
          </a:prstGeom>
          <a:solidFill>
            <a:srgbClr val="F5F7FA"/>
          </a:solidFill>
          <a:ln/>
        </p:spPr>
      </p:sp>
      <p:sp>
        <p:nvSpPr>
          <p:cNvPr id="6" name="Text 4"/>
          <p:cNvSpPr/>
          <p:nvPr/>
        </p:nvSpPr>
        <p:spPr>
          <a:xfrm>
            <a:off x="182880" y="594360"/>
            <a:ext cx="3017520" cy="640080"/>
          </a:xfrm>
          <a:prstGeom prst="rect">
            <a:avLst/>
          </a:prstGeom>
          <a:noFill/>
          <a:ln/>
        </p:spPr>
        <p:txBody>
          <a:bodyPr wrap="square" rtlCol="0" anchor="ctr"/>
          <a:lstStyle/>
          <a:p>
            <a:pPr indent="0" marL="0">
              <a:buNone/>
            </a:pPr>
            <a:r>
              <a:rPr lang="en-US" sz="1500" b="1" dirty="0">
                <a:solidFill>
                  <a:srgbClr val="1F3864"/>
                </a:solidFill>
                <a:latin typeface="Times New Roman" pitchFamily="34" charset="0"/>
                <a:ea typeface="Times New Roman" pitchFamily="34" charset="-122"/>
                <a:cs typeface="Times New Roman" pitchFamily="34" charset="-120"/>
              </a:rPr>
              <a:t>Giao diện chính — Thanh điều hướng</a:t>
            </a:r>
            <a:endParaRPr lang="en-US" sz="1500" dirty="0"/>
          </a:p>
        </p:txBody>
      </p:sp>
      <p:sp>
        <p:nvSpPr>
          <p:cNvPr id="7" name="Shape 5"/>
          <p:cNvSpPr/>
          <p:nvPr/>
        </p:nvSpPr>
        <p:spPr>
          <a:xfrm>
            <a:off x="182880" y="1234440"/>
            <a:ext cx="2926080" cy="36576"/>
          </a:xfrm>
          <a:prstGeom prst="rect">
            <a:avLst/>
          </a:prstGeom>
          <a:solidFill>
            <a:srgbClr val="2E74B5"/>
          </a:solidFill>
          <a:ln/>
        </p:spPr>
      </p:sp>
      <p:sp>
        <p:nvSpPr>
          <p:cNvPr id="8" name="Text 6"/>
          <p:cNvSpPr/>
          <p:nvPr/>
        </p:nvSpPr>
        <p:spPr>
          <a:xfrm>
            <a:off x="182880" y="1353312"/>
            <a:ext cx="3017520" cy="1371600"/>
          </a:xfrm>
          <a:prstGeom prst="rect">
            <a:avLst/>
          </a:prstGeom>
          <a:noFill/>
          <a:ln/>
        </p:spPr>
        <p:txBody>
          <a:bodyPr wrap="square" rtlCol="0" anchor="t"/>
          <a:lstStyle/>
          <a:p>
            <a:pPr indent="0" marL="0">
              <a:buNone/>
            </a:pPr>
            <a:r>
              <a:rPr lang="en-US" sz="1000" dirty="0">
                <a:solidFill>
                  <a:srgbClr val="1A1A2E"/>
                </a:solidFill>
                <a:latin typeface="Times New Roman" pitchFamily="34" charset="0"/>
                <a:ea typeface="Times New Roman" pitchFamily="34" charset="-122"/>
                <a:cs typeface="Times New Roman" pitchFamily="34" charset="-120"/>
              </a:rPr>
              <a:t>AppShell với sidebar phân nhóm chức năng: Vận hành (Dashboard, Đơn hàng, Bếp, Quầy) và Cài đặt (Menu, Kiểm toán, Phiếu, Cán bộ, Phạm nhân).</a:t>
            </a:r>
            <a:endParaRPr lang="en-US" sz="1000" dirty="0"/>
          </a:p>
        </p:txBody>
      </p:sp>
      <p:sp>
        <p:nvSpPr>
          <p:cNvPr id="9" name="Shape 7"/>
          <p:cNvSpPr/>
          <p:nvPr/>
        </p:nvSpPr>
        <p:spPr>
          <a:xfrm>
            <a:off x="182880" y="2834640"/>
            <a:ext cx="2926080" cy="320040"/>
          </a:xfrm>
          <a:prstGeom prst="rect">
            <a:avLst/>
          </a:prstGeom>
          <a:solidFill>
            <a:srgbClr val="1F3864"/>
          </a:solidFill>
          <a:ln/>
        </p:spPr>
      </p:sp>
      <p:sp>
        <p:nvSpPr>
          <p:cNvPr id="10" name="Text 8"/>
          <p:cNvSpPr/>
          <p:nvPr/>
        </p:nvSpPr>
        <p:spPr>
          <a:xfrm>
            <a:off x="228600" y="2852928"/>
            <a:ext cx="2834640" cy="274320"/>
          </a:xfrm>
          <a:prstGeom prst="rect">
            <a:avLst/>
          </a:prstGeom>
          <a:noFill/>
          <a:ln/>
        </p:spPr>
        <p:txBody>
          <a:bodyPr wrap="square" rtlCol="0" anchor="ctr"/>
          <a:lstStyle/>
          <a:p>
            <a:pPr indent="0" marL="0">
              <a:buNone/>
            </a:pPr>
            <a:r>
              <a:rPr lang="en-US" sz="850" dirty="0">
                <a:solidFill>
                  <a:srgbClr val="FFFFFF"/>
                </a:solidFill>
                <a:latin typeface="Courier New" pitchFamily="34" charset="0"/>
                <a:ea typeface="Courier New" pitchFamily="34" charset="-122"/>
                <a:cs typeface="Courier New" pitchFamily="34" charset="-120"/>
              </a:rPr>
              <a:t>Đường dẫn: app-shell.png</a:t>
            </a:r>
            <a:endParaRPr lang="en-US" sz="850" dirty="0"/>
          </a:p>
        </p:txBody>
      </p:sp>
      <p:sp>
        <p:nvSpPr>
          <p:cNvPr id="11" name="Shape 9"/>
          <p:cNvSpPr/>
          <p:nvPr/>
        </p:nvSpPr>
        <p:spPr>
          <a:xfrm>
            <a:off x="3483864" y="557784"/>
            <a:ext cx="5623560" cy="4233672"/>
          </a:xfrm>
          <a:prstGeom prst="rect">
            <a:avLst/>
          </a:prstGeom>
          <a:solidFill>
            <a:srgbClr val="D9D9D9"/>
          </a:solidFill>
          <a:ln/>
          <a:effectLst>
            <a:outerShdw sx="100000" sy="100000" kx="0" ky="0" algn="bl" rotWithShape="0" blurRad="76200" dist="38100" dir="2700000">
              <a:srgbClr val="000000">
                <a:alpha val="25000"/>
              </a:srgbClr>
            </a:outerShdw>
          </a:effectLst>
        </p:spPr>
      </p:sp>
      <p:pic>
        <p:nvPicPr>
          <p:cNvPr id="12" name="Image 0" descr="D:\pet\carteen\tools\screenshots\app-shell.png">    </p:cNvPr>
          <p:cNvPicPr>
            <a:picLocks noChangeAspect="1"/>
          </p:cNvPicPr>
          <p:nvPr/>
        </p:nvPicPr>
        <p:blipFill>
          <a:blip r:embed="rId1"/>
          <a:srcRect l="0" r="0" t="0" b="0"/>
          <a:stretch/>
        </p:blipFill>
        <p:spPr>
          <a:xfrm>
            <a:off x="3429000" y="521208"/>
            <a:ext cx="5623560" cy="4233672"/>
          </a:xfrm>
          <a:prstGeom prst="rect">
            <a:avLst/>
          </a:prstGeom>
        </p:spPr>
      </p:pic>
      <p:sp>
        <p:nvSpPr>
          <p:cNvPr id="13" name="Shape 10"/>
          <p:cNvSpPr/>
          <p:nvPr/>
        </p:nvSpPr>
        <p:spPr>
          <a:xfrm>
            <a:off x="3429000" y="521208"/>
            <a:ext cx="5623560" cy="4233672"/>
          </a:xfrm>
          <a:prstGeom prst="rect">
            <a:avLst/>
          </a:prstGeom>
          <a:ln w="12700">
            <a:solidFill>
              <a:srgbClr val="D9D9D9"/>
            </a:solidFill>
            <a:prstDash val="solid"/>
          </a:ln>
        </p:spPr>
      </p:sp>
      <p:sp>
        <p:nvSpPr>
          <p:cNvPr id="14" name="Shape 11"/>
          <p:cNvSpPr/>
          <p:nvPr/>
        </p:nvSpPr>
        <p:spPr>
          <a:xfrm>
            <a:off x="0" y="4828032"/>
            <a:ext cx="9144000" cy="320040"/>
          </a:xfrm>
          <a:prstGeom prst="rect">
            <a:avLst/>
          </a:prstGeom>
          <a:solidFill>
            <a:srgbClr val="1F3864"/>
          </a:solidFill>
          <a:ln/>
        </p:spPr>
      </p:sp>
      <p:sp>
        <p:nvSpPr>
          <p:cNvPr id="15" name="Text 12"/>
          <p:cNvSpPr/>
          <p:nvPr/>
        </p:nvSpPr>
        <p:spPr>
          <a:xfrm>
            <a:off x="182880" y="4873752"/>
            <a:ext cx="8778240" cy="237744"/>
          </a:xfrm>
          <a:prstGeom prst="rect">
            <a:avLst/>
          </a:prstGeom>
          <a:noFill/>
          <a:ln/>
        </p:spPr>
        <p:txBody>
          <a:bodyPr wrap="square" rtlCol="0" anchor="ctr"/>
          <a:lstStyle/>
          <a:p>
            <a:pPr algn="ctr" indent="0" marL="0">
              <a:buNone/>
            </a:pPr>
            <a:r>
              <a:rPr lang="en-US" sz="700" dirty="0">
                <a:solidFill>
                  <a:srgbClr val="DEEAF1"/>
                </a:solidFill>
                <a:latin typeface="Times New Roman" pitchFamily="34" charset="0"/>
                <a:ea typeface="Times New Roman" pitchFamily="34" charset="-122"/>
                <a:cs typeface="Times New Roman" pitchFamily="34" charset="-120"/>
              </a:rPr>
              <a:t>Hệ thống Quản lý Căn-teen Trại Giam   |   Giao diện chính — Thanh điều hướng</a:t>
            </a:r>
            <a:endParaRPr lang="en-US" sz="7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9144000" cy="5148072"/>
          </a:xfrm>
          <a:prstGeom prst="rect">
            <a:avLst/>
          </a:prstGeom>
          <a:solidFill>
            <a:srgbClr val="1F3864"/>
          </a:solidFill>
          <a:ln/>
        </p:spPr>
      </p:sp>
      <p:sp>
        <p:nvSpPr>
          <p:cNvPr id="3" name="Shape 1"/>
          <p:cNvSpPr/>
          <p:nvPr/>
        </p:nvSpPr>
        <p:spPr>
          <a:xfrm>
            <a:off x="0" y="3200400"/>
            <a:ext cx="9144000" cy="1947672"/>
          </a:xfrm>
          <a:prstGeom prst="rect">
            <a:avLst/>
          </a:prstGeom>
          <a:solidFill>
            <a:srgbClr val="2E74B5"/>
          </a:solidFill>
          <a:ln/>
        </p:spPr>
      </p:sp>
      <p:sp>
        <p:nvSpPr>
          <p:cNvPr id="4" name="Shape 2"/>
          <p:cNvSpPr/>
          <p:nvPr/>
        </p:nvSpPr>
        <p:spPr>
          <a:xfrm>
            <a:off x="0" y="0"/>
            <a:ext cx="109728" cy="5148072"/>
          </a:xfrm>
          <a:prstGeom prst="rect">
            <a:avLst/>
          </a:prstGeom>
          <a:solidFill>
            <a:srgbClr val="C00000"/>
          </a:solidFill>
          <a:ln/>
        </p:spPr>
      </p:sp>
      <p:sp>
        <p:nvSpPr>
          <p:cNvPr id="5" name="Text 3"/>
          <p:cNvSpPr/>
          <p:nvPr/>
        </p:nvSpPr>
        <p:spPr>
          <a:xfrm>
            <a:off x="457200" y="1280160"/>
            <a:ext cx="8229600" cy="731520"/>
          </a:xfrm>
          <a:prstGeom prst="rect">
            <a:avLst/>
          </a:prstGeom>
          <a:noFill/>
          <a:ln/>
        </p:spPr>
        <p:txBody>
          <a:bodyPr wrap="square" rtlCol="0" anchor="ctr"/>
          <a:lstStyle/>
          <a:p>
            <a:pPr algn="ctr" indent="0" marL="0">
              <a:buNone/>
            </a:pPr>
            <a:r>
              <a:rPr lang="en-US" sz="3000" b="1" dirty="0">
                <a:solidFill>
                  <a:srgbClr val="FFFFFF"/>
                </a:solidFill>
                <a:latin typeface="Times New Roman" pitchFamily="34" charset="0"/>
                <a:ea typeface="Times New Roman" pitchFamily="34" charset="-122"/>
                <a:cs typeface="Times New Roman" pitchFamily="34" charset="-120"/>
              </a:rPr>
              <a:t>Cảm ơn quý vị đã theo dõi</a:t>
            </a:r>
            <a:endParaRPr lang="en-US" sz="3000" dirty="0"/>
          </a:p>
        </p:txBody>
      </p:sp>
      <p:sp>
        <p:nvSpPr>
          <p:cNvPr id="6" name="Text 4"/>
          <p:cNvSpPr/>
          <p:nvPr/>
        </p:nvSpPr>
        <p:spPr>
          <a:xfrm>
            <a:off x="457200" y="2057400"/>
            <a:ext cx="8229600" cy="502920"/>
          </a:xfrm>
          <a:prstGeom prst="rect">
            <a:avLst/>
          </a:prstGeom>
          <a:noFill/>
          <a:ln/>
        </p:spPr>
        <p:txBody>
          <a:bodyPr wrap="square" rtlCol="0" anchor="ctr"/>
          <a:lstStyle/>
          <a:p>
            <a:pPr algn="ctr" indent="0" marL="0">
              <a:buNone/>
            </a:pPr>
            <a:r>
              <a:rPr lang="en-US" sz="1400" i="1" dirty="0">
                <a:solidFill>
                  <a:srgbClr val="DEEAF1"/>
                </a:solidFill>
                <a:latin typeface="Times New Roman" pitchFamily="34" charset="0"/>
                <a:ea typeface="Times New Roman" pitchFamily="34" charset="-122"/>
                <a:cs typeface="Times New Roman" pitchFamily="34" charset="-120"/>
              </a:rPr>
              <a:t>Phần mềm Quản lý Căn-teen Trại Giam</a:t>
            </a:r>
            <a:endParaRPr lang="en-US" sz="1400" dirty="0"/>
          </a:p>
        </p:txBody>
      </p:sp>
      <p:sp>
        <p:nvSpPr>
          <p:cNvPr id="7" name="Shape 5"/>
          <p:cNvSpPr/>
          <p:nvPr/>
        </p:nvSpPr>
        <p:spPr>
          <a:xfrm>
            <a:off x="1828800" y="2743200"/>
            <a:ext cx="5486400" cy="0"/>
          </a:xfrm>
          <a:prstGeom prst="line">
            <a:avLst/>
          </a:prstGeom>
          <a:noFill/>
          <a:ln w="19050">
            <a:solidFill>
              <a:srgbClr val="2E74B5"/>
            </a:solidFill>
            <a:prstDash val="solid"/>
          </a:ln>
        </p:spPr>
      </p:sp>
      <p:sp>
        <p:nvSpPr>
          <p:cNvPr id="8" name="Text 6"/>
          <p:cNvSpPr/>
          <p:nvPr/>
        </p:nvSpPr>
        <p:spPr>
          <a:xfrm>
            <a:off x="457200" y="2926080"/>
            <a:ext cx="8229600" cy="640080"/>
          </a:xfrm>
          <a:prstGeom prst="rect">
            <a:avLst/>
          </a:prstGeom>
          <a:noFill/>
          <a:ln/>
        </p:spPr>
        <p:txBody>
          <a:bodyPr wrap="square" rtlCol="0" anchor="ctr"/>
          <a:lstStyle/>
          <a:p>
            <a:pPr algn="ctr" indent="0" marL="0">
              <a:buNone/>
            </a:pPr>
            <a:r>
              <a:rPr lang="en-US" sz="900" dirty="0">
                <a:solidFill>
                  <a:srgbClr val="D9D9D9"/>
                </a:solidFill>
                <a:latin typeface="Times New Roman" pitchFamily="34" charset="0"/>
                <a:ea typeface="Times New Roman" pitchFamily="34" charset="-122"/>
                <a:cs typeface="Times New Roman" pitchFamily="34" charset="-120"/>
              </a:rPr>
              <a:t>Tài liệu mang tính bảo mật nội bộ.</a:t>
            </a:r>
            <a:endParaRPr lang="en-US" sz="900" dirty="0"/>
          </a:p>
          <a:p>
            <a:pPr algn="ctr" indent="0" marL="0">
              <a:buNone/>
            </a:pPr>
            <a:r>
              <a:rPr lang="en-US" sz="900" dirty="0">
                <a:solidFill>
                  <a:srgbClr val="D9D9D9"/>
                </a:solidFill>
                <a:latin typeface="Times New Roman" pitchFamily="34" charset="0"/>
                <a:ea typeface="Times New Roman" pitchFamily="34" charset="-122"/>
                <a:cs typeface="Times New Roman" pitchFamily="34" charset="-120"/>
              </a:rPr>
              <a:t>Nghiêm cấm sao chép, phát tán khi chưa được phép.</a:t>
            </a:r>
            <a:endParaRPr lang="en-US" sz="900" dirty="0"/>
          </a:p>
        </p:txBody>
      </p:sp>
      <p:sp>
        <p:nvSpPr>
          <p:cNvPr id="9" name="Shape 7"/>
          <p:cNvSpPr/>
          <p:nvPr/>
        </p:nvSpPr>
        <p:spPr>
          <a:xfrm>
            <a:off x="0" y="4828032"/>
            <a:ext cx="9144000" cy="320040"/>
          </a:xfrm>
          <a:prstGeom prst="rect">
            <a:avLst/>
          </a:prstGeom>
          <a:solidFill>
            <a:srgbClr val="1F3864"/>
          </a:solidFill>
          <a:ln/>
        </p:spPr>
      </p:sp>
      <p:sp>
        <p:nvSpPr>
          <p:cNvPr id="10" name="Text 8"/>
          <p:cNvSpPr/>
          <p:nvPr/>
        </p:nvSpPr>
        <p:spPr>
          <a:xfrm>
            <a:off x="182880" y="4873752"/>
            <a:ext cx="8778240" cy="237744"/>
          </a:xfrm>
          <a:prstGeom prst="rect">
            <a:avLst/>
          </a:prstGeom>
          <a:noFill/>
          <a:ln/>
        </p:spPr>
        <p:txBody>
          <a:bodyPr wrap="square" rtlCol="0" anchor="ctr"/>
          <a:lstStyle/>
          <a:p>
            <a:pPr algn="ctr" indent="0" marL="0">
              <a:buNone/>
            </a:pPr>
            <a:r>
              <a:rPr lang="en-US" sz="700" dirty="0">
                <a:solidFill>
                  <a:srgbClr val="DEEAF1"/>
                </a:solidFill>
                <a:latin typeface="Times New Roman" pitchFamily="34" charset="0"/>
                <a:ea typeface="Times New Roman" pitchFamily="34" charset="-122"/>
                <a:cs typeface="Times New Roman" pitchFamily="34" charset="-120"/>
              </a:rPr>
              <a:t>Hệ thống Quản lý Căn-teen Trại Giam</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Canteen Management System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Phần mềm Quản lý Căn-teen Trại Giam</dc:title>
  <dc:subject>Tài liệu Giới thiệu Chức năng</dc:subject>
  <dc:creator>Bộ Công An – Cục Quản lý Trại Giam</dc:creator>
  <cp:lastModifiedBy>Bộ Công An – Cục Quản lý Trại Giam</cp:lastModifiedBy>
  <cp:revision>1</cp:revision>
  <dcterms:created xsi:type="dcterms:W3CDTF">2026-09-12T06:43:44Z</dcterms:created>
  <dcterms:modified xsi:type="dcterms:W3CDTF">2026-09-12T06:43:44Z</dcterms:modified>
</cp:coreProperties>
</file>